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67" r:id="rId5"/>
    <p:sldId id="257" r:id="rId6"/>
    <p:sldId id="268" r:id="rId7"/>
    <p:sldId id="269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70" r:id="rId17"/>
    <p:sldId id="266" r:id="rId18"/>
    <p:sldId id="271" r:id="rId19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大家好，今天我们来聊聊 LoRA 微调与信息压缩。这个标题听起来可能有点抽象，但它背后蕴含的，是一种“四两拨千斤”的技术智慧。我们将探讨如何用极小的参数，让庞大的大模型学会全新的风格，这对于我们构建个性化 AI 体验至关重要。我们将深入理解 LoRA 的核心机制，以及它如何帮助我们高效地实现大模型的风格适配。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伴侣正从科幻走向现实，用户对长期陪伴感和稳定人设的需求越来越高。我们看到拟人化 AI 应用快速增长，但个性化互动不只是回答正确，更要保持角色设定和语气。这种行业需求和监管压力，共同推动模型从通用回答走向可控风格。接下来，我们看看当前大模型在个性化方面遇到的挑战。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互动正在走向个性化，这已经是一个不可逆转的趋势。我们看到，拟人化 AI、虚拟伴侣和本地角色助手等应用正在快速增长，用户对 AI 的期待，已经从简单的“能回答”升级到“能稳定扮演”一个特定角色。这意味着，AI 不仅仅要给出正确的答案，更要持续保持其角色设定、语气和表达方式的一致性，甚至要记住与用户的长期互动。同时，随着这些应用的普及，监管规则也开始关注未成年人保护、虚拟伴侣的服务边界等问题，这要求我们的产品在提供良好体验的同时，必须兼顾合规性。所以，行业需求和监管压力共同推动着模型从通用回答走向可控风格。但通用模型要实现这种可控风格，并非易事，这正是我们接下来要探讨的挑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然而，云端大模型在个性化方面遇到了“忠诚度”危机，就像豆包案例中，AI 难以保持对单一用户的专属感。这意味着隐私挑战、记忆碎片化，以及中心化平台可能带来的安全隐患。这种共享模式让用户的情感投入变得不稳定。那么，如何才能真正拥有一个专属的 AI 伴侣呢？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这就是为什么我们需要本地部署，它能彻底解决云端大模型的“忠诚度”危机。本地部署让数据所有权归还用户，你的对话数据不再上传云端，隐私得到保障。你还能深度定制 AI 伴侣的人设，打造真正灵魂契合的陪伴者。最重要的是，本地 AI 是你的数字资产，提供永久的陪伴承诺。但是，本地部署大模型需要解决一个核心问题：如何高效地让大模型学会你的专属风格？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通用模型虽然拥有广泛的知识、强大的语言理解和推理能力，但它们默认的输出往往是偏通用化的。当我们需要模型适配一个全新的角色、一种特定的表达方式、或者某个领域的专业语气时，通用模型就显得力不从心了。它就像一个博学多才的学者，虽然知识渊博，但要他扮演一个特定性格的角色，就需要额外的训练。如果每个新风格都重新训练整个大模型，那成本、时间和部署的复杂度都会急剧增加。所以，风格学习的挑战在于，我们既要让模型学会新风格，又要快，还要低成本。那么，为什么全量微调不是一个理想的解决方案呢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量微调，顾名思义，就是更新模型几乎所有的权重。这种方法虽然能彻底改变模型行为，但对于我们追求的轻量化、快速迭代的风格学习来说，代价实在太高了。首先，大模型的参数规模巨大，全量更新意味着巨大的计算和显存开销。其次，它存在很高的遗忘风险，模型在学习新任务时，很可能会削弱甚至遗忘原有的通用知识和能力。第三，风格数据通常规模有限，全量微调很容易导致模型过拟合，它可能只是记住了样本，而不是真正学会了规律。最后，全量微调的训练周期长，调试和验证成本高，根本不适合频繁更新的个性化场景。所以，全量微调并非不能用，而是不适合大量轻量化、快速迭代的风格任务。那么，有没有一种更高效、更经济的方式来解决这个问题呢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这就是 LoRA 的核心思想：它只学习关键变化。LoRA 的巧妙之处在于，它冻结了原始大模型的权重，把大模型作为一个稳定的底座。它只新增并训练两个小型的低秩矩阵，用它们来学习任务所需的权重增量。你可以把这个过程想象成，大模型是主干道，LoRA 就像是为特定目的地修建的匝道。训练完成后，这些新增的矩阵就表达了“如何让模型从原有能力，优雅地偏移到目标风格”。这种方式保留了大模型的通用能力，同时用极少的参数完成了定向适配。LoRA 的关键不是重训大模型，而是用少量低秩参数描述“需要改变的部分”。那么，LoRA 为什么能做到这一点呢？它背后又蕴含着怎样的信息压缩原理呢？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我们之前谈到 LoRA 只学习关键变化，那么它是如何做到的呢？LoRA 就像一种高效的信息压缩技术。新任务会带来大量的参数变化，但真正决定风格的往往只是少数关键方向。LoRA 不会保存所有变化，而是提取并表达最重要的低秩变化。对于风格学习来说，这些关键变化通常体现在语气、词汇偏好、句式结构和情感表达上。所以，LoRA 的本质就是用少量参数，压缩并表达最重要的任务变化。它不是完整复制新知识，而是高效提炼出需要改变的那一小部分。理解了 LoRA 的压缩原理，我们接下来就要看看，如何通过关键配置来决定这种压缩的效果。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承接上文，LoRA 既然是一种信息压缩，那么如何配置才能让这种压缩效果最好呢？关键配置决定了适配效果。LoRA 的配置不是简单地堆叠参数，而是在表达能力、训练成本和泛化稳定性之间找到一个平衡点。比如，rank 控制着低秩空间的大小，它决定了 LoRA 能学习多少种变化。Alpha 则控制着 LoRA 更新的强度，影响新风格注入的程度。Target modules 决定了 LoRA 注入模型的位置，这会影响训练效率和适配重点。而 Dropout 则能降低过拟合的风险，提升泛化能力。所以，参数不是越大越好，关键在于让少量新增参数精准学习真正需要改变的部分。但这些配置的优化，最终还是依赖于高质量的数据。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我们已经了解了 LoRA 的压缩原理和配置方法，但 LoRA 解决的是如何高效学习的问题，模型最终能学成什么样，首先取决于训练数据是否清楚、稳定且可控。高质量数据定义了目标风格。风格学习首先需要明确我们要学什么，比如角色设定、知识范围、说话方式、情感边界和禁止行为。这些原始素材需要经过筛选、清洗、去重、格式统一和质量控制，才能稳定地转化为训练样本。对话样本应该覆盖典型场景、边界场景和失败纠偏场景，避免模型只学会表面语气。特别是对于拟人化互动应用，还需要补充安全、合规和未成年人保护相关的样本。所以，数据质量决定了 LoRA 的学习上限，只有把目标风格整理成高质量样本，模型才能学得准确、稳定、可控。接下来，我们会看到 QLoRA 如何进一步降低训练门槛，让高质量风格适配变得更加触手可及。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我们之前谈到高质量数据是风格学习的基础，但有了数据，如何高效训练呢？QLoRA 正是为此而生，它进一步降低了训练大模型适配层的门槛。QLoRA 的核心在于引入 4-bit 量化，这意味着基础模型在加载时占用的显存大大减少，让那些资源有限的团队也能轻松启动实验。训练时，我们只更新 LoRA 模块的少量参数，而基础模型则保持量化状态，不直接更新主干权重。这就像给大模型穿上了一件轻便的“外衣”，只训练这件外衣来适应新风格，而大模型本身的核心能力丝毫不受影响。这种方式让“低成本训练大模型适配层”成为更现实的选择，甚至在个人电脑上也能进行尝试。那么，QLoRA 和其他微调方式相比，又有哪些优势和边界呢？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了解了 QLoRA 的优势，我们现在来看看三种主要的微调方式：全量微调、LoRA 和 QLoRA，它们各有边界。全量微调需要处理几乎所有参数，显存占用高，训练速度慢，而且遗忘风险也高，更适合大规模的深度改造。LoRA 则通过引入少量新增参数，显著降低了显存占用和遗忘风险，训练速度也更快，非常适合风格学习和任务适配。而 QLoRA 在 LoRA 的基础上，通过量化进一步降低了显存占用，让资源有限的团队也能进行高效的风格适配。选择哪种方式，关键在于匹配任务的深度、可用的资源条件以及迭代的频率。所以，LoRA 和 QLoRA 在保持效果的同时，显著降低了训练成本，这让频繁迭代的个性化任务变得更加可行。那么，这些“小参数”究竟能发挥多大的作用呢？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最终，我们会发现，小参数也能发挥大作用。大模型负责提供广度，它拥有丰富的知识储备、强大的语言理解和通用推理能力，这是我们进行个性化适配的稳定基础。而 LoRA 和 QLoRA 则负责深度和门槛，它们用少量参数学习特定的角色、语气和任务偏好，同时 QLoRA 通过量化进一步降低了硬件和训练成本，让实验更容易落地。最聪明的做法，不是把所有内容都重学一遍，而是只学习真正需要改变的关键部分。LoRA 将风格适配从传统的“重训练”转向了“轻量增量学习”，这使得个性化 AI 变得更高效、更可控，也更容易落地。它真正体现了“四两拨千斤”的技术智慧。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5.xml"/><Relationship Id="rId8" Type="http://schemas.openxmlformats.org/officeDocument/2006/relationships/image" Target="../media/image6.png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image" Target="../media/image5.png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4.png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9.png"/><Relationship Id="rId12" Type="http://schemas.openxmlformats.org/officeDocument/2006/relationships/image" Target="../media/image8.png"/><Relationship Id="rId11" Type="http://schemas.openxmlformats.org/officeDocument/2006/relationships/image" Target="../media/image7.png"/><Relationship Id="rId10" Type="http://schemas.openxmlformats.org/officeDocument/2006/relationships/tags" Target="../tags/tag6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28.png"/><Relationship Id="rId7" Type="http://schemas.openxmlformats.org/officeDocument/2006/relationships/image" Target="../media/image27.png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0" Type="http://schemas.openxmlformats.org/officeDocument/2006/relationships/notesSlide" Target="../notesSlides/notesSlide6.xml"/><Relationship Id="rId1" Type="http://schemas.openxmlformats.org/officeDocument/2006/relationships/image" Target="../media/image21.jpe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9.jpe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32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9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41.png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image" Target="../media/image35.jpe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image" Target="../media/image42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55.png"/><Relationship Id="rId8" Type="http://schemas.openxmlformats.org/officeDocument/2006/relationships/image" Target="../media/image54.png"/><Relationship Id="rId7" Type="http://schemas.openxmlformats.org/officeDocument/2006/relationships/image" Target="../media/image53.png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6" Type="http://schemas.openxmlformats.org/officeDocument/2006/relationships/notesSlide" Target="../notesSlides/notesSlide11.xml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60.png"/><Relationship Id="rId13" Type="http://schemas.openxmlformats.org/officeDocument/2006/relationships/image" Target="../media/image59.png"/><Relationship Id="rId12" Type="http://schemas.openxmlformats.org/officeDocument/2006/relationships/image" Target="../media/image58.png"/><Relationship Id="rId11" Type="http://schemas.openxmlformats.org/officeDocument/2006/relationships/image" Target="../media/image57.png"/><Relationship Id="rId10" Type="http://schemas.openxmlformats.org/officeDocument/2006/relationships/image" Target="../media/image56.png"/><Relationship Id="rId1" Type="http://schemas.openxmlformats.org/officeDocument/2006/relationships/image" Target="../media/image47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69.png"/><Relationship Id="rId8" Type="http://schemas.openxmlformats.org/officeDocument/2006/relationships/image" Target="../media/image68.png"/><Relationship Id="rId7" Type="http://schemas.openxmlformats.org/officeDocument/2006/relationships/image" Target="../media/image67.png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1" Type="http://schemas.openxmlformats.org/officeDocument/2006/relationships/notesSlide" Target="../notesSlides/notesSlide12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61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3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76.png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image" Target="../media/image70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7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1.png"/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image" Target="../media/image78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00088" y="1376595"/>
            <a:ext cx="4857750" cy="14644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kern="0" spc="3" dirty="0">
                <a:solidFill>
                  <a:srgbClr val="7CFFC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LOW-RANK ADAPTATION · INFORMATION COMPRESSION</a:t>
            </a:r>
            <a:endParaRPr lang="en-US" sz="950" dirty="0"/>
          </a:p>
        </p:txBody>
      </p:sp>
      <p:sp>
        <p:nvSpPr>
          <p:cNvPr id="5" name="Text 1"/>
          <p:cNvSpPr/>
          <p:nvPr/>
        </p:nvSpPr>
        <p:spPr>
          <a:xfrm>
            <a:off x="700088" y="1680204"/>
            <a:ext cx="4857750" cy="98751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3300" b="1" kern="0" spc="-1" dirty="0">
                <a:solidFill>
                  <a:srgbClr val="F6FA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LoRA 微调</a:t>
            </a:r>
            <a:r>
              <a:rPr lang="en-US" sz="3300" b="1" kern="0" spc="-1" dirty="0">
                <a:solidFill>
                  <a:srgbClr val="F6FA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
</a:t>
            </a:r>
            <a:r>
              <a:rPr lang="en-US" sz="3300" b="1" kern="0" spc="-1" dirty="0">
                <a:solidFill>
                  <a:srgbClr val="F6FA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与信息压缩</a:t>
            </a:r>
            <a:endParaRPr lang="en-US" sz="3300" dirty="0"/>
          </a:p>
        </p:txBody>
      </p:sp>
      <p:sp>
        <p:nvSpPr>
          <p:cNvPr id="6" name="Text 2"/>
          <p:cNvSpPr/>
          <p:nvPr/>
        </p:nvSpPr>
        <p:spPr>
          <a:xfrm>
            <a:off x="700088" y="3047172"/>
            <a:ext cx="4857750" cy="2893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D7F6FF"/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  <a:cs typeface="Noto Sans SC Medium" panose="020B0200000000000000" pitchFamily="34" charset="-120"/>
              </a:rPr>
              <a:t>小参数如何学会大模型的新风格</a:t>
            </a:r>
            <a:endParaRPr lang="en-US" sz="16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88" y="3773156"/>
            <a:ext cx="96441" cy="12858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96541" y="3743688"/>
            <a:ext cx="1543050" cy="18752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7CFFC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冻结大模型，训练关键变化</a:t>
            </a:r>
            <a:endParaRPr lang="en-US" sz="950" dirty="0"/>
          </a:p>
        </p:txBody>
      </p:sp>
      <p:sp>
        <p:nvSpPr>
          <p:cNvPr id="9" name="Text 4"/>
          <p:cNvSpPr/>
          <p:nvPr/>
        </p:nvSpPr>
        <p:spPr>
          <a:xfrm>
            <a:off x="6071328" y="1297484"/>
            <a:ext cx="128532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kern="0" spc="1" dirty="0">
                <a:solidFill>
                  <a:srgbClr val="D7F6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W</a:t>
            </a:r>
            <a:endParaRPr lang="en-US" sz="950" dirty="0"/>
          </a:p>
        </p:txBody>
      </p:sp>
      <p:sp>
        <p:nvSpPr>
          <p:cNvPr id="10" name="Text 5"/>
          <p:cNvSpPr/>
          <p:nvPr/>
        </p:nvSpPr>
        <p:spPr>
          <a:xfrm>
            <a:off x="7414353" y="1604665"/>
            <a:ext cx="92925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kern="0" spc="1" dirty="0">
                <a:solidFill>
                  <a:srgbClr val="D7F6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B</a:t>
            </a:r>
            <a:endParaRPr lang="en-US" sz="950" dirty="0"/>
          </a:p>
        </p:txBody>
      </p:sp>
      <p:sp>
        <p:nvSpPr>
          <p:cNvPr id="11" name="Text 6"/>
          <p:cNvSpPr/>
          <p:nvPr/>
        </p:nvSpPr>
        <p:spPr>
          <a:xfrm>
            <a:off x="8335896" y="2154734"/>
            <a:ext cx="92925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kern="0" spc="1" dirty="0">
                <a:solidFill>
                  <a:srgbClr val="D7F6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</a:t>
            </a:r>
            <a:endParaRPr lang="en-US" sz="950" dirty="0"/>
          </a:p>
        </p:txBody>
      </p:sp>
      <p:sp>
        <p:nvSpPr>
          <p:cNvPr id="12" name="Text 7"/>
          <p:cNvSpPr/>
          <p:nvPr/>
        </p:nvSpPr>
        <p:spPr>
          <a:xfrm>
            <a:off x="6942866" y="2104727"/>
            <a:ext cx="200248" cy="3946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F6FAFF"/>
                </a:solidFill>
                <a:latin typeface="Noto Sans SC ExtraBold" pitchFamily="34" charset="0"/>
                <a:ea typeface="Noto Sans SC ExtraBold" pitchFamily="34" charset="-122"/>
                <a:cs typeface="Noto Sans SC ExtraBold" pitchFamily="34" charset="-120"/>
              </a:rPr>
              <a:t>+</a:t>
            </a:r>
            <a:endParaRPr lang="en-US" sz="2450" dirty="0"/>
          </a:p>
        </p:txBody>
      </p:sp>
      <p:sp>
        <p:nvSpPr>
          <p:cNvPr id="13" name="Text 8"/>
          <p:cNvSpPr/>
          <p:nvPr/>
        </p:nvSpPr>
        <p:spPr>
          <a:xfrm>
            <a:off x="7700103" y="2304752"/>
            <a:ext cx="200248" cy="3946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F6FAFF"/>
                </a:solidFill>
                <a:latin typeface="Noto Sans SC ExtraBold" pitchFamily="34" charset="0"/>
                <a:ea typeface="Noto Sans SC ExtraBold" pitchFamily="34" charset="-122"/>
                <a:cs typeface="Noto Sans SC ExtraBold" pitchFamily="34" charset="-120"/>
              </a:rPr>
              <a:t>×</a:t>
            </a:r>
            <a:endParaRPr lang="en-US" sz="2450" dirty="0"/>
          </a:p>
        </p:txBody>
      </p:sp>
      <p:sp>
        <p:nvSpPr>
          <p:cNvPr id="2" name="文本框 1"/>
          <p:cNvSpPr txBox="1"/>
          <p:nvPr/>
        </p:nvSpPr>
        <p:spPr>
          <a:xfrm>
            <a:off x="706120" y="4119880"/>
            <a:ext cx="29171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信息</a:t>
            </a:r>
            <a:r>
              <a:rPr lang="en-US" altLang="zh-CN">
                <a:solidFill>
                  <a:schemeClr val="bg1"/>
                </a:solidFill>
              </a:rPr>
              <a:t>232 231001201 </a:t>
            </a:r>
            <a:r>
              <a:rPr lang="zh-CN" altLang="en-US">
                <a:solidFill>
                  <a:schemeClr val="bg1"/>
                </a:solidFill>
              </a:rPr>
              <a:t>周星宇</a:t>
            </a:r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620055"/>
            <a:ext cx="3222641" cy="514350"/>
          </a:xfrm>
          <a:prstGeom prst="rect">
            <a:avLst/>
          </a:prstGeom>
          <a:noFill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3366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AI 伴侣：从科幻走进现实</a:t>
            </a:r>
            <a:endParaRPr lang="en-US" sz="20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455874"/>
            <a:ext cx="171450" cy="171450"/>
          </a:xfrm>
          <a:prstGeom prst="rect">
            <a:avLst/>
          </a:prstGeom>
        </p:spPr>
      </p:pic>
      <p:sp>
        <p:nvSpPr>
          <p:cNvPr id="6" name="Text 1"/>
          <p:cNvSpPr/>
          <p:nvPr>
            <p:custDataLst>
              <p:tags r:id="rId3"/>
            </p:custDataLst>
          </p:nvPr>
        </p:nvSpPr>
        <p:spPr>
          <a:xfrm>
            <a:off x="885825" y="1562444"/>
            <a:ext cx="4314825" cy="2482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3366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虚拟陪伴需求爆发</a:t>
            </a:r>
            <a:endParaRPr lang="en-US" sz="1200" dirty="0"/>
          </a:p>
        </p:txBody>
      </p:sp>
      <p:sp>
        <p:nvSpPr>
          <p:cNvPr id="7" name="Text 2"/>
          <p:cNvSpPr/>
          <p:nvPr>
            <p:custDataLst>
              <p:tags r:id="rId4"/>
            </p:custDataLst>
          </p:nvPr>
        </p:nvSpPr>
        <p:spPr>
          <a:xfrm>
            <a:off x="885825" y="1939277"/>
            <a:ext cx="4314825" cy="4114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拟人化互动已成为 AI 应用的新蓝海，用户期待 AI 不只是工具，而是具备稳定性格和语气的陪伴者。</a:t>
            </a:r>
            <a:endParaRPr lang="en-US" sz="9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729331"/>
            <a:ext cx="171450" cy="171450"/>
          </a:xfrm>
          <a:prstGeom prst="rect">
            <a:avLst/>
          </a:prstGeom>
        </p:spPr>
      </p:pic>
      <p:sp>
        <p:nvSpPr>
          <p:cNvPr id="9" name="Text 3"/>
          <p:cNvSpPr/>
          <p:nvPr>
            <p:custDataLst>
              <p:tags r:id="rId6"/>
            </p:custDataLst>
          </p:nvPr>
        </p:nvSpPr>
        <p:spPr>
          <a:xfrm>
            <a:off x="885825" y="2835901"/>
            <a:ext cx="4314825" cy="2482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3366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情感价值的具象化</a:t>
            </a:r>
            <a:endParaRPr lang="en-US" sz="1200" dirty="0"/>
          </a:p>
        </p:txBody>
      </p:sp>
      <p:sp>
        <p:nvSpPr>
          <p:cNvPr id="10" name="Text 4"/>
          <p:cNvSpPr/>
          <p:nvPr>
            <p:custDataLst>
              <p:tags r:id="rId7"/>
            </p:custDataLst>
          </p:nvPr>
        </p:nvSpPr>
        <p:spPr>
          <a:xfrm>
            <a:off x="885825" y="3212734"/>
            <a:ext cx="4314825" cy="4114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AI 角色 App 正在重塑社交体验，用户对虚拟角色的情感投入日益增加，要求更精准的性格模拟。</a:t>
            </a:r>
            <a:endParaRPr lang="en-US" sz="9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4002788"/>
            <a:ext cx="171450" cy="171450"/>
          </a:xfrm>
          <a:prstGeom prst="rect">
            <a:avLst/>
          </a:prstGeom>
        </p:spPr>
      </p:pic>
      <p:sp>
        <p:nvSpPr>
          <p:cNvPr id="12" name="Text 5"/>
          <p:cNvSpPr/>
          <p:nvPr>
            <p:custDataLst>
              <p:tags r:id="rId9"/>
            </p:custDataLst>
          </p:nvPr>
        </p:nvSpPr>
        <p:spPr>
          <a:xfrm>
            <a:off x="885825" y="4109358"/>
            <a:ext cx="4314825" cy="2482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3366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行业乱象与监管红线</a:t>
            </a:r>
            <a:endParaRPr lang="en-US" sz="1200" dirty="0"/>
          </a:p>
        </p:txBody>
      </p:sp>
      <p:sp>
        <p:nvSpPr>
          <p:cNvPr id="13" name="Text 6"/>
          <p:cNvSpPr/>
          <p:nvPr>
            <p:custDataLst>
              <p:tags r:id="rId10"/>
            </p:custDataLst>
          </p:nvPr>
        </p:nvSpPr>
        <p:spPr>
          <a:xfrm>
            <a:off x="885825" y="4486191"/>
            <a:ext cx="4314825" cy="4114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随着需求增长，合规与安全挑战凸显。国家已出台暂行办法，对拟人化互动服务进行规范引导。</a:t>
            </a:r>
            <a:endParaRPr lang="en-US" sz="9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71490" y="65843"/>
            <a:ext cx="2857500" cy="2504833"/>
          </a:xfrm>
          <a:prstGeom prst="rect">
            <a:avLst/>
          </a:prstGeom>
        </p:spPr>
      </p:pic>
      <p:pic>
        <p:nvPicPr>
          <p:cNvPr id="2" name="图片 1" descr="图片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31435" y="2072640"/>
            <a:ext cx="4136390" cy="1551305"/>
          </a:xfrm>
          <a:prstGeom prst="rect">
            <a:avLst/>
          </a:prstGeom>
        </p:spPr>
      </p:pic>
      <p:pic>
        <p:nvPicPr>
          <p:cNvPr id="16" name="图片 15" descr="图片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37100" y="3569335"/>
            <a:ext cx="4525645" cy="9423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0063" y="445505"/>
            <a:ext cx="8143875" cy="1232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kern="0" spc="2" dirty="0">
                <a:solidFill>
                  <a:srgbClr val="00A7E1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BACKGROUND</a:t>
            </a:r>
            <a:endParaRPr lang="en-US" sz="750" dirty="0"/>
          </a:p>
        </p:txBody>
      </p:sp>
      <p:sp>
        <p:nvSpPr>
          <p:cNvPr id="5" name="Text 1"/>
          <p:cNvSpPr/>
          <p:nvPr/>
        </p:nvSpPr>
        <p:spPr>
          <a:xfrm>
            <a:off x="500063" y="737963"/>
            <a:ext cx="8143875" cy="28658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1700" b="1" dirty="0">
                <a:solidFill>
                  <a:srgbClr val="0B2F6B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AI 互动正在走向个性化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500063" y="1089476"/>
            <a:ext cx="6786563" cy="2071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1F3B5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拟人化 AI、虚拟伴侣与本地角色助手快速增多，模型能力的竞争正在从“能回答”转向“能稳定扮演”。</a:t>
            </a:r>
            <a:endParaRPr lang="en-US" sz="1050" dirty="0"/>
          </a:p>
        </p:txBody>
      </p:sp>
      <p:sp>
        <p:nvSpPr>
          <p:cNvPr id="7" name="Shape 3"/>
          <p:cNvSpPr/>
          <p:nvPr/>
        </p:nvSpPr>
        <p:spPr>
          <a:xfrm>
            <a:off x="500063" y="1625257"/>
            <a:ext cx="2143125" cy="1857375"/>
          </a:xfrm>
          <a:prstGeom prst="rect">
            <a:avLst/>
          </a:prstGeom>
          <a:solidFill>
            <a:srgbClr val="E7F6FF">
              <a:alpha val="48000"/>
            </a:srgbClr>
          </a:solidFill>
        </p:spPr>
      </p:sp>
      <p:sp>
        <p:nvSpPr>
          <p:cNvPr id="8" name="Shape 4"/>
          <p:cNvSpPr/>
          <p:nvPr/>
        </p:nvSpPr>
        <p:spPr>
          <a:xfrm>
            <a:off x="500063" y="1625257"/>
            <a:ext cx="2143125" cy="28575"/>
          </a:xfrm>
          <a:prstGeom prst="rect">
            <a:avLst/>
          </a:prstGeom>
          <a:solidFill>
            <a:srgbClr val="00A7E1"/>
          </a:solidFill>
        </p:spPr>
      </p:sp>
      <p:sp>
        <p:nvSpPr>
          <p:cNvPr id="9" name="Shape 5"/>
          <p:cNvSpPr/>
          <p:nvPr/>
        </p:nvSpPr>
        <p:spPr>
          <a:xfrm>
            <a:off x="700088" y="1782419"/>
            <a:ext cx="471488" cy="471488"/>
          </a:xfrm>
          <a:prstGeom prst="rect">
            <a:avLst/>
          </a:prstGeom>
          <a:solidFill>
            <a:srgbClr val="0B2F6B"/>
          </a:solidFill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816" y="1918151"/>
            <a:ext cx="250031" cy="20002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00088" y="2411069"/>
            <a:ext cx="1743075" cy="2482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2F6B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应用形态增多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700088" y="2801604"/>
            <a:ext cx="1743075" cy="5485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1F3B5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虚拟伴侣、AI 角色、AI VTuber 与本地助手把聊天体验推向长期陪伴场景。</a:t>
            </a:r>
            <a:endParaRPr lang="en-US" sz="850" dirty="0"/>
          </a:p>
        </p:txBody>
      </p:sp>
      <p:sp>
        <p:nvSpPr>
          <p:cNvPr id="13" name="Shape 8"/>
          <p:cNvSpPr/>
          <p:nvPr/>
        </p:nvSpPr>
        <p:spPr>
          <a:xfrm>
            <a:off x="2643188" y="2546801"/>
            <a:ext cx="857250" cy="14288"/>
          </a:xfrm>
          <a:prstGeom prst="rect">
            <a:avLst/>
          </a:prstGeom>
          <a:solidFill>
            <a:srgbClr val="00A7E1"/>
          </a:solidFill>
        </p:spPr>
      </p:sp>
      <p:sp>
        <p:nvSpPr>
          <p:cNvPr id="14" name="Shape 9"/>
          <p:cNvSpPr/>
          <p:nvPr/>
        </p:nvSpPr>
        <p:spPr>
          <a:xfrm>
            <a:off x="3500438" y="1625257"/>
            <a:ext cx="2143125" cy="1857375"/>
          </a:xfrm>
          <a:prstGeom prst="rect">
            <a:avLst/>
          </a:prstGeom>
          <a:solidFill>
            <a:srgbClr val="E7F6FF">
              <a:alpha val="48000"/>
            </a:srgbClr>
          </a:solidFill>
        </p:spPr>
      </p:sp>
      <p:sp>
        <p:nvSpPr>
          <p:cNvPr id="15" name="Shape 10"/>
          <p:cNvSpPr/>
          <p:nvPr/>
        </p:nvSpPr>
        <p:spPr>
          <a:xfrm>
            <a:off x="3500438" y="1625257"/>
            <a:ext cx="2143125" cy="28575"/>
          </a:xfrm>
          <a:prstGeom prst="rect">
            <a:avLst/>
          </a:prstGeom>
          <a:solidFill>
            <a:srgbClr val="00A7E1"/>
          </a:solidFill>
        </p:spPr>
      </p:sp>
      <p:sp>
        <p:nvSpPr>
          <p:cNvPr id="16" name="Shape 11"/>
          <p:cNvSpPr/>
          <p:nvPr/>
        </p:nvSpPr>
        <p:spPr>
          <a:xfrm>
            <a:off x="3700463" y="1782419"/>
            <a:ext cx="471488" cy="471488"/>
          </a:xfrm>
          <a:prstGeom prst="rect">
            <a:avLst/>
          </a:prstGeom>
          <a:solidFill>
            <a:srgbClr val="0B2F6B"/>
          </a:solidFill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1191" y="1918151"/>
            <a:ext cx="250031" cy="20002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700463" y="2411069"/>
            <a:ext cx="1743075" cy="2482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2F6B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体验需求升级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3700463" y="2801604"/>
            <a:ext cx="1743075" cy="5485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1F3B5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用户期待角色设定一致、语气稳定、表达自然，并能适应具体场景。</a:t>
            </a:r>
            <a:endParaRPr lang="en-US" sz="850" dirty="0"/>
          </a:p>
        </p:txBody>
      </p:sp>
      <p:sp>
        <p:nvSpPr>
          <p:cNvPr id="20" name="Shape 14"/>
          <p:cNvSpPr/>
          <p:nvPr/>
        </p:nvSpPr>
        <p:spPr>
          <a:xfrm>
            <a:off x="5643563" y="2546801"/>
            <a:ext cx="857250" cy="14288"/>
          </a:xfrm>
          <a:prstGeom prst="rect">
            <a:avLst/>
          </a:prstGeom>
          <a:solidFill>
            <a:srgbClr val="00A7E1"/>
          </a:solidFill>
        </p:spPr>
      </p:sp>
      <p:sp>
        <p:nvSpPr>
          <p:cNvPr id="21" name="Shape 15"/>
          <p:cNvSpPr/>
          <p:nvPr/>
        </p:nvSpPr>
        <p:spPr>
          <a:xfrm>
            <a:off x="6500813" y="1625257"/>
            <a:ext cx="2143125" cy="1857375"/>
          </a:xfrm>
          <a:prstGeom prst="rect">
            <a:avLst/>
          </a:prstGeom>
          <a:solidFill>
            <a:srgbClr val="E7F6FF">
              <a:alpha val="48000"/>
            </a:srgbClr>
          </a:solidFill>
        </p:spPr>
      </p:sp>
      <p:sp>
        <p:nvSpPr>
          <p:cNvPr id="22" name="Shape 16"/>
          <p:cNvSpPr/>
          <p:nvPr/>
        </p:nvSpPr>
        <p:spPr>
          <a:xfrm>
            <a:off x="6500813" y="1625257"/>
            <a:ext cx="2143125" cy="28575"/>
          </a:xfrm>
          <a:prstGeom prst="rect">
            <a:avLst/>
          </a:prstGeom>
          <a:solidFill>
            <a:srgbClr val="00A7E1"/>
          </a:solidFill>
        </p:spPr>
      </p:sp>
      <p:sp>
        <p:nvSpPr>
          <p:cNvPr id="23" name="Shape 17"/>
          <p:cNvSpPr/>
          <p:nvPr/>
        </p:nvSpPr>
        <p:spPr>
          <a:xfrm>
            <a:off x="6700838" y="1782419"/>
            <a:ext cx="471488" cy="471488"/>
          </a:xfrm>
          <a:prstGeom prst="rect">
            <a:avLst/>
          </a:prstGeom>
          <a:solidFill>
            <a:srgbClr val="0B2F6B"/>
          </a:solidFill>
        </p:spPr>
      </p:sp>
      <p:sp>
        <p:nvSpPr>
          <p:cNvPr id="24" name="Text 18"/>
          <p:cNvSpPr/>
          <p:nvPr/>
        </p:nvSpPr>
        <p:spPr>
          <a:xfrm>
            <a:off x="6700838" y="2411069"/>
            <a:ext cx="1743075" cy="2482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2F6B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合规边界明确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6700838" y="2801604"/>
            <a:ext cx="1743075" cy="5485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1F3B5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未成年人保护、身份识别与服务边界要求模型风格可控、行为可审计。</a:t>
            </a:r>
            <a:endParaRPr lang="en-US" sz="850" dirty="0"/>
          </a:p>
        </p:txBody>
      </p:sp>
      <p:sp>
        <p:nvSpPr>
          <p:cNvPr id="26" name="Shape 20"/>
          <p:cNvSpPr/>
          <p:nvPr/>
        </p:nvSpPr>
        <p:spPr>
          <a:xfrm>
            <a:off x="500063" y="3796957"/>
            <a:ext cx="8143875" cy="528638"/>
          </a:xfrm>
          <a:prstGeom prst="rect">
            <a:avLst/>
          </a:prstGeom>
          <a:solidFill>
            <a:srgbClr val="0B2F6B"/>
          </a:solidFill>
        </p:spPr>
      </p:sp>
      <p:sp>
        <p:nvSpPr>
          <p:cNvPr id="27" name="Text 21"/>
          <p:cNvSpPr/>
          <p:nvPr/>
        </p:nvSpPr>
        <p:spPr>
          <a:xfrm>
            <a:off x="1185863" y="3947868"/>
            <a:ext cx="7215188" cy="22681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6FAFF"/>
                </a:solidFill>
                <a:latin typeface="Noto Sans SC ExtraBold" pitchFamily="34" charset="0"/>
                <a:ea typeface="Noto Sans SC ExtraBold" pitchFamily="34" charset="-122"/>
                <a:cs typeface="Noto Sans SC ExtraBold" pitchFamily="34" charset="-120"/>
              </a:rPr>
              <a:t>行业需求与监管压力共同推动模型从“通用回答”走向“可控风格”。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770" y="77470"/>
            <a:ext cx="2647950" cy="6444615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4029075" y="885044"/>
            <a:ext cx="4543425" cy="8286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3366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豆包案例：云端大模型的“忠诚度”危机</a:t>
            </a:r>
            <a:endParaRPr lang="en-US" sz="2000" dirty="0"/>
          </a:p>
        </p:txBody>
      </p:sp>
      <p:sp>
        <p:nvSpPr>
          <p:cNvPr id="7" name="Shape 2"/>
          <p:cNvSpPr/>
          <p:nvPr/>
        </p:nvSpPr>
        <p:spPr>
          <a:xfrm>
            <a:off x="4029075" y="1928031"/>
            <a:ext cx="4543425" cy="1416332"/>
          </a:xfrm>
          <a:prstGeom prst="rect">
            <a:avLst/>
          </a:prstGeom>
          <a:solidFill>
            <a:srgbClr val="FFF5F5"/>
          </a:solidFill>
        </p:spPr>
      </p:sp>
      <p:sp>
        <p:nvSpPr>
          <p:cNvPr id="8" name="Shape 3"/>
          <p:cNvSpPr/>
          <p:nvPr/>
        </p:nvSpPr>
        <p:spPr>
          <a:xfrm>
            <a:off x="4029075" y="1928031"/>
            <a:ext cx="42863" cy="1416332"/>
          </a:xfrm>
          <a:prstGeom prst="rect">
            <a:avLst/>
          </a:prstGeom>
          <a:solidFill>
            <a:srgbClr val="FF4D4F"/>
          </a:solidFill>
        </p:spPr>
      </p:sp>
      <p:sp>
        <p:nvSpPr>
          <p:cNvPr id="9" name="Text 4"/>
          <p:cNvSpPr/>
          <p:nvPr/>
        </p:nvSpPr>
        <p:spPr>
          <a:xfrm>
            <a:off x="4207669" y="2248914"/>
            <a:ext cx="4186238" cy="2482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F1322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“谁都能当她男朋友”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4207669" y="2625747"/>
            <a:ext cx="4186238" cy="4114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在云端共享实例中，AI 难以保持对单一用户的绝对忠诚。上一秒还是你的“专属”，下一秒就能被别人“撬走”。</a:t>
            </a:r>
            <a:endParaRPr lang="en-US" sz="9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4825" y="3588144"/>
            <a:ext cx="128588" cy="12858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550569" y="3558676"/>
            <a:ext cx="2700338" cy="18752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隐私挑战：情感投入被共享化，数据缺乏排他性</a:t>
            </a:r>
            <a:endParaRPr lang="en-US" sz="9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4825" y="3882823"/>
            <a:ext cx="128588" cy="12858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550569" y="3853355"/>
            <a:ext cx="2571750" cy="18752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记忆碎片化：通用模型难以承载深度私密记忆</a:t>
            </a:r>
            <a:endParaRPr lang="en-US" sz="9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4825" y="4177503"/>
            <a:ext cx="128588" cy="12858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4550569" y="4148035"/>
            <a:ext cx="2785979" cy="18752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安全隐患：中心化平台存在被监管“一刀切”的风险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759972"/>
            <a:ext cx="4204097" cy="414338"/>
          </a:xfrm>
          <a:prstGeom prst="rect">
            <a:avLst/>
          </a:prstGeom>
          <a:noFill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3366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为什么我们需要本地部署？</a:t>
            </a:r>
            <a:endParaRPr lang="en-US" sz="20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498457"/>
            <a:ext cx="192881" cy="17145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871538" y="1460060"/>
            <a:ext cx="1543050" cy="2482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3366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数据所有权归还用户</a:t>
            </a:r>
            <a:endParaRPr lang="en-US" sz="1200" dirty="0"/>
          </a:p>
        </p:txBody>
      </p:sp>
      <p:sp>
        <p:nvSpPr>
          <p:cNvPr id="7" name="Text 2"/>
          <p:cNvSpPr/>
          <p:nvPr/>
        </p:nvSpPr>
        <p:spPr>
          <a:xfrm>
            <a:off x="571500" y="1836893"/>
            <a:ext cx="4204097" cy="4114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本地部署意味着你的 AI 伴侣完全属于你，对话数据不再上传云端，彻底杜绝隐私泄露风险。</a:t>
            </a:r>
            <a:endParaRPr lang="en-US" sz="9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36757"/>
            <a:ext cx="171450" cy="17145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850106" y="2498359"/>
            <a:ext cx="1200150" cy="2482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3366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人设的深度定制</a:t>
            </a:r>
            <a:endParaRPr lang="en-US" sz="1200" dirty="0"/>
          </a:p>
        </p:txBody>
      </p:sp>
      <p:sp>
        <p:nvSpPr>
          <p:cNvPr id="10" name="Text 4"/>
          <p:cNvSpPr/>
          <p:nvPr/>
        </p:nvSpPr>
        <p:spPr>
          <a:xfrm>
            <a:off x="571500" y="2875192"/>
            <a:ext cx="4204097" cy="4114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不受云端预设指令限制，你可以自由定义伴侣的性格、背景和说话方式，打造真正灵魂契合的陪伴者。</a:t>
            </a:r>
            <a:endParaRPr lang="en-US" sz="9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575056"/>
            <a:ext cx="214313" cy="17145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892969" y="3536659"/>
            <a:ext cx="1200150" cy="2482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3366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永久的陪伴承诺</a:t>
            </a:r>
            <a:endParaRPr lang="en-US" sz="1200" dirty="0"/>
          </a:p>
        </p:txBody>
      </p:sp>
      <p:sp>
        <p:nvSpPr>
          <p:cNvPr id="13" name="Text 6"/>
          <p:cNvSpPr/>
          <p:nvPr/>
        </p:nvSpPr>
        <p:spPr>
          <a:xfrm>
            <a:off x="571500" y="3913491"/>
            <a:ext cx="4204097" cy="4114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不因服务器停机或公司倒闭而消失。本地 AI 是真正属于个人的数字资产，提供永恒的陪伴。</a:t>
            </a:r>
            <a:endParaRPr lang="en-US" sz="950" dirty="0"/>
          </a:p>
        </p:txBody>
      </p:sp>
      <p:sp>
        <p:nvSpPr>
          <p:cNvPr id="14" name="Shape 7"/>
          <p:cNvSpPr/>
          <p:nvPr/>
        </p:nvSpPr>
        <p:spPr>
          <a:xfrm>
            <a:off x="5166717" y="1488105"/>
            <a:ext cx="3371850" cy="1915446"/>
          </a:xfrm>
          <a:prstGeom prst="rect">
            <a:avLst/>
          </a:prstGeom>
          <a:solidFill>
            <a:srgbClr val="FFFFFF"/>
          </a:solidFill>
          <a:ln w="9144">
            <a:solidFill>
              <a:srgbClr val="E1E8ED"/>
            </a:solidFill>
            <a:prstDash val="solid"/>
          </a:ln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5835" y="1067435"/>
            <a:ext cx="4271010" cy="2336165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796930" y="3503563"/>
            <a:ext cx="2111397" cy="14466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88888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图：B 站关于“本地部署 AI 伴侣”的海量技术分享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0063" y="385763"/>
            <a:ext cx="8143875" cy="1232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kern="0" spc="2" dirty="0">
                <a:solidFill>
                  <a:srgbClr val="00A7E1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CHALLENGE</a:t>
            </a:r>
            <a:endParaRPr lang="en-US" sz="750" dirty="0"/>
          </a:p>
        </p:txBody>
      </p:sp>
      <p:sp>
        <p:nvSpPr>
          <p:cNvPr id="5" name="Text 1"/>
          <p:cNvSpPr/>
          <p:nvPr/>
        </p:nvSpPr>
        <p:spPr>
          <a:xfrm>
            <a:off x="500063" y="694095"/>
            <a:ext cx="8143875" cy="28658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1700" b="1" dirty="0">
                <a:solidFill>
                  <a:srgbClr val="0B2F6B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通用模型难以天然适配新风格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500063" y="1029732"/>
            <a:ext cx="7000875" cy="2071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1F3B5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大模型的通用能力很强，但新角色、新语气和新领域内容需要更精细、更稳定的风格学习。</a:t>
            </a:r>
            <a:endParaRPr lang="en-US" sz="1050" dirty="0"/>
          </a:p>
        </p:txBody>
      </p:sp>
      <p:sp>
        <p:nvSpPr>
          <p:cNvPr id="7" name="Shape 3"/>
          <p:cNvSpPr/>
          <p:nvPr/>
        </p:nvSpPr>
        <p:spPr>
          <a:xfrm>
            <a:off x="500063" y="1494076"/>
            <a:ext cx="3143250" cy="2082403"/>
          </a:xfrm>
          <a:prstGeom prst="rect">
            <a:avLst/>
          </a:prstGeom>
          <a:solidFill>
            <a:srgbClr val="E7F6FF">
              <a:alpha val="42000"/>
            </a:srgbClr>
          </a:solidFill>
        </p:spPr>
      </p:sp>
      <p:sp>
        <p:nvSpPr>
          <p:cNvPr id="8" name="Shape 4"/>
          <p:cNvSpPr/>
          <p:nvPr/>
        </p:nvSpPr>
        <p:spPr>
          <a:xfrm>
            <a:off x="500063" y="1494076"/>
            <a:ext cx="3143250" cy="28575"/>
          </a:xfrm>
          <a:prstGeom prst="rect">
            <a:avLst/>
          </a:prstGeom>
          <a:solidFill>
            <a:srgbClr val="00A7E1"/>
          </a:solidFill>
        </p:spPr>
      </p:sp>
      <p:sp>
        <p:nvSpPr>
          <p:cNvPr id="9" name="Text 5"/>
          <p:cNvSpPr/>
          <p:nvPr/>
        </p:nvSpPr>
        <p:spPr>
          <a:xfrm>
            <a:off x="742950" y="1799472"/>
            <a:ext cx="2657475" cy="25896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B2F6B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大模型：通用能力</a:t>
            </a:r>
            <a:endParaRPr lang="en-US" sz="12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2201307"/>
            <a:ext cx="300038" cy="1714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43000" y="2187020"/>
            <a:ext cx="2257425" cy="18752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3B57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知识与语言理解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1143000" y="2426336"/>
            <a:ext cx="1607344" cy="11965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800" dirty="0">
                <a:solidFill>
                  <a:srgbClr val="1F3B5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覆盖大量文本、问答和推理任务。</a:t>
            </a:r>
            <a:endParaRPr lang="en-US" sz="8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2697798"/>
            <a:ext cx="300038" cy="1714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43000" y="2683511"/>
            <a:ext cx="2257425" cy="18752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3B57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多任务泛化</a:t>
            </a:r>
            <a:endParaRPr lang="en-US" sz="900" dirty="0"/>
          </a:p>
        </p:txBody>
      </p:sp>
      <p:sp>
        <p:nvSpPr>
          <p:cNvPr id="15" name="Text 9"/>
          <p:cNvSpPr/>
          <p:nvPr/>
        </p:nvSpPr>
        <p:spPr>
          <a:xfrm>
            <a:off x="1143000" y="2922826"/>
            <a:ext cx="1500188" cy="11965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800" dirty="0">
                <a:solidFill>
                  <a:srgbClr val="1F3B5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可在多类任务间迁移基础能力。</a:t>
            </a:r>
            <a:endParaRPr lang="en-US" sz="8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3194289"/>
            <a:ext cx="300038" cy="17145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43000" y="3180001"/>
            <a:ext cx="2257425" cy="18752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3B57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默认输出通用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1143000" y="3419317"/>
            <a:ext cx="1821656" cy="11965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800" dirty="0">
                <a:solidFill>
                  <a:srgbClr val="1F3B5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表达自然，但未必符合特定角色风格。</a:t>
            </a:r>
            <a:endParaRPr lang="en-US" sz="800" dirty="0"/>
          </a:p>
        </p:txBody>
      </p:sp>
      <p:sp>
        <p:nvSpPr>
          <p:cNvPr id="19" name="Shape 12"/>
          <p:cNvSpPr/>
          <p:nvPr/>
        </p:nvSpPr>
        <p:spPr>
          <a:xfrm>
            <a:off x="4121944" y="1723039"/>
            <a:ext cx="900113" cy="900113"/>
          </a:xfrm>
          <a:prstGeom prst="rect">
            <a:avLst/>
          </a:prstGeom>
          <a:solidFill>
            <a:srgbClr val="0B2F6B"/>
          </a:solidFill>
        </p:spPr>
      </p:sp>
      <p:sp>
        <p:nvSpPr>
          <p:cNvPr id="20" name="Text 13"/>
          <p:cNvSpPr/>
          <p:nvPr/>
        </p:nvSpPr>
        <p:spPr>
          <a:xfrm>
            <a:off x="4121944" y="1723039"/>
            <a:ext cx="900113" cy="900113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CFFCB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?</a:t>
            </a:r>
            <a:endParaRPr lang="en-US" sz="3600" dirty="0"/>
          </a:p>
        </p:txBody>
      </p:sp>
      <p:sp>
        <p:nvSpPr>
          <p:cNvPr id="21" name="Text 14"/>
          <p:cNvSpPr/>
          <p:nvPr/>
        </p:nvSpPr>
        <p:spPr>
          <a:xfrm>
            <a:off x="4100513" y="2766027"/>
            <a:ext cx="942975" cy="42432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0B2F6B"/>
                </a:solidFill>
                <a:latin typeface="Noto Sans SC ExtraBold" pitchFamily="34" charset="0"/>
                <a:ea typeface="Noto Sans SC ExtraBold" pitchFamily="34" charset="-122"/>
                <a:cs typeface="Noto Sans SC ExtraBold" pitchFamily="34" charset="-120"/>
              </a:rPr>
              <a:t>如何快速学会</a:t>
            </a:r>
            <a:r>
              <a:rPr lang="en-US" sz="1100" b="1" dirty="0">
                <a:solidFill>
                  <a:srgbClr val="0B2F6B"/>
                </a:solidFill>
                <a:latin typeface="Noto Sans SC ExtraBold" pitchFamily="34" charset="0"/>
                <a:ea typeface="Noto Sans SC ExtraBold" pitchFamily="34" charset="-122"/>
                <a:cs typeface="Noto Sans SC ExtraBold" pitchFamily="34" charset="-120"/>
              </a:rPr>
              <a:t>
</a:t>
            </a:r>
            <a:r>
              <a:rPr lang="en-US" sz="1100" b="1" dirty="0">
                <a:solidFill>
                  <a:srgbClr val="0B2F6B"/>
                </a:solidFill>
                <a:latin typeface="Noto Sans SC ExtraBold" pitchFamily="34" charset="0"/>
                <a:ea typeface="Noto Sans SC ExtraBold" pitchFamily="34" charset="-122"/>
                <a:cs typeface="Noto Sans SC ExtraBold" pitchFamily="34" charset="-120"/>
              </a:rPr>
              <a:t>一种新风格？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5500688" y="1665526"/>
            <a:ext cx="3143250" cy="2082403"/>
          </a:xfrm>
          <a:prstGeom prst="rect">
            <a:avLst/>
          </a:prstGeom>
          <a:solidFill>
            <a:srgbClr val="123F86"/>
          </a:solidFill>
        </p:spPr>
      </p:sp>
      <p:sp>
        <p:nvSpPr>
          <p:cNvPr id="23" name="Shape 16"/>
          <p:cNvSpPr/>
          <p:nvPr/>
        </p:nvSpPr>
        <p:spPr>
          <a:xfrm>
            <a:off x="5500688" y="1494076"/>
            <a:ext cx="3143250" cy="28575"/>
          </a:xfrm>
          <a:prstGeom prst="rect">
            <a:avLst/>
          </a:prstGeom>
          <a:solidFill>
            <a:srgbClr val="7CFFCB"/>
          </a:solidFill>
        </p:spPr>
      </p:sp>
      <p:sp>
        <p:nvSpPr>
          <p:cNvPr id="24" name="Text 17"/>
          <p:cNvSpPr/>
          <p:nvPr/>
        </p:nvSpPr>
        <p:spPr>
          <a:xfrm>
            <a:off x="5743575" y="1785184"/>
            <a:ext cx="2657475" cy="25896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6FA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新任务：特定风格</a:t>
            </a:r>
            <a:endParaRPr lang="en-US" sz="125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3575" y="2187020"/>
            <a:ext cx="300038" cy="17145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143625" y="2172732"/>
            <a:ext cx="2257425" cy="18752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6FA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新角色</a:t>
            </a:r>
            <a:endParaRPr lang="en-US" sz="900" dirty="0"/>
          </a:p>
        </p:txBody>
      </p:sp>
      <p:sp>
        <p:nvSpPr>
          <p:cNvPr id="27" name="Text 19"/>
          <p:cNvSpPr/>
          <p:nvPr/>
        </p:nvSpPr>
        <p:spPr>
          <a:xfrm>
            <a:off x="6143625" y="2412048"/>
            <a:ext cx="1393031" cy="11965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800" dirty="0">
                <a:solidFill>
                  <a:srgbClr val="F6FA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保持人设、身份与说话习惯。</a:t>
            </a:r>
            <a:endParaRPr lang="en-US" sz="80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43575" y="2683511"/>
            <a:ext cx="300038" cy="17145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143625" y="2669223"/>
            <a:ext cx="2257425" cy="18752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6FA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新表达</a:t>
            </a:r>
            <a:endParaRPr lang="en-US" sz="900" dirty="0"/>
          </a:p>
        </p:txBody>
      </p:sp>
      <p:sp>
        <p:nvSpPr>
          <p:cNvPr id="30" name="Text 21"/>
          <p:cNvSpPr/>
          <p:nvPr/>
        </p:nvSpPr>
        <p:spPr>
          <a:xfrm>
            <a:off x="6143625" y="2908539"/>
            <a:ext cx="1393031" cy="11965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800" dirty="0">
                <a:solidFill>
                  <a:srgbClr val="F6FA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固定语气、句式和互动节奏。</a:t>
            </a:r>
            <a:endParaRPr lang="en-US" sz="800" dirty="0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43575" y="3180001"/>
            <a:ext cx="300038" cy="171450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6143625" y="3165714"/>
            <a:ext cx="2257425" cy="18752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6FA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新领域</a:t>
            </a:r>
            <a:endParaRPr lang="en-US" sz="900" dirty="0"/>
          </a:p>
        </p:txBody>
      </p:sp>
      <p:sp>
        <p:nvSpPr>
          <p:cNvPr id="33" name="Text 23"/>
          <p:cNvSpPr/>
          <p:nvPr/>
        </p:nvSpPr>
        <p:spPr>
          <a:xfrm>
            <a:off x="6143625" y="3405029"/>
            <a:ext cx="1393031" cy="11965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800" dirty="0">
                <a:solidFill>
                  <a:srgbClr val="F6FA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适应特定场景中的表达方式。</a:t>
            </a:r>
            <a:endParaRPr lang="en-US" sz="800" dirty="0"/>
          </a:p>
        </p:txBody>
      </p:sp>
      <p:sp>
        <p:nvSpPr>
          <p:cNvPr id="34" name="Shape 24"/>
          <p:cNvSpPr/>
          <p:nvPr/>
        </p:nvSpPr>
        <p:spPr>
          <a:xfrm>
            <a:off x="500063" y="3833654"/>
            <a:ext cx="8143875" cy="542925"/>
          </a:xfrm>
          <a:prstGeom prst="rect">
            <a:avLst/>
          </a:prstGeom>
          <a:solidFill>
            <a:srgbClr val="0B2F6B"/>
          </a:solidFill>
        </p:spPr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0088" y="4005104"/>
            <a:ext cx="385763" cy="200025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1214438" y="3991710"/>
            <a:ext cx="7186613" cy="22681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6FA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风格学习的核心挑战：既要像，又要快，还要低成本。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0063" y="385763"/>
            <a:ext cx="8143875" cy="1232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kern="0" spc="2" dirty="0">
                <a:solidFill>
                  <a:srgbClr val="00A7E1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PROBLEM</a:t>
            </a:r>
            <a:endParaRPr lang="en-US" sz="750" dirty="0"/>
          </a:p>
        </p:txBody>
      </p:sp>
      <p:sp>
        <p:nvSpPr>
          <p:cNvPr id="5" name="Text 1"/>
          <p:cNvSpPr/>
          <p:nvPr/>
        </p:nvSpPr>
        <p:spPr>
          <a:xfrm>
            <a:off x="500063" y="662345"/>
            <a:ext cx="8143875" cy="28658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1700" b="1" dirty="0">
                <a:solidFill>
                  <a:srgbClr val="0B2F6B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全量微调成本高、风险大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500063" y="1029732"/>
            <a:ext cx="7000875" cy="2071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1F3B5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直接更新全部权重可以改变模型行为，但对轻量化、频繁迭代的风格学习来说，代价往往过高。</a:t>
            </a:r>
            <a:endParaRPr lang="en-US" sz="1050" dirty="0"/>
          </a:p>
        </p:txBody>
      </p:sp>
      <p:sp>
        <p:nvSpPr>
          <p:cNvPr id="7" name="Shape 3"/>
          <p:cNvSpPr/>
          <p:nvPr/>
        </p:nvSpPr>
        <p:spPr>
          <a:xfrm>
            <a:off x="500063" y="1479789"/>
            <a:ext cx="3000375" cy="2714625"/>
          </a:xfrm>
          <a:prstGeom prst="rect">
            <a:avLst/>
          </a:prstGeom>
          <a:solidFill>
            <a:srgbClr val="FFFFFF">
              <a:alpha val="18000"/>
            </a:srgbClr>
          </a:solidFill>
        </p:spPr>
      </p:sp>
      <p:sp>
        <p:nvSpPr>
          <p:cNvPr id="8" name="Shape 4"/>
          <p:cNvSpPr/>
          <p:nvPr/>
        </p:nvSpPr>
        <p:spPr>
          <a:xfrm>
            <a:off x="500063" y="1479789"/>
            <a:ext cx="3000375" cy="28575"/>
          </a:xfrm>
          <a:prstGeom prst="rect">
            <a:avLst/>
          </a:prstGeom>
          <a:solidFill>
            <a:srgbClr val="00A7E1"/>
          </a:solidFill>
        </p:spPr>
      </p:sp>
      <p:sp>
        <p:nvSpPr>
          <p:cNvPr id="9" name="Text 5"/>
          <p:cNvSpPr/>
          <p:nvPr/>
        </p:nvSpPr>
        <p:spPr>
          <a:xfrm>
            <a:off x="700088" y="1665526"/>
            <a:ext cx="1314450" cy="237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B2F6B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全量更新模型权重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700088" y="1922701"/>
            <a:ext cx="1785938" cy="33218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800" dirty="0">
                <a:solidFill>
                  <a:srgbClr val="1F3B5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几乎所有参数都参与训练，计算资源、显存占用和调试成本同步放大。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2771775" y="2565639"/>
            <a:ext cx="528638" cy="528638"/>
          </a:xfrm>
          <a:prstGeom prst="rect">
            <a:avLst/>
          </a:prstGeom>
          <a:solidFill>
            <a:srgbClr val="0B2F6B"/>
          </a:solidFill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8938" y="2722801"/>
            <a:ext cx="214313" cy="21431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657475" y="3180001"/>
            <a:ext cx="685800" cy="28932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750" b="1" dirty="0">
                <a:solidFill>
                  <a:srgbClr val="0B2F6B"/>
                </a:solidFill>
                <a:latin typeface="Noto Sans SC ExtraBold" pitchFamily="34" charset="0"/>
                <a:ea typeface="Noto Sans SC ExtraBold" pitchFamily="34" charset="-122"/>
                <a:cs typeface="Noto Sans SC ExtraBold" pitchFamily="34" charset="-120"/>
              </a:rPr>
              <a:t>反复训练</a:t>
            </a:r>
            <a:r>
              <a:rPr lang="en-US" sz="750" b="1" dirty="0">
                <a:solidFill>
                  <a:srgbClr val="0B2F6B"/>
                </a:solidFill>
                <a:latin typeface="Noto Sans SC ExtraBold" pitchFamily="34" charset="0"/>
                <a:ea typeface="Noto Sans SC ExtraBold" pitchFamily="34" charset="-122"/>
                <a:cs typeface="Noto Sans SC ExtraBold" pitchFamily="34" charset="-120"/>
              </a:rPr>
              <a:t>
</a:t>
            </a:r>
            <a:r>
              <a:rPr lang="en-US" sz="750" b="1" dirty="0">
                <a:solidFill>
                  <a:srgbClr val="0B2F6B"/>
                </a:solidFill>
                <a:latin typeface="Noto Sans SC ExtraBold" pitchFamily="34" charset="0"/>
                <a:ea typeface="Noto Sans SC ExtraBold" pitchFamily="34" charset="-122"/>
                <a:cs typeface="Noto Sans SC ExtraBold" pitchFamily="34" charset="-120"/>
              </a:rPr>
              <a:t>反复验证</a:t>
            </a:r>
            <a:endParaRPr lang="en-US" sz="750" dirty="0"/>
          </a:p>
        </p:txBody>
      </p:sp>
      <p:sp>
        <p:nvSpPr>
          <p:cNvPr id="14" name="Shape 9"/>
          <p:cNvSpPr/>
          <p:nvPr/>
        </p:nvSpPr>
        <p:spPr>
          <a:xfrm>
            <a:off x="3957638" y="1479789"/>
            <a:ext cx="4686300" cy="2714625"/>
          </a:xfrm>
          <a:prstGeom prst="rect">
            <a:avLst/>
          </a:prstGeom>
          <a:solidFill>
            <a:srgbClr val="E7F6FF">
              <a:alpha val="35000"/>
            </a:srgbClr>
          </a:solidFill>
        </p:spPr>
      </p:sp>
      <p:sp>
        <p:nvSpPr>
          <p:cNvPr id="15" name="Shape 10"/>
          <p:cNvSpPr/>
          <p:nvPr/>
        </p:nvSpPr>
        <p:spPr>
          <a:xfrm>
            <a:off x="3957638" y="1479789"/>
            <a:ext cx="4686300" cy="28575"/>
          </a:xfrm>
          <a:prstGeom prst="rect">
            <a:avLst/>
          </a:prstGeom>
          <a:solidFill>
            <a:srgbClr val="0B2F6B"/>
          </a:solidFill>
        </p:spPr>
      </p:sp>
      <p:sp>
        <p:nvSpPr>
          <p:cNvPr id="16" name="Shape 11"/>
          <p:cNvSpPr/>
          <p:nvPr/>
        </p:nvSpPr>
        <p:spPr>
          <a:xfrm>
            <a:off x="4143375" y="1658382"/>
            <a:ext cx="300038" cy="300038"/>
          </a:xfrm>
          <a:prstGeom prst="rect">
            <a:avLst/>
          </a:prstGeom>
          <a:solidFill>
            <a:srgbClr val="0B2F6B"/>
          </a:solidFill>
        </p:spPr>
      </p:sp>
      <p:sp>
        <p:nvSpPr>
          <p:cNvPr id="17" name="Text 12"/>
          <p:cNvSpPr/>
          <p:nvPr/>
        </p:nvSpPr>
        <p:spPr>
          <a:xfrm>
            <a:off x="4143375" y="1658382"/>
            <a:ext cx="300038" cy="30003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CFFCB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01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4800600" y="1694994"/>
            <a:ext cx="1143000" cy="22681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2F6B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参数规模巨大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072188" y="1631259"/>
            <a:ext cx="2357438" cy="3542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850" dirty="0">
                <a:solidFill>
                  <a:srgbClr val="1F3B5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全量更新需要处理庞大权重，</a:t>
            </a:r>
            <a:r>
              <a:rPr lang="en-US" sz="800" b="1" dirty="0">
                <a:solidFill>
                  <a:srgbClr val="00A7E1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算力与显存压力高</a:t>
            </a:r>
            <a:r>
              <a:rPr lang="en-US" sz="850" dirty="0">
                <a:solidFill>
                  <a:srgbClr val="1F3B5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。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3957638" y="2137014"/>
            <a:ext cx="4686300" cy="657225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21" name="Shape 16"/>
          <p:cNvSpPr/>
          <p:nvPr/>
        </p:nvSpPr>
        <p:spPr>
          <a:xfrm>
            <a:off x="3957638" y="2137014"/>
            <a:ext cx="4686300" cy="7144"/>
          </a:xfrm>
          <a:prstGeom prst="rect">
            <a:avLst/>
          </a:prstGeom>
          <a:solidFill>
            <a:srgbClr val="C7ECF8"/>
          </a:solidFill>
        </p:spPr>
      </p:sp>
      <p:sp>
        <p:nvSpPr>
          <p:cNvPr id="22" name="Shape 17"/>
          <p:cNvSpPr/>
          <p:nvPr/>
        </p:nvSpPr>
        <p:spPr>
          <a:xfrm>
            <a:off x="4143375" y="2315607"/>
            <a:ext cx="300038" cy="300038"/>
          </a:xfrm>
          <a:prstGeom prst="rect">
            <a:avLst/>
          </a:prstGeom>
          <a:solidFill>
            <a:srgbClr val="0B2F6B"/>
          </a:solidFill>
        </p:spPr>
      </p:sp>
      <p:sp>
        <p:nvSpPr>
          <p:cNvPr id="23" name="Text 18"/>
          <p:cNvSpPr/>
          <p:nvPr/>
        </p:nvSpPr>
        <p:spPr>
          <a:xfrm>
            <a:off x="4143375" y="2315607"/>
            <a:ext cx="300038" cy="30003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CFFCB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02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4800600" y="2352219"/>
            <a:ext cx="1143000" cy="22681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2F6B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容易遗忘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6072188" y="2288484"/>
            <a:ext cx="2357438" cy="3542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850" dirty="0">
                <a:solidFill>
                  <a:srgbClr val="1F3B5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学习新风格时，原有知识和通用能力可能被</a:t>
            </a:r>
            <a:r>
              <a:rPr lang="en-US" sz="800" b="1" dirty="0">
                <a:solidFill>
                  <a:srgbClr val="00A7E1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意外削弱</a:t>
            </a:r>
            <a:r>
              <a:rPr lang="en-US" sz="850" dirty="0">
                <a:solidFill>
                  <a:srgbClr val="1F3B5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。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3957638" y="2794239"/>
            <a:ext cx="4686300" cy="657225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27" name="Shape 22"/>
          <p:cNvSpPr/>
          <p:nvPr/>
        </p:nvSpPr>
        <p:spPr>
          <a:xfrm>
            <a:off x="3957638" y="2794239"/>
            <a:ext cx="4686300" cy="7144"/>
          </a:xfrm>
          <a:prstGeom prst="rect">
            <a:avLst/>
          </a:prstGeom>
          <a:solidFill>
            <a:srgbClr val="C7ECF8"/>
          </a:solidFill>
        </p:spPr>
      </p:sp>
      <p:sp>
        <p:nvSpPr>
          <p:cNvPr id="28" name="Shape 23"/>
          <p:cNvSpPr/>
          <p:nvPr/>
        </p:nvSpPr>
        <p:spPr>
          <a:xfrm>
            <a:off x="4143375" y="2972832"/>
            <a:ext cx="300038" cy="300038"/>
          </a:xfrm>
          <a:prstGeom prst="rect">
            <a:avLst/>
          </a:prstGeom>
          <a:solidFill>
            <a:srgbClr val="0B2F6B"/>
          </a:solidFill>
        </p:spPr>
      </p:sp>
      <p:sp>
        <p:nvSpPr>
          <p:cNvPr id="29" name="Text 24"/>
          <p:cNvSpPr/>
          <p:nvPr/>
        </p:nvSpPr>
        <p:spPr>
          <a:xfrm>
            <a:off x="4143375" y="2972832"/>
            <a:ext cx="300038" cy="30003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CFFCB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03</a:t>
            </a:r>
            <a:endParaRPr lang="en-US" sz="950" dirty="0"/>
          </a:p>
        </p:txBody>
      </p:sp>
      <p:sp>
        <p:nvSpPr>
          <p:cNvPr id="30" name="Text 25"/>
          <p:cNvSpPr/>
          <p:nvPr/>
        </p:nvSpPr>
        <p:spPr>
          <a:xfrm>
            <a:off x="4800600" y="3009444"/>
            <a:ext cx="1143000" cy="22681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2F6B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容易过拟合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6072188" y="2945709"/>
            <a:ext cx="2357438" cy="3542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850" dirty="0">
                <a:solidFill>
                  <a:srgbClr val="1F3B5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风格样本通常有限，模型可能</a:t>
            </a:r>
            <a:r>
              <a:rPr lang="en-US" sz="800" b="1" dirty="0">
                <a:solidFill>
                  <a:srgbClr val="00A7E1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记住样本而非规律</a:t>
            </a:r>
            <a:r>
              <a:rPr lang="en-US" sz="850" dirty="0">
                <a:solidFill>
                  <a:srgbClr val="1F3B5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。</a:t>
            </a:r>
            <a:endParaRPr lang="en-US" sz="850" dirty="0"/>
          </a:p>
        </p:txBody>
      </p:sp>
      <p:sp>
        <p:nvSpPr>
          <p:cNvPr id="32" name="Shape 27"/>
          <p:cNvSpPr/>
          <p:nvPr/>
        </p:nvSpPr>
        <p:spPr>
          <a:xfrm>
            <a:off x="3957638" y="3451464"/>
            <a:ext cx="4686300" cy="657225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33" name="Shape 28"/>
          <p:cNvSpPr/>
          <p:nvPr/>
        </p:nvSpPr>
        <p:spPr>
          <a:xfrm>
            <a:off x="3957638" y="3451464"/>
            <a:ext cx="4686300" cy="7144"/>
          </a:xfrm>
          <a:prstGeom prst="rect">
            <a:avLst/>
          </a:prstGeom>
          <a:solidFill>
            <a:srgbClr val="C7ECF8"/>
          </a:solidFill>
        </p:spPr>
      </p:sp>
      <p:sp>
        <p:nvSpPr>
          <p:cNvPr id="34" name="Shape 29"/>
          <p:cNvSpPr/>
          <p:nvPr/>
        </p:nvSpPr>
        <p:spPr>
          <a:xfrm>
            <a:off x="4143375" y="3630057"/>
            <a:ext cx="300038" cy="300038"/>
          </a:xfrm>
          <a:prstGeom prst="rect">
            <a:avLst/>
          </a:prstGeom>
          <a:solidFill>
            <a:srgbClr val="0B2F6B"/>
          </a:solidFill>
        </p:spPr>
      </p:sp>
      <p:sp>
        <p:nvSpPr>
          <p:cNvPr id="35" name="Text 30"/>
          <p:cNvSpPr/>
          <p:nvPr/>
        </p:nvSpPr>
        <p:spPr>
          <a:xfrm>
            <a:off x="4143375" y="3630057"/>
            <a:ext cx="300038" cy="30003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CFFCB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04</a:t>
            </a:r>
            <a:endParaRPr lang="en-US" sz="950" dirty="0"/>
          </a:p>
        </p:txBody>
      </p:sp>
      <p:sp>
        <p:nvSpPr>
          <p:cNvPr id="36" name="Text 31"/>
          <p:cNvSpPr/>
          <p:nvPr/>
        </p:nvSpPr>
        <p:spPr>
          <a:xfrm>
            <a:off x="4800600" y="3666669"/>
            <a:ext cx="1143000" cy="22681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2F6B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训练周期长</a:t>
            </a:r>
            <a:endParaRPr lang="en-US" sz="1100" dirty="0"/>
          </a:p>
        </p:txBody>
      </p:sp>
      <p:sp>
        <p:nvSpPr>
          <p:cNvPr id="37" name="Text 32"/>
          <p:cNvSpPr/>
          <p:nvPr/>
        </p:nvSpPr>
        <p:spPr>
          <a:xfrm>
            <a:off x="6072188" y="3602934"/>
            <a:ext cx="2357438" cy="3542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850" dirty="0">
                <a:solidFill>
                  <a:srgbClr val="1F3B5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训练、验证和回滚链路复杂，难以支持</a:t>
            </a:r>
            <a:r>
              <a:rPr lang="en-US" sz="800" b="1" dirty="0">
                <a:solidFill>
                  <a:srgbClr val="00A7E1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快速个性化迭代</a:t>
            </a:r>
            <a:r>
              <a:rPr lang="en-US" sz="850" dirty="0">
                <a:solidFill>
                  <a:srgbClr val="1F3B5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。</a:t>
            </a:r>
            <a:endParaRPr lang="en-US" sz="850" dirty="0"/>
          </a:p>
        </p:txBody>
      </p:sp>
      <p:sp>
        <p:nvSpPr>
          <p:cNvPr id="38" name="Shape 33"/>
          <p:cNvSpPr/>
          <p:nvPr/>
        </p:nvSpPr>
        <p:spPr>
          <a:xfrm>
            <a:off x="500063" y="4437301"/>
            <a:ext cx="8143875" cy="621506"/>
          </a:xfrm>
          <a:prstGeom prst="rect">
            <a:avLst/>
          </a:prstGeom>
          <a:solidFill>
            <a:srgbClr val="0B2F6B"/>
          </a:solidFill>
        </p:spPr>
      </p:sp>
      <p:pic>
        <p:nvPicPr>
          <p:cNvPr id="3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88" y="4640898"/>
            <a:ext cx="428625" cy="214313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1271588" y="4646786"/>
            <a:ext cx="5157788" cy="20250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F6FAFF"/>
                </a:solidFill>
                <a:latin typeface="Noto Sans SC ExtraBold" pitchFamily="34" charset="0"/>
                <a:ea typeface="Noto Sans SC ExtraBold" pitchFamily="34" charset="-122"/>
                <a:cs typeface="Noto Sans SC ExtraBold" pitchFamily="34" charset="-120"/>
              </a:rPr>
              <a:t>全量微调不是不能用，而是不适合大量轻量化、快速更新的风格任务。</a:t>
            </a:r>
            <a:endParaRPr lang="en-US" sz="1050" dirty="0"/>
          </a:p>
        </p:txBody>
      </p:sp>
      <p:sp>
        <p:nvSpPr>
          <p:cNvPr id="41" name="Text 35"/>
          <p:cNvSpPr/>
          <p:nvPr/>
        </p:nvSpPr>
        <p:spPr>
          <a:xfrm>
            <a:off x="6572250" y="4437301"/>
            <a:ext cx="1857375" cy="62150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1500" b="1" kern="0" spc="2" dirty="0">
                <a:solidFill>
                  <a:srgbClr val="7CFFCB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成本高 · 风险大 · 效率低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0063" y="489748"/>
            <a:ext cx="8143875" cy="1232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kern="0" spc="2" dirty="0">
                <a:solidFill>
                  <a:srgbClr val="00A7E1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CORE MECHANISM</a:t>
            </a:r>
            <a:endParaRPr lang="en-US" sz="750" dirty="0"/>
          </a:p>
        </p:txBody>
      </p:sp>
      <p:sp>
        <p:nvSpPr>
          <p:cNvPr id="5" name="Text 1"/>
          <p:cNvSpPr/>
          <p:nvPr/>
        </p:nvSpPr>
        <p:spPr>
          <a:xfrm>
            <a:off x="500063" y="766331"/>
            <a:ext cx="8143875" cy="28658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1700" b="1" dirty="0">
                <a:solidFill>
                  <a:srgbClr val="0B2F6B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LoRA 只学习关键变化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500063" y="1133718"/>
            <a:ext cx="7000875" cy="20287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1F3B5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冻结大模型的原始权重，只训练低秩增量，让模型以更小成本适配新任务与新风格。</a:t>
            </a:r>
            <a:endParaRPr lang="en-US" sz="1050" dirty="0"/>
          </a:p>
        </p:txBody>
      </p:sp>
      <p:sp>
        <p:nvSpPr>
          <p:cNvPr id="7" name="Shape 3"/>
          <p:cNvSpPr/>
          <p:nvPr/>
        </p:nvSpPr>
        <p:spPr>
          <a:xfrm>
            <a:off x="500063" y="1579477"/>
            <a:ext cx="4714875" cy="2786063"/>
          </a:xfrm>
          <a:prstGeom prst="rect">
            <a:avLst/>
          </a:prstGeom>
          <a:solidFill>
            <a:srgbClr val="E7F6FF">
              <a:alpha val="48000"/>
            </a:srgbClr>
          </a:solidFill>
        </p:spPr>
      </p:sp>
      <p:sp>
        <p:nvSpPr>
          <p:cNvPr id="8" name="Shape 4"/>
          <p:cNvSpPr/>
          <p:nvPr/>
        </p:nvSpPr>
        <p:spPr>
          <a:xfrm>
            <a:off x="500063" y="1579477"/>
            <a:ext cx="4714875" cy="28575"/>
          </a:xfrm>
          <a:prstGeom prst="rect">
            <a:avLst/>
          </a:prstGeom>
          <a:solidFill>
            <a:srgbClr val="00A7E1"/>
          </a:solidFill>
        </p:spPr>
      </p:sp>
      <p:sp>
        <p:nvSpPr>
          <p:cNvPr id="9" name="Shape 5"/>
          <p:cNvSpPr/>
          <p:nvPr/>
        </p:nvSpPr>
        <p:spPr>
          <a:xfrm>
            <a:off x="742950" y="1779502"/>
            <a:ext cx="4229100" cy="557213"/>
          </a:xfrm>
          <a:prstGeom prst="rect">
            <a:avLst/>
          </a:prstGeom>
          <a:solidFill>
            <a:srgbClr val="0B2F6B">
              <a:alpha val="6000"/>
            </a:srgbClr>
          </a:solidFill>
        </p:spPr>
      </p:sp>
      <p:sp>
        <p:nvSpPr>
          <p:cNvPr id="10" name="Text 6"/>
          <p:cNvSpPr/>
          <p:nvPr/>
        </p:nvSpPr>
        <p:spPr>
          <a:xfrm>
            <a:off x="1903586" y="1877729"/>
            <a:ext cx="386321" cy="3607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250" b="1" kern="0" spc="1" dirty="0">
                <a:solidFill>
                  <a:srgbClr val="0B2F6B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W′</a:t>
            </a:r>
            <a:endParaRPr lang="en-US" sz="2250" dirty="0"/>
          </a:p>
        </p:txBody>
      </p:sp>
      <p:sp>
        <p:nvSpPr>
          <p:cNvPr id="11" name="Text 7"/>
          <p:cNvSpPr/>
          <p:nvPr/>
        </p:nvSpPr>
        <p:spPr>
          <a:xfrm>
            <a:off x="2289907" y="1877729"/>
            <a:ext cx="190705" cy="3607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250" b="1" kern="0" spc="1" dirty="0">
                <a:solidFill>
                  <a:srgbClr val="00A7E1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=</a:t>
            </a:r>
            <a:endParaRPr lang="en-US" sz="2250" dirty="0"/>
          </a:p>
        </p:txBody>
      </p:sp>
      <p:sp>
        <p:nvSpPr>
          <p:cNvPr id="12" name="Text 8"/>
          <p:cNvSpPr/>
          <p:nvPr/>
        </p:nvSpPr>
        <p:spPr>
          <a:xfrm>
            <a:off x="2480611" y="1877729"/>
            <a:ext cx="303833" cy="3607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250" b="1" kern="0" spc="1" dirty="0">
                <a:solidFill>
                  <a:srgbClr val="0B2F6B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W</a:t>
            </a:r>
            <a:endParaRPr lang="en-US" sz="2250" dirty="0"/>
          </a:p>
        </p:txBody>
      </p:sp>
      <p:sp>
        <p:nvSpPr>
          <p:cNvPr id="13" name="Text 9"/>
          <p:cNvSpPr/>
          <p:nvPr/>
        </p:nvSpPr>
        <p:spPr>
          <a:xfrm>
            <a:off x="2784444" y="1877729"/>
            <a:ext cx="190705" cy="3607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250" b="1" kern="0" spc="1" dirty="0">
                <a:solidFill>
                  <a:srgbClr val="00A7E1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+</a:t>
            </a:r>
            <a:endParaRPr lang="en-US" sz="2250" dirty="0"/>
          </a:p>
        </p:txBody>
      </p:sp>
      <p:sp>
        <p:nvSpPr>
          <p:cNvPr id="14" name="Text 10"/>
          <p:cNvSpPr/>
          <p:nvPr/>
        </p:nvSpPr>
        <p:spPr>
          <a:xfrm>
            <a:off x="2975149" y="1877729"/>
            <a:ext cx="836265" cy="3607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250" b="1" kern="0" spc="1" dirty="0">
                <a:solidFill>
                  <a:srgbClr val="0B2F6B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B × A</a:t>
            </a:r>
            <a:endParaRPr lang="en-US" sz="2250" dirty="0"/>
          </a:p>
        </p:txBody>
      </p:sp>
      <p:sp>
        <p:nvSpPr>
          <p:cNvPr id="15" name="Text 11"/>
          <p:cNvSpPr/>
          <p:nvPr/>
        </p:nvSpPr>
        <p:spPr>
          <a:xfrm>
            <a:off x="552059" y="3532221"/>
            <a:ext cx="121388" cy="14287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2F6B"/>
                </a:solidFill>
                <a:latin typeface="Noto Sans SC ExtraBold" pitchFamily="34" charset="0"/>
                <a:ea typeface="Noto Sans SC ExtraBold" pitchFamily="34" charset="-122"/>
                <a:cs typeface="Noto Sans SC ExtraBold" pitchFamily="34" charset="-120"/>
              </a:rPr>
              <a:t>W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52059" y="3710815"/>
            <a:ext cx="464344" cy="10358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1F3B57"/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  <a:cs typeface="Noto Sans SC Medium" panose="020B0200000000000000" pitchFamily="34" charset="-120"/>
              </a:rPr>
              <a:t>冻结原权重</a:t>
            </a:r>
            <a:endParaRPr lang="en-US" sz="650" dirty="0"/>
          </a:p>
        </p:txBody>
      </p:sp>
      <p:sp>
        <p:nvSpPr>
          <p:cNvPr id="17" name="Text 13"/>
          <p:cNvSpPr/>
          <p:nvPr/>
        </p:nvSpPr>
        <p:spPr>
          <a:xfrm>
            <a:off x="1455046" y="3084844"/>
            <a:ext cx="158530" cy="31253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B2F6B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+</a:t>
            </a:r>
            <a:endParaRPr lang="en-US" sz="1900" dirty="0"/>
          </a:p>
        </p:txBody>
      </p:sp>
      <p:sp>
        <p:nvSpPr>
          <p:cNvPr id="18" name="Text 14"/>
          <p:cNvSpPr/>
          <p:nvPr/>
        </p:nvSpPr>
        <p:spPr>
          <a:xfrm>
            <a:off x="2002240" y="3532221"/>
            <a:ext cx="92869" cy="14287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2F6B"/>
                </a:solidFill>
                <a:latin typeface="Noto Sans SC ExtraBold" pitchFamily="34" charset="0"/>
                <a:ea typeface="Noto Sans SC ExtraBold" pitchFamily="34" charset="-122"/>
                <a:cs typeface="Noto Sans SC ExtraBold" pitchFamily="34" charset="-120"/>
              </a:rPr>
              <a:t>B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2002240" y="3710815"/>
            <a:ext cx="278606" cy="10358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1F3B57"/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  <a:cs typeface="Noto Sans SC Medium" panose="020B0200000000000000" pitchFamily="34" charset="-120"/>
              </a:rPr>
              <a:t>可训练</a:t>
            </a:r>
            <a:endParaRPr lang="en-US" sz="650" dirty="0"/>
          </a:p>
        </p:txBody>
      </p:sp>
      <p:sp>
        <p:nvSpPr>
          <p:cNvPr id="20" name="Text 16"/>
          <p:cNvSpPr/>
          <p:nvPr/>
        </p:nvSpPr>
        <p:spPr>
          <a:xfrm>
            <a:off x="2669483" y="3084844"/>
            <a:ext cx="158530" cy="31253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B2F6B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×</a:t>
            </a:r>
            <a:endParaRPr lang="en-US" sz="1900" dirty="0"/>
          </a:p>
        </p:txBody>
      </p:sp>
      <p:sp>
        <p:nvSpPr>
          <p:cNvPr id="21" name="Text 17"/>
          <p:cNvSpPr/>
          <p:nvPr/>
        </p:nvSpPr>
        <p:spPr>
          <a:xfrm>
            <a:off x="3395271" y="3285762"/>
            <a:ext cx="92869" cy="14287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2F6B"/>
                </a:solidFill>
                <a:latin typeface="Noto Sans SC ExtraBold" pitchFamily="34" charset="0"/>
                <a:ea typeface="Noto Sans SC ExtraBold" pitchFamily="34" charset="-122"/>
                <a:cs typeface="Noto Sans SC ExtraBold" pitchFamily="34" charset="-120"/>
              </a:rPr>
              <a:t>A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3395271" y="3464356"/>
            <a:ext cx="278606" cy="10358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1F3B57"/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  <a:cs typeface="Noto Sans SC Medium" panose="020B0200000000000000" pitchFamily="34" charset="-120"/>
              </a:rPr>
              <a:t>可训练</a:t>
            </a:r>
            <a:endParaRPr lang="en-US" sz="650" dirty="0"/>
          </a:p>
        </p:txBody>
      </p:sp>
      <p:sp>
        <p:nvSpPr>
          <p:cNvPr id="23" name="Text 19"/>
          <p:cNvSpPr/>
          <p:nvPr/>
        </p:nvSpPr>
        <p:spPr>
          <a:xfrm>
            <a:off x="4184656" y="3084844"/>
            <a:ext cx="271463" cy="31253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B2F6B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→</a:t>
            </a:r>
            <a:endParaRPr lang="en-US" sz="1900" dirty="0"/>
          </a:p>
        </p:txBody>
      </p:sp>
      <p:sp>
        <p:nvSpPr>
          <p:cNvPr id="24" name="Text 20"/>
          <p:cNvSpPr/>
          <p:nvPr/>
        </p:nvSpPr>
        <p:spPr>
          <a:xfrm>
            <a:off x="4766872" y="3532221"/>
            <a:ext cx="152195" cy="14287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2F6B"/>
                </a:solidFill>
                <a:latin typeface="Noto Sans SC ExtraBold" pitchFamily="34" charset="0"/>
                <a:ea typeface="Noto Sans SC ExtraBold" pitchFamily="34" charset="-122"/>
                <a:cs typeface="Noto Sans SC ExtraBold" pitchFamily="34" charset="-120"/>
              </a:rPr>
              <a:t>W′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4766872" y="3710815"/>
            <a:ext cx="464344" cy="10358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1F3B57"/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  <a:cs typeface="Noto Sans SC Medium" panose="020B0200000000000000" pitchFamily="34" charset="-120"/>
              </a:rPr>
              <a:t>适配后权重</a:t>
            </a:r>
            <a:endParaRPr lang="en-US" sz="650" dirty="0"/>
          </a:p>
        </p:txBody>
      </p:sp>
      <p:sp>
        <p:nvSpPr>
          <p:cNvPr id="26" name="Text 22"/>
          <p:cNvSpPr/>
          <p:nvPr/>
        </p:nvSpPr>
        <p:spPr>
          <a:xfrm>
            <a:off x="537772" y="4084076"/>
            <a:ext cx="2035969" cy="32146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0B2F6B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W 保持不动：</a:t>
            </a:r>
            <a:r>
              <a:rPr lang="en-US" sz="800" dirty="0">
                <a:solidFill>
                  <a:srgbClr val="1F3B5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原始模型的知识与通用能力</a:t>
            </a:r>
            <a:r>
              <a:rPr lang="en-US" sz="800" dirty="0">
                <a:solidFill>
                  <a:srgbClr val="1F3B5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被保留，训练时不直接改写主干参数。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2730903" y="4084076"/>
            <a:ext cx="2035969" cy="32146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0B2F6B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B × A 表达增量：</a:t>
            </a:r>
            <a:r>
              <a:rPr lang="en-US" sz="800" dirty="0">
                <a:solidFill>
                  <a:srgbClr val="1F3B5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低秩矩阵只学习任务相关</a:t>
            </a:r>
            <a:r>
              <a:rPr lang="en-US" sz="800" dirty="0">
                <a:solidFill>
                  <a:srgbClr val="1F3B5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的关键变化，参数量远小于全量微调。</a:t>
            </a:r>
            <a:endParaRPr lang="en-US" sz="750" dirty="0"/>
          </a:p>
        </p:txBody>
      </p:sp>
      <p:sp>
        <p:nvSpPr>
          <p:cNvPr id="28" name="Shape 24"/>
          <p:cNvSpPr/>
          <p:nvPr/>
        </p:nvSpPr>
        <p:spPr>
          <a:xfrm>
            <a:off x="5500688" y="1579477"/>
            <a:ext cx="3143250" cy="2786063"/>
          </a:xfrm>
          <a:prstGeom prst="rect">
            <a:avLst/>
          </a:prstGeom>
          <a:solidFill>
            <a:srgbClr val="123F86"/>
          </a:solidFill>
        </p:spPr>
      </p:sp>
      <p:sp>
        <p:nvSpPr>
          <p:cNvPr id="29" name="Shape 25"/>
          <p:cNvSpPr/>
          <p:nvPr/>
        </p:nvSpPr>
        <p:spPr>
          <a:xfrm>
            <a:off x="5500688" y="1579477"/>
            <a:ext cx="3143250" cy="28575"/>
          </a:xfrm>
          <a:prstGeom prst="rect">
            <a:avLst/>
          </a:prstGeom>
          <a:solidFill>
            <a:srgbClr val="7CFFCB"/>
          </a:solidFill>
        </p:spPr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806291"/>
            <a:ext cx="171450" cy="17145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5886450" y="1802719"/>
            <a:ext cx="1231795" cy="19109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6FA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LoRA 工作流程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5715000" y="2092041"/>
            <a:ext cx="271463" cy="271463"/>
          </a:xfrm>
          <a:prstGeom prst="rect">
            <a:avLst/>
          </a:prstGeom>
          <a:solidFill>
            <a:srgbClr val="7CFFCB"/>
          </a:solidFill>
        </p:spPr>
      </p:sp>
      <p:sp>
        <p:nvSpPr>
          <p:cNvPr id="33" name="Text 28"/>
          <p:cNvSpPr/>
          <p:nvPr/>
        </p:nvSpPr>
        <p:spPr>
          <a:xfrm>
            <a:off x="5715000" y="2092041"/>
            <a:ext cx="271463" cy="271463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2F6B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1</a:t>
            </a:r>
            <a:endParaRPr lang="en-US" sz="950" dirty="0"/>
          </a:p>
        </p:txBody>
      </p:sp>
      <p:sp>
        <p:nvSpPr>
          <p:cNvPr id="34" name="Text 29"/>
          <p:cNvSpPr/>
          <p:nvPr/>
        </p:nvSpPr>
        <p:spPr>
          <a:xfrm>
            <a:off x="6143625" y="2099185"/>
            <a:ext cx="2286000" cy="18752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6FA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冻结原始模型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6143625" y="2315284"/>
            <a:ext cx="2286000" cy="14499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750" dirty="0">
                <a:solidFill>
                  <a:srgbClr val="D7F6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把大模型作为稳定底座，避免训练过程破坏通用能</a:t>
            </a:r>
            <a:endParaRPr lang="en-US" sz="750" dirty="0"/>
          </a:p>
        </p:txBody>
      </p:sp>
      <p:sp>
        <p:nvSpPr>
          <p:cNvPr id="36" name="Text 31"/>
          <p:cNvSpPr/>
          <p:nvPr/>
        </p:nvSpPr>
        <p:spPr>
          <a:xfrm>
            <a:off x="6143625" y="2488854"/>
            <a:ext cx="2286000" cy="14499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750" dirty="0">
                <a:solidFill>
                  <a:srgbClr val="D7F6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力。</a:t>
            </a:r>
            <a:endParaRPr lang="en-US" sz="750" dirty="0"/>
          </a:p>
        </p:txBody>
      </p:sp>
      <p:sp>
        <p:nvSpPr>
          <p:cNvPr id="37" name="Shape 32"/>
          <p:cNvSpPr/>
          <p:nvPr/>
        </p:nvSpPr>
        <p:spPr>
          <a:xfrm>
            <a:off x="5715000" y="2719575"/>
            <a:ext cx="271463" cy="271463"/>
          </a:xfrm>
          <a:prstGeom prst="rect">
            <a:avLst/>
          </a:prstGeom>
          <a:solidFill>
            <a:srgbClr val="7CFFCB"/>
          </a:solidFill>
        </p:spPr>
      </p:sp>
      <p:sp>
        <p:nvSpPr>
          <p:cNvPr id="38" name="Text 33"/>
          <p:cNvSpPr/>
          <p:nvPr/>
        </p:nvSpPr>
        <p:spPr>
          <a:xfrm>
            <a:off x="5715000" y="2719575"/>
            <a:ext cx="271463" cy="271463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2F6B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2</a:t>
            </a:r>
            <a:endParaRPr lang="en-US" sz="950" dirty="0"/>
          </a:p>
        </p:txBody>
      </p:sp>
      <p:sp>
        <p:nvSpPr>
          <p:cNvPr id="39" name="Text 34"/>
          <p:cNvSpPr/>
          <p:nvPr/>
        </p:nvSpPr>
        <p:spPr>
          <a:xfrm>
            <a:off x="6143625" y="2726719"/>
            <a:ext cx="2286000" cy="18752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6FA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插入低秩模块</a:t>
            </a:r>
            <a:endParaRPr lang="en-US" sz="900" dirty="0"/>
          </a:p>
        </p:txBody>
      </p:sp>
      <p:sp>
        <p:nvSpPr>
          <p:cNvPr id="40" name="Text 35"/>
          <p:cNvSpPr/>
          <p:nvPr/>
        </p:nvSpPr>
        <p:spPr>
          <a:xfrm>
            <a:off x="6143625" y="2942817"/>
            <a:ext cx="2286000" cy="14499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750" dirty="0">
                <a:solidFill>
                  <a:srgbClr val="D7F6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在目标层加入小矩阵 B 与 A，形成可训练的适配</a:t>
            </a:r>
            <a:endParaRPr lang="en-US" sz="750" dirty="0"/>
          </a:p>
        </p:txBody>
      </p:sp>
      <p:sp>
        <p:nvSpPr>
          <p:cNvPr id="41" name="Text 36"/>
          <p:cNvSpPr/>
          <p:nvPr/>
        </p:nvSpPr>
        <p:spPr>
          <a:xfrm>
            <a:off x="6143625" y="3116388"/>
            <a:ext cx="2286000" cy="14499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750" dirty="0">
                <a:solidFill>
                  <a:srgbClr val="D7F6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层。</a:t>
            </a:r>
            <a:endParaRPr lang="en-US" sz="750" dirty="0"/>
          </a:p>
        </p:txBody>
      </p:sp>
      <p:sp>
        <p:nvSpPr>
          <p:cNvPr id="42" name="Shape 37"/>
          <p:cNvSpPr/>
          <p:nvPr/>
        </p:nvSpPr>
        <p:spPr>
          <a:xfrm>
            <a:off x="5715000" y="3347109"/>
            <a:ext cx="271463" cy="271463"/>
          </a:xfrm>
          <a:prstGeom prst="rect">
            <a:avLst/>
          </a:prstGeom>
          <a:solidFill>
            <a:srgbClr val="7CFFCB"/>
          </a:solidFill>
        </p:spPr>
      </p:sp>
      <p:sp>
        <p:nvSpPr>
          <p:cNvPr id="43" name="Text 38"/>
          <p:cNvSpPr/>
          <p:nvPr/>
        </p:nvSpPr>
        <p:spPr>
          <a:xfrm>
            <a:off x="5715000" y="3347109"/>
            <a:ext cx="271463" cy="271463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2F6B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3</a:t>
            </a:r>
            <a:endParaRPr lang="en-US" sz="950" dirty="0"/>
          </a:p>
        </p:txBody>
      </p:sp>
      <p:sp>
        <p:nvSpPr>
          <p:cNvPr id="44" name="Text 39"/>
          <p:cNvSpPr/>
          <p:nvPr/>
        </p:nvSpPr>
        <p:spPr>
          <a:xfrm>
            <a:off x="6143625" y="3354253"/>
            <a:ext cx="2286000" cy="18752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6FA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训练少量参数</a:t>
            </a:r>
            <a:endParaRPr lang="en-US" sz="900" dirty="0"/>
          </a:p>
        </p:txBody>
      </p:sp>
      <p:sp>
        <p:nvSpPr>
          <p:cNvPr id="45" name="Text 40"/>
          <p:cNvSpPr/>
          <p:nvPr/>
        </p:nvSpPr>
        <p:spPr>
          <a:xfrm>
            <a:off x="6143625" y="3570351"/>
            <a:ext cx="2286000" cy="14499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750" dirty="0">
                <a:solidFill>
                  <a:srgbClr val="D7F6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只更新新增矩阵，让它们捕捉风格、语气与任务偏</a:t>
            </a:r>
            <a:endParaRPr lang="en-US" sz="750" dirty="0"/>
          </a:p>
        </p:txBody>
      </p:sp>
      <p:sp>
        <p:nvSpPr>
          <p:cNvPr id="46" name="Text 41"/>
          <p:cNvSpPr/>
          <p:nvPr/>
        </p:nvSpPr>
        <p:spPr>
          <a:xfrm>
            <a:off x="6143625" y="3743922"/>
            <a:ext cx="2286000" cy="14499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750" dirty="0">
                <a:solidFill>
                  <a:srgbClr val="D7F6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好。</a:t>
            </a:r>
            <a:endParaRPr lang="en-US" sz="750" dirty="0"/>
          </a:p>
        </p:txBody>
      </p:sp>
      <p:sp>
        <p:nvSpPr>
          <p:cNvPr id="47" name="Shape 42"/>
          <p:cNvSpPr/>
          <p:nvPr/>
        </p:nvSpPr>
        <p:spPr>
          <a:xfrm>
            <a:off x="5715000" y="3888918"/>
            <a:ext cx="271463" cy="271463"/>
          </a:xfrm>
          <a:prstGeom prst="rect">
            <a:avLst/>
          </a:prstGeom>
          <a:solidFill>
            <a:srgbClr val="7CFFCB"/>
          </a:solidFill>
        </p:spPr>
      </p:sp>
      <p:sp>
        <p:nvSpPr>
          <p:cNvPr id="48" name="Text 43"/>
          <p:cNvSpPr/>
          <p:nvPr/>
        </p:nvSpPr>
        <p:spPr>
          <a:xfrm>
            <a:off x="5715000" y="3888918"/>
            <a:ext cx="271463" cy="271463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2F6B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4</a:t>
            </a:r>
            <a:endParaRPr lang="en-US" sz="950" dirty="0"/>
          </a:p>
        </p:txBody>
      </p:sp>
      <p:sp>
        <p:nvSpPr>
          <p:cNvPr id="49" name="Text 44"/>
          <p:cNvSpPr/>
          <p:nvPr/>
        </p:nvSpPr>
        <p:spPr>
          <a:xfrm>
            <a:off x="6143625" y="3896061"/>
            <a:ext cx="2286000" cy="18752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6FA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叠加完成适配</a:t>
            </a:r>
            <a:endParaRPr lang="en-US" sz="900" dirty="0"/>
          </a:p>
        </p:txBody>
      </p:sp>
      <p:sp>
        <p:nvSpPr>
          <p:cNvPr id="50" name="Text 45"/>
          <p:cNvSpPr/>
          <p:nvPr/>
        </p:nvSpPr>
        <p:spPr>
          <a:xfrm>
            <a:off x="6143625" y="4083585"/>
            <a:ext cx="2286000" cy="14499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750" dirty="0">
                <a:solidFill>
                  <a:srgbClr val="D7F6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将低秩增量并入推理路径，得到面向新风格的模型</a:t>
            </a:r>
            <a:endParaRPr lang="en-US" sz="750" dirty="0"/>
          </a:p>
        </p:txBody>
      </p:sp>
      <p:sp>
        <p:nvSpPr>
          <p:cNvPr id="51" name="Text 46"/>
          <p:cNvSpPr/>
          <p:nvPr/>
        </p:nvSpPr>
        <p:spPr>
          <a:xfrm>
            <a:off x="6143625" y="4228581"/>
            <a:ext cx="2286000" cy="14499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750" dirty="0">
                <a:solidFill>
                  <a:srgbClr val="D7F6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输出。</a:t>
            </a:r>
            <a:endParaRPr lang="en-US" sz="750" dirty="0"/>
          </a:p>
        </p:txBody>
      </p:sp>
      <p:sp>
        <p:nvSpPr>
          <p:cNvPr id="52" name="Shape 47"/>
          <p:cNvSpPr/>
          <p:nvPr/>
        </p:nvSpPr>
        <p:spPr>
          <a:xfrm>
            <a:off x="500063" y="4494127"/>
            <a:ext cx="8143875" cy="514350"/>
          </a:xfrm>
          <a:prstGeom prst="rect">
            <a:avLst/>
          </a:prstGeom>
          <a:solidFill>
            <a:srgbClr val="0B2F6B"/>
          </a:solidFill>
        </p:spPr>
      </p:sp>
      <p:pic>
        <p:nvPicPr>
          <p:cNvPr id="5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88" y="4647718"/>
            <a:ext cx="400050" cy="207169"/>
          </a:xfrm>
          <a:prstGeom prst="rect">
            <a:avLst/>
          </a:prstGeom>
        </p:spPr>
      </p:pic>
      <p:sp>
        <p:nvSpPr>
          <p:cNvPr id="54" name="Text 48"/>
          <p:cNvSpPr/>
          <p:nvPr/>
        </p:nvSpPr>
        <p:spPr>
          <a:xfrm>
            <a:off x="1228725" y="4645206"/>
            <a:ext cx="7172325" cy="21216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F6FA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LoRA 的关键不是重训大模型，而是用</a:t>
            </a:r>
            <a:r>
              <a:rPr lang="en-US" sz="1100" b="1" dirty="0">
                <a:solidFill>
                  <a:srgbClr val="7CFFCB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少量低秩参数</a:t>
            </a:r>
            <a:r>
              <a:rPr lang="en-US" sz="1100" b="1" dirty="0">
                <a:solidFill>
                  <a:srgbClr val="F6FA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描述“需要改变的部分”。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0063" y="385763"/>
            <a:ext cx="8143875" cy="1232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kern="0" spc="2" dirty="0">
                <a:solidFill>
                  <a:srgbClr val="00A7E1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COMPRESSION METAPHOR</a:t>
            </a:r>
            <a:endParaRPr lang="en-US" sz="750" dirty="0"/>
          </a:p>
        </p:txBody>
      </p:sp>
      <p:sp>
        <p:nvSpPr>
          <p:cNvPr id="5" name="Text 1"/>
          <p:cNvSpPr/>
          <p:nvPr/>
        </p:nvSpPr>
        <p:spPr>
          <a:xfrm>
            <a:off x="500063" y="669965"/>
            <a:ext cx="8143875" cy="28658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1700" b="1" dirty="0">
                <a:solidFill>
                  <a:srgbClr val="0B2F6B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LoRA 像一种信息压缩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500063" y="1029732"/>
            <a:ext cx="7000875" cy="20287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1F3B5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新任务会引起大量参数变化，但真正决定风格的往往只是少数低秩方向。</a:t>
            </a:r>
            <a:endParaRPr lang="en-US" sz="1050" dirty="0"/>
          </a:p>
        </p:txBody>
      </p:sp>
      <p:sp>
        <p:nvSpPr>
          <p:cNvPr id="7" name="Shape 3"/>
          <p:cNvSpPr/>
          <p:nvPr/>
        </p:nvSpPr>
        <p:spPr>
          <a:xfrm>
            <a:off x="500063" y="1461204"/>
            <a:ext cx="2443163" cy="2000250"/>
          </a:xfrm>
          <a:prstGeom prst="rect">
            <a:avLst/>
          </a:prstGeom>
          <a:solidFill>
            <a:srgbClr val="E7F6FF">
              <a:alpha val="46000"/>
            </a:srgbClr>
          </a:solidFill>
        </p:spPr>
      </p:sp>
      <p:sp>
        <p:nvSpPr>
          <p:cNvPr id="8" name="Shape 4"/>
          <p:cNvSpPr/>
          <p:nvPr/>
        </p:nvSpPr>
        <p:spPr>
          <a:xfrm>
            <a:off x="500063" y="1461204"/>
            <a:ext cx="2443163" cy="28575"/>
          </a:xfrm>
          <a:prstGeom prst="rect">
            <a:avLst/>
          </a:prstGeom>
          <a:solidFill>
            <a:srgbClr val="00A7E1"/>
          </a:solidFill>
        </p:spPr>
      </p:sp>
      <p:sp>
        <p:nvSpPr>
          <p:cNvPr id="9" name="Text 5"/>
          <p:cNvSpPr/>
          <p:nvPr/>
        </p:nvSpPr>
        <p:spPr>
          <a:xfrm>
            <a:off x="642938" y="1575504"/>
            <a:ext cx="2157413" cy="22681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2F6B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1. 大量参数变化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642938" y="1888043"/>
            <a:ext cx="2157413" cy="32146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1F3B5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新任务到来后，模型内部可能出现复杂变化；其中既有有用信号，也有冗余细节。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2943225" y="2454185"/>
            <a:ext cx="842963" cy="14288"/>
          </a:xfrm>
          <a:prstGeom prst="rect">
            <a:avLst/>
          </a:prstGeom>
          <a:solidFill>
            <a:srgbClr val="00A7E1"/>
          </a:solidFill>
        </p:spPr>
      </p:sp>
      <p:sp>
        <p:nvSpPr>
          <p:cNvPr id="12" name="Shape 8"/>
          <p:cNvSpPr/>
          <p:nvPr/>
        </p:nvSpPr>
        <p:spPr>
          <a:xfrm>
            <a:off x="3786188" y="1461204"/>
            <a:ext cx="1857375" cy="2000250"/>
          </a:xfrm>
          <a:prstGeom prst="rect">
            <a:avLst/>
          </a:prstGeom>
          <a:solidFill>
            <a:srgbClr val="0B2F6B"/>
          </a:solidFill>
        </p:spPr>
      </p:sp>
      <p:sp>
        <p:nvSpPr>
          <p:cNvPr id="13" name="Shape 9"/>
          <p:cNvSpPr/>
          <p:nvPr/>
        </p:nvSpPr>
        <p:spPr>
          <a:xfrm>
            <a:off x="3786188" y="1461204"/>
            <a:ext cx="1857375" cy="28575"/>
          </a:xfrm>
          <a:prstGeom prst="rect">
            <a:avLst/>
          </a:prstGeom>
          <a:solidFill>
            <a:srgbClr val="7CFFCB"/>
          </a:solidFill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3609" y="1756442"/>
            <a:ext cx="262533" cy="30003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371975" y="2185067"/>
            <a:ext cx="685800" cy="2482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6FA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压缩编码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4393406" y="2504749"/>
            <a:ext cx="642938" cy="30427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sz="800" dirty="0">
                <a:solidFill>
                  <a:srgbClr val="D7F6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保留关键方向</a:t>
            </a:r>
            <a:r>
              <a:rPr lang="en-US" sz="800" dirty="0">
                <a:solidFill>
                  <a:srgbClr val="D7F6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
</a:t>
            </a:r>
            <a:r>
              <a:rPr lang="en-US" sz="800" dirty="0">
                <a:solidFill>
                  <a:srgbClr val="D7F6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丢弃冗余变化</a:t>
            </a:r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4100513" y="2923329"/>
            <a:ext cx="242888" cy="242888"/>
          </a:xfrm>
          <a:prstGeom prst="rect">
            <a:avLst/>
          </a:prstGeom>
          <a:solidFill>
            <a:srgbClr val="7CFFCB">
              <a:alpha val="18000"/>
            </a:srgbClr>
          </a:solidFill>
          <a:ln w="9144">
            <a:solidFill>
              <a:srgbClr val="7CFFCB">
                <a:alpha val="45000"/>
              </a:srgbClr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100513" y="2923329"/>
            <a:ext cx="242888" cy="242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CFFCB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B</a:t>
            </a:r>
            <a:endParaRPr lang="en-US" sz="800" dirty="0"/>
          </a:p>
        </p:txBody>
      </p:sp>
      <p:sp>
        <p:nvSpPr>
          <p:cNvPr id="19" name="Shape 14"/>
          <p:cNvSpPr/>
          <p:nvPr/>
        </p:nvSpPr>
        <p:spPr>
          <a:xfrm>
            <a:off x="4429125" y="2923329"/>
            <a:ext cx="242888" cy="242888"/>
          </a:xfrm>
          <a:prstGeom prst="rect">
            <a:avLst/>
          </a:prstGeom>
          <a:solidFill>
            <a:srgbClr val="7CFFCB">
              <a:alpha val="18000"/>
            </a:srgbClr>
          </a:solidFill>
          <a:ln w="9144">
            <a:solidFill>
              <a:srgbClr val="7CFFCB">
                <a:alpha val="45000"/>
              </a:srgbClr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4429125" y="2923329"/>
            <a:ext cx="242888" cy="242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CFFCB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×</a:t>
            </a:r>
            <a:endParaRPr lang="en-US" sz="800" dirty="0"/>
          </a:p>
        </p:txBody>
      </p:sp>
      <p:sp>
        <p:nvSpPr>
          <p:cNvPr id="21" name="Shape 16"/>
          <p:cNvSpPr/>
          <p:nvPr/>
        </p:nvSpPr>
        <p:spPr>
          <a:xfrm>
            <a:off x="4757738" y="2923329"/>
            <a:ext cx="242888" cy="242888"/>
          </a:xfrm>
          <a:prstGeom prst="rect">
            <a:avLst/>
          </a:prstGeom>
          <a:solidFill>
            <a:srgbClr val="7CFFCB">
              <a:alpha val="18000"/>
            </a:srgbClr>
          </a:solidFill>
          <a:ln w="9144">
            <a:solidFill>
              <a:srgbClr val="7CFFCB">
                <a:alpha val="45000"/>
              </a:srgbClr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757738" y="2923329"/>
            <a:ext cx="242888" cy="242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CFFCB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A</a:t>
            </a:r>
            <a:endParaRPr lang="en-US" sz="800" dirty="0"/>
          </a:p>
        </p:txBody>
      </p:sp>
      <p:sp>
        <p:nvSpPr>
          <p:cNvPr id="23" name="Shape 18"/>
          <p:cNvSpPr/>
          <p:nvPr/>
        </p:nvSpPr>
        <p:spPr>
          <a:xfrm>
            <a:off x="5086350" y="2923329"/>
            <a:ext cx="242888" cy="242888"/>
          </a:xfrm>
          <a:prstGeom prst="rect">
            <a:avLst/>
          </a:prstGeom>
          <a:solidFill>
            <a:srgbClr val="7CFFCB">
              <a:alpha val="18000"/>
            </a:srgbClr>
          </a:solidFill>
          <a:ln w="9144">
            <a:solidFill>
              <a:srgbClr val="7CFFCB">
                <a:alpha val="45000"/>
              </a:srgbClr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086350" y="2923329"/>
            <a:ext cx="242888" cy="242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CFFCB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Δ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5643563" y="2454185"/>
            <a:ext cx="842963" cy="14288"/>
          </a:xfrm>
          <a:prstGeom prst="rect">
            <a:avLst/>
          </a:prstGeom>
          <a:solidFill>
            <a:srgbClr val="00A7E1"/>
          </a:solidFill>
        </p:spPr>
      </p:sp>
      <p:sp>
        <p:nvSpPr>
          <p:cNvPr id="26" name="Shape 21"/>
          <p:cNvSpPr/>
          <p:nvPr/>
        </p:nvSpPr>
        <p:spPr>
          <a:xfrm>
            <a:off x="6486525" y="1239748"/>
            <a:ext cx="2157413" cy="2000250"/>
          </a:xfrm>
          <a:prstGeom prst="rect">
            <a:avLst/>
          </a:prstGeom>
          <a:solidFill>
            <a:srgbClr val="E7F6FF">
              <a:alpha val="46000"/>
            </a:srgbClr>
          </a:solidFill>
        </p:spPr>
      </p:sp>
      <p:sp>
        <p:nvSpPr>
          <p:cNvPr id="27" name="Shape 22"/>
          <p:cNvSpPr/>
          <p:nvPr/>
        </p:nvSpPr>
        <p:spPr>
          <a:xfrm>
            <a:off x="6486525" y="1239748"/>
            <a:ext cx="2157413" cy="28575"/>
          </a:xfrm>
          <a:prstGeom prst="rect">
            <a:avLst/>
          </a:prstGeom>
          <a:solidFill>
            <a:srgbClr val="00A7E1"/>
          </a:solidFill>
        </p:spPr>
      </p:sp>
      <p:sp>
        <p:nvSpPr>
          <p:cNvPr id="28" name="Text 23"/>
          <p:cNvSpPr/>
          <p:nvPr/>
        </p:nvSpPr>
        <p:spPr>
          <a:xfrm>
            <a:off x="6629400" y="1354048"/>
            <a:ext cx="1871663" cy="22681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2F6B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2. 少量风格维度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6629400" y="1666587"/>
            <a:ext cx="1871663" cy="32146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1F3B5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LoRA 用更少参数表达“风格偏移”，让模型稳定靠近目标角色。</a:t>
            </a:r>
            <a:endParaRPr lang="en-US" sz="800" dirty="0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122001"/>
            <a:ext cx="271463" cy="271463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986588" y="2095212"/>
            <a:ext cx="1514475" cy="1768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B2F6B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语气</a:t>
            </a:r>
            <a:endParaRPr lang="en-US" sz="850" dirty="0"/>
          </a:p>
        </p:txBody>
      </p:sp>
      <p:sp>
        <p:nvSpPr>
          <p:cNvPr id="32" name="Text 26"/>
          <p:cNvSpPr/>
          <p:nvPr/>
        </p:nvSpPr>
        <p:spPr>
          <a:xfrm>
            <a:off x="6986588" y="2286307"/>
            <a:ext cx="1514475" cy="1339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1F3B5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正式、亲切、冷静或活泼</a:t>
            </a:r>
            <a:endParaRPr lang="en-US" sz="650" dirty="0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2518479"/>
            <a:ext cx="271463" cy="271463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6986588" y="2491690"/>
            <a:ext cx="1514475" cy="1768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B2F6B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词汇</a:t>
            </a:r>
            <a:endParaRPr lang="en-US" sz="850" dirty="0"/>
          </a:p>
        </p:txBody>
      </p:sp>
      <p:sp>
        <p:nvSpPr>
          <p:cNvPr id="35" name="Text 28"/>
          <p:cNvSpPr/>
          <p:nvPr/>
        </p:nvSpPr>
        <p:spPr>
          <a:xfrm>
            <a:off x="6986588" y="2682785"/>
            <a:ext cx="1514475" cy="1339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1F3B5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常用词与专业表达偏好</a:t>
            </a:r>
            <a:endParaRPr lang="en-US" sz="650" dirty="0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2914957"/>
            <a:ext cx="271463" cy="271463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986588" y="2888168"/>
            <a:ext cx="1514475" cy="1768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B2F6B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句式</a:t>
            </a:r>
            <a:endParaRPr lang="en-US" sz="850" dirty="0"/>
          </a:p>
        </p:txBody>
      </p:sp>
      <p:sp>
        <p:nvSpPr>
          <p:cNvPr id="38" name="Text 30"/>
          <p:cNvSpPr/>
          <p:nvPr/>
        </p:nvSpPr>
        <p:spPr>
          <a:xfrm>
            <a:off x="6986588" y="3079263"/>
            <a:ext cx="1514475" cy="1339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1F3B5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长短句、反问与解释结构</a:t>
            </a:r>
            <a:endParaRPr lang="en-US" sz="650" dirty="0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3311435"/>
            <a:ext cx="271463" cy="271463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6986588" y="3284646"/>
            <a:ext cx="1514475" cy="1768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B2F6B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情感</a:t>
            </a:r>
            <a:endParaRPr lang="en-US" sz="850" dirty="0"/>
          </a:p>
        </p:txBody>
      </p:sp>
      <p:sp>
        <p:nvSpPr>
          <p:cNvPr id="41" name="Text 32"/>
          <p:cNvSpPr/>
          <p:nvPr/>
        </p:nvSpPr>
        <p:spPr>
          <a:xfrm>
            <a:off x="6986588" y="3475741"/>
            <a:ext cx="1514475" cy="1339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1F3B5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共情程度与回应边界</a:t>
            </a:r>
            <a:endParaRPr lang="en-US" sz="650" dirty="0"/>
          </a:p>
        </p:txBody>
      </p:sp>
      <p:sp>
        <p:nvSpPr>
          <p:cNvPr id="42" name="Shape 33"/>
          <p:cNvSpPr/>
          <p:nvPr/>
        </p:nvSpPr>
        <p:spPr>
          <a:xfrm>
            <a:off x="500063" y="4191704"/>
            <a:ext cx="8143875" cy="557213"/>
          </a:xfrm>
          <a:prstGeom prst="rect">
            <a:avLst/>
          </a:prstGeom>
          <a:solidFill>
            <a:srgbClr val="0B2F6B"/>
          </a:solidFill>
        </p:spPr>
      </p:sp>
      <p:pic>
        <p:nvPicPr>
          <p:cNvPr id="43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088" y="4366726"/>
            <a:ext cx="400050" cy="207169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1228725" y="4365023"/>
            <a:ext cx="7172325" cy="21057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100" b="1" dirty="0">
                <a:solidFill>
                  <a:srgbClr val="F6FA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LoRA 的本质：用</a:t>
            </a:r>
            <a:r>
              <a:rPr lang="en-US" sz="1100" b="1" dirty="0">
                <a:solidFill>
                  <a:srgbClr val="7CFFCB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少量参数</a:t>
            </a:r>
            <a:r>
              <a:rPr lang="en-US" sz="1100" b="1" dirty="0">
                <a:solidFill>
                  <a:srgbClr val="F6FA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压缩并表达最重要的任务变化。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0063" y="385763"/>
            <a:ext cx="8143875" cy="1232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kern="0" spc="2" dirty="0">
                <a:solidFill>
                  <a:srgbClr val="00A7E1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CONFIGURATION</a:t>
            </a:r>
            <a:endParaRPr lang="en-US" sz="750" dirty="0"/>
          </a:p>
        </p:txBody>
      </p:sp>
      <p:sp>
        <p:nvSpPr>
          <p:cNvPr id="5" name="Text 1"/>
          <p:cNvSpPr/>
          <p:nvPr/>
        </p:nvSpPr>
        <p:spPr>
          <a:xfrm>
            <a:off x="500063" y="580430"/>
            <a:ext cx="8143875" cy="28658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1700" b="1" dirty="0">
                <a:solidFill>
                  <a:srgbClr val="0B2F6B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关键配置决定适配效果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500063" y="938454"/>
            <a:ext cx="7000875" cy="1967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00" dirty="0">
                <a:solidFill>
                  <a:srgbClr val="1F3B5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LoRA 的配置不是参数堆叠，而是在表达能力、训练成本与泛化稳定性之间建立平衡。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>
            <a:off x="500063" y="1278117"/>
            <a:ext cx="5143500" cy="2414588"/>
          </a:xfrm>
          <a:prstGeom prst="rect">
            <a:avLst/>
          </a:prstGeom>
          <a:solidFill>
            <a:srgbClr val="FFFFFF">
              <a:alpha val="86000"/>
            </a:srgbClr>
          </a:solidFill>
        </p:spPr>
      </p:sp>
      <p:sp>
        <p:nvSpPr>
          <p:cNvPr id="8" name="Shape 4"/>
          <p:cNvSpPr/>
          <p:nvPr/>
        </p:nvSpPr>
        <p:spPr>
          <a:xfrm>
            <a:off x="500063" y="1278117"/>
            <a:ext cx="1071563" cy="357188"/>
          </a:xfrm>
          <a:prstGeom prst="rect">
            <a:avLst/>
          </a:prstGeom>
          <a:solidFill>
            <a:srgbClr val="0B2F6B"/>
          </a:solidFill>
        </p:spPr>
      </p:sp>
      <p:sp>
        <p:nvSpPr>
          <p:cNvPr id="9" name="Shape 5"/>
          <p:cNvSpPr/>
          <p:nvPr/>
        </p:nvSpPr>
        <p:spPr>
          <a:xfrm>
            <a:off x="1564481" y="1278117"/>
            <a:ext cx="7144" cy="357188"/>
          </a:xfrm>
          <a:prstGeom prst="rect">
            <a:avLst/>
          </a:prstGeom>
          <a:solidFill>
            <a:srgbClr val="FDFEFF"/>
          </a:solidFill>
        </p:spPr>
      </p:sp>
      <p:sp>
        <p:nvSpPr>
          <p:cNvPr id="10" name="Text 6"/>
          <p:cNvSpPr/>
          <p:nvPr/>
        </p:nvSpPr>
        <p:spPr>
          <a:xfrm>
            <a:off x="500063" y="1278117"/>
            <a:ext cx="1071563" cy="357188"/>
          </a:xfrm>
          <a:prstGeom prst="rect">
            <a:avLst/>
          </a:prstGeom>
          <a:noFill/>
        </p:spPr>
        <p:txBody>
          <a:bodyPr wrap="none" lIns="153035" tIns="8509" rIns="102108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6FAFF"/>
                </a:solidFill>
                <a:latin typeface="Noto Sans SC ExtraBold" pitchFamily="34" charset="0"/>
                <a:ea typeface="Noto Sans SC ExtraBold" pitchFamily="34" charset="-122"/>
                <a:cs typeface="Noto Sans SC ExtraBold" pitchFamily="34" charset="-120"/>
              </a:rPr>
              <a:t>配置项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1571625" y="1278117"/>
            <a:ext cx="1071563" cy="357188"/>
          </a:xfrm>
          <a:prstGeom prst="rect">
            <a:avLst/>
          </a:prstGeom>
          <a:solidFill>
            <a:srgbClr val="0B2F6B"/>
          </a:solidFill>
        </p:spPr>
      </p:sp>
      <p:sp>
        <p:nvSpPr>
          <p:cNvPr id="12" name="Shape 8"/>
          <p:cNvSpPr/>
          <p:nvPr/>
        </p:nvSpPr>
        <p:spPr>
          <a:xfrm>
            <a:off x="2636044" y="1278117"/>
            <a:ext cx="7144" cy="357188"/>
          </a:xfrm>
          <a:prstGeom prst="rect">
            <a:avLst/>
          </a:prstGeom>
          <a:solidFill>
            <a:srgbClr val="FDFEFF"/>
          </a:solidFill>
        </p:spPr>
      </p:sp>
      <p:sp>
        <p:nvSpPr>
          <p:cNvPr id="13" name="Text 9"/>
          <p:cNvSpPr/>
          <p:nvPr/>
        </p:nvSpPr>
        <p:spPr>
          <a:xfrm>
            <a:off x="1571625" y="1278117"/>
            <a:ext cx="1071563" cy="357188"/>
          </a:xfrm>
          <a:prstGeom prst="rect">
            <a:avLst/>
          </a:prstGeom>
          <a:noFill/>
        </p:spPr>
        <p:txBody>
          <a:bodyPr wrap="none" lIns="153035" tIns="8509" rIns="102108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6FAFF"/>
                </a:solidFill>
                <a:latin typeface="Noto Sans SC ExtraBold" pitchFamily="34" charset="0"/>
                <a:ea typeface="Noto Sans SC ExtraBold" pitchFamily="34" charset="-122"/>
                <a:cs typeface="Noto Sans SC ExtraBold" pitchFamily="34" charset="-120"/>
              </a:rPr>
              <a:t>常见示例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2643188" y="1278117"/>
            <a:ext cx="1500188" cy="357188"/>
          </a:xfrm>
          <a:prstGeom prst="rect">
            <a:avLst/>
          </a:prstGeom>
          <a:solidFill>
            <a:srgbClr val="0B2F6B"/>
          </a:solidFill>
        </p:spPr>
      </p:sp>
      <p:sp>
        <p:nvSpPr>
          <p:cNvPr id="15" name="Shape 11"/>
          <p:cNvSpPr/>
          <p:nvPr/>
        </p:nvSpPr>
        <p:spPr>
          <a:xfrm>
            <a:off x="4136231" y="1278117"/>
            <a:ext cx="7144" cy="357188"/>
          </a:xfrm>
          <a:prstGeom prst="rect">
            <a:avLst/>
          </a:prstGeom>
          <a:solidFill>
            <a:srgbClr val="FDFEFF"/>
          </a:solidFill>
        </p:spPr>
      </p:sp>
      <p:sp>
        <p:nvSpPr>
          <p:cNvPr id="16" name="Text 12"/>
          <p:cNvSpPr/>
          <p:nvPr/>
        </p:nvSpPr>
        <p:spPr>
          <a:xfrm>
            <a:off x="2643188" y="1278117"/>
            <a:ext cx="1500188" cy="357188"/>
          </a:xfrm>
          <a:prstGeom prst="rect">
            <a:avLst/>
          </a:prstGeom>
          <a:noFill/>
        </p:spPr>
        <p:txBody>
          <a:bodyPr wrap="square" lIns="153035" tIns="8509" rIns="102108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6FAFF"/>
                </a:solidFill>
                <a:latin typeface="Noto Sans SC ExtraBold" pitchFamily="34" charset="0"/>
                <a:ea typeface="Noto Sans SC ExtraBold" pitchFamily="34" charset="-122"/>
                <a:cs typeface="Noto Sans SC ExtraBold" pitchFamily="34" charset="-120"/>
              </a:rPr>
              <a:t>作用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4143375" y="1278117"/>
            <a:ext cx="1500188" cy="357188"/>
          </a:xfrm>
          <a:prstGeom prst="rect">
            <a:avLst/>
          </a:prstGeom>
          <a:solidFill>
            <a:srgbClr val="0B2F6B"/>
          </a:solidFill>
        </p:spPr>
      </p:sp>
      <p:sp>
        <p:nvSpPr>
          <p:cNvPr id="18" name="Text 14"/>
          <p:cNvSpPr/>
          <p:nvPr/>
        </p:nvSpPr>
        <p:spPr>
          <a:xfrm>
            <a:off x="4143375" y="1278117"/>
            <a:ext cx="1500188" cy="357188"/>
          </a:xfrm>
          <a:prstGeom prst="rect">
            <a:avLst/>
          </a:prstGeom>
          <a:noFill/>
        </p:spPr>
        <p:txBody>
          <a:bodyPr wrap="square" lIns="153035" tIns="8509" rIns="102108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6FAFF"/>
                </a:solidFill>
                <a:latin typeface="Noto Sans SC ExtraBold" pitchFamily="34" charset="0"/>
                <a:ea typeface="Noto Sans SC ExtraBold" pitchFamily="34" charset="-122"/>
                <a:cs typeface="Noto Sans SC ExtraBold" pitchFamily="34" charset="-120"/>
              </a:rPr>
              <a:t>调参影响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628650" y="1812475"/>
            <a:ext cx="307516" cy="15894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b="1" dirty="0">
                <a:solidFill>
                  <a:srgbClr val="0B2F6B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rank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1703784" y="1812475"/>
            <a:ext cx="79474" cy="15894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b="1" dirty="0">
                <a:solidFill>
                  <a:srgbClr val="00A7E1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8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2643188" y="1635305"/>
            <a:ext cx="1500188" cy="514350"/>
          </a:xfrm>
          <a:prstGeom prst="rect">
            <a:avLst/>
          </a:prstGeom>
          <a:noFill/>
        </p:spPr>
        <p:txBody>
          <a:bodyPr wrap="square" lIns="153035" tIns="8509" rIns="102108" bIns="8509" rtlCol="0" anchor="ctr">
            <a:sp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800" dirty="0">
                <a:solidFill>
                  <a:srgbClr val="1F3B5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控制低秩空间大小，决定可学习变化的容量。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4143375" y="1635305"/>
            <a:ext cx="1500188" cy="514350"/>
          </a:xfrm>
          <a:prstGeom prst="rect">
            <a:avLst/>
          </a:prstGeom>
          <a:noFill/>
        </p:spPr>
        <p:txBody>
          <a:bodyPr wrap="square" lIns="153035" tIns="8509" rIns="102108" bIns="8509" rtlCol="0" anchor="ctr">
            <a:sp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800" dirty="0">
                <a:solidFill>
                  <a:srgbClr val="1F3B5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越大表达力越强，但训练参数和显存开销增加。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628650" y="2326825"/>
            <a:ext cx="380321" cy="15894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b="1" dirty="0">
                <a:solidFill>
                  <a:srgbClr val="0B2F6B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alpha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1703784" y="2326825"/>
            <a:ext cx="158921" cy="15894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b="1" dirty="0">
                <a:solidFill>
                  <a:srgbClr val="00A7E1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16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2643188" y="2149655"/>
            <a:ext cx="1500188" cy="514350"/>
          </a:xfrm>
          <a:prstGeom prst="rect">
            <a:avLst/>
          </a:prstGeom>
          <a:noFill/>
        </p:spPr>
        <p:txBody>
          <a:bodyPr wrap="square" lIns="153035" tIns="8509" rIns="102108" bIns="8509" rtlCol="0" anchor="ctr">
            <a:sp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800" dirty="0">
                <a:solidFill>
                  <a:srgbClr val="1F3B5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控制 LoRA 更新强度，影响增量权重的注入比例。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4143375" y="2149655"/>
            <a:ext cx="1500188" cy="514350"/>
          </a:xfrm>
          <a:prstGeom prst="rect">
            <a:avLst/>
          </a:prstGeom>
          <a:noFill/>
        </p:spPr>
        <p:txBody>
          <a:bodyPr wrap="square" lIns="153035" tIns="8509" rIns="102108" bIns="8509" rtlCol="0" anchor="ctr">
            <a:sp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800" dirty="0">
                <a:solidFill>
                  <a:srgbClr val="1F3B5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过小风格不明显，过大可能扰动原模型输出。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628650" y="2739740"/>
            <a:ext cx="597480" cy="3618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b="1" dirty="0">
                <a:solidFill>
                  <a:srgbClr val="0B2F6B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target modules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1703784" y="2739740"/>
            <a:ext cx="515969" cy="3618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b="1" dirty="0">
                <a:solidFill>
                  <a:srgbClr val="00A7E1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q_proj / v_proj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2643188" y="2664005"/>
            <a:ext cx="1500188" cy="514350"/>
          </a:xfrm>
          <a:prstGeom prst="rect">
            <a:avLst/>
          </a:prstGeom>
          <a:noFill/>
        </p:spPr>
        <p:txBody>
          <a:bodyPr wrap="square" lIns="153035" tIns="8509" rIns="102108" bIns="8509" rtlCol="0" anchor="ctr">
            <a:sp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800" dirty="0">
                <a:solidFill>
                  <a:srgbClr val="1F3B5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指定 LoRA 注入模型中的关键模块位置。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4143375" y="2664005"/>
            <a:ext cx="1500188" cy="514350"/>
          </a:xfrm>
          <a:prstGeom prst="rect">
            <a:avLst/>
          </a:prstGeom>
          <a:noFill/>
        </p:spPr>
        <p:txBody>
          <a:bodyPr wrap="square" lIns="153035" tIns="8509" rIns="102108" bIns="8509" rtlCol="0" anchor="ctr">
            <a:sp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800" dirty="0">
                <a:solidFill>
                  <a:srgbClr val="1F3B5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影响训练效率、适配重点与部署复杂度。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628650" y="3357311"/>
            <a:ext cx="549566" cy="15894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b="1" dirty="0">
                <a:solidFill>
                  <a:srgbClr val="0B2F6B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dropout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1703784" y="3357311"/>
            <a:ext cx="278076" cy="15894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b="1" dirty="0">
                <a:solidFill>
                  <a:srgbClr val="00A7E1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0.05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2643188" y="3178355"/>
            <a:ext cx="1500188" cy="514350"/>
          </a:xfrm>
          <a:prstGeom prst="rect">
            <a:avLst/>
          </a:prstGeom>
          <a:noFill/>
        </p:spPr>
        <p:txBody>
          <a:bodyPr wrap="square" lIns="153035" tIns="8509" rIns="102108" bIns="8509" rtlCol="0" anchor="ctr">
            <a:sp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800" dirty="0">
                <a:solidFill>
                  <a:srgbClr val="1F3B5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训练时随机关闭部分更新，降低样本记忆。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4143375" y="3178355"/>
            <a:ext cx="1500188" cy="514350"/>
          </a:xfrm>
          <a:prstGeom prst="rect">
            <a:avLst/>
          </a:prstGeom>
          <a:noFill/>
        </p:spPr>
        <p:txBody>
          <a:bodyPr wrap="square" lIns="153035" tIns="8509" rIns="102108" bIns="8509" rtlCol="0" anchor="ctr">
            <a:sp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800" dirty="0">
                <a:solidFill>
                  <a:srgbClr val="1F3B5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有助于缓解过拟合，提升风格泛化稳定性。</a:t>
            </a:r>
            <a:endParaRPr lang="en-US" sz="800" dirty="0"/>
          </a:p>
        </p:txBody>
      </p:sp>
      <p:sp>
        <p:nvSpPr>
          <p:cNvPr id="35" name="Shape 31"/>
          <p:cNvSpPr/>
          <p:nvPr/>
        </p:nvSpPr>
        <p:spPr>
          <a:xfrm>
            <a:off x="5929313" y="1278117"/>
            <a:ext cx="2714625" cy="2689231"/>
          </a:xfrm>
          <a:prstGeom prst="rect">
            <a:avLst/>
          </a:prstGeom>
          <a:solidFill>
            <a:srgbClr val="E7F6FF">
              <a:alpha val="48000"/>
            </a:srgbClr>
          </a:solidFill>
        </p:spPr>
      </p:sp>
      <p:sp>
        <p:nvSpPr>
          <p:cNvPr id="36" name="Shape 32"/>
          <p:cNvSpPr/>
          <p:nvPr/>
        </p:nvSpPr>
        <p:spPr>
          <a:xfrm>
            <a:off x="5929313" y="1278117"/>
            <a:ext cx="2714625" cy="28575"/>
          </a:xfrm>
          <a:prstGeom prst="rect">
            <a:avLst/>
          </a:prstGeom>
          <a:solidFill>
            <a:srgbClr val="00A7E1"/>
          </a:solidFill>
        </p:spPr>
      </p:sp>
      <p:sp>
        <p:nvSpPr>
          <p:cNvPr id="37" name="Text 33"/>
          <p:cNvSpPr/>
          <p:nvPr/>
        </p:nvSpPr>
        <p:spPr>
          <a:xfrm>
            <a:off x="6072188" y="1406705"/>
            <a:ext cx="2428875" cy="25896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B2F6B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调参逻辑</a:t>
            </a:r>
            <a:endParaRPr lang="en-US" sz="1250" dirty="0"/>
          </a:p>
        </p:txBody>
      </p:sp>
      <p:pic>
        <p:nvPicPr>
          <p:cNvPr id="3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2188" y="1779966"/>
            <a:ext cx="242888" cy="157163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6400800" y="1765678"/>
            <a:ext cx="2100263" cy="1768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B2F6B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先确定目标</a:t>
            </a:r>
            <a:endParaRPr lang="en-US" sz="850" dirty="0"/>
          </a:p>
        </p:txBody>
      </p:sp>
      <p:sp>
        <p:nvSpPr>
          <p:cNvPr id="40" name="Text 35"/>
          <p:cNvSpPr/>
          <p:nvPr/>
        </p:nvSpPr>
        <p:spPr>
          <a:xfrm>
            <a:off x="6400800" y="1971061"/>
            <a:ext cx="2100263" cy="15858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00" dirty="0">
                <a:solidFill>
                  <a:srgbClr val="1F3B5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角色风格、任务边界和部署资源决定配置起</a:t>
            </a:r>
            <a:endParaRPr lang="en-US" sz="800" dirty="0"/>
          </a:p>
        </p:txBody>
      </p:sp>
      <p:sp>
        <p:nvSpPr>
          <p:cNvPr id="41" name="Text 36"/>
          <p:cNvSpPr/>
          <p:nvPr/>
        </p:nvSpPr>
        <p:spPr>
          <a:xfrm>
            <a:off x="6400800" y="2129647"/>
            <a:ext cx="2100263" cy="15858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00" dirty="0">
                <a:solidFill>
                  <a:srgbClr val="1F3B5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点。</a:t>
            </a:r>
            <a:endParaRPr lang="en-US" sz="800" dirty="0"/>
          </a:p>
        </p:txBody>
      </p:sp>
      <p:pic>
        <p:nvPicPr>
          <p:cNvPr id="4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2188" y="2402532"/>
            <a:ext cx="242888" cy="157163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6400800" y="2388245"/>
            <a:ext cx="2100263" cy="1768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B2F6B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再观察效果</a:t>
            </a:r>
            <a:endParaRPr lang="en-US" sz="850" dirty="0"/>
          </a:p>
        </p:txBody>
      </p:sp>
      <p:sp>
        <p:nvSpPr>
          <p:cNvPr id="44" name="Text 38"/>
          <p:cNvSpPr/>
          <p:nvPr/>
        </p:nvSpPr>
        <p:spPr>
          <a:xfrm>
            <a:off x="6400800" y="2593628"/>
            <a:ext cx="2100263" cy="15858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00" dirty="0">
                <a:solidFill>
                  <a:srgbClr val="1F3B5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比较风格一致性、回答质量、Loss 变化与验</a:t>
            </a:r>
            <a:endParaRPr lang="en-US" sz="800" dirty="0"/>
          </a:p>
        </p:txBody>
      </p:sp>
      <p:sp>
        <p:nvSpPr>
          <p:cNvPr id="45" name="Text 39"/>
          <p:cNvSpPr/>
          <p:nvPr/>
        </p:nvSpPr>
        <p:spPr>
          <a:xfrm>
            <a:off x="6400800" y="2752213"/>
            <a:ext cx="2100263" cy="15858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00" dirty="0">
                <a:solidFill>
                  <a:srgbClr val="1F3B5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证集表现。</a:t>
            </a:r>
            <a:endParaRPr lang="en-US" sz="800" dirty="0"/>
          </a:p>
        </p:txBody>
      </p:sp>
      <p:pic>
        <p:nvPicPr>
          <p:cNvPr id="4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2188" y="3025099"/>
            <a:ext cx="242888" cy="157163"/>
          </a:xfrm>
          <a:prstGeom prst="rect">
            <a:avLst/>
          </a:prstGeom>
        </p:spPr>
      </p:pic>
      <p:sp>
        <p:nvSpPr>
          <p:cNvPr id="47" name="Text 40"/>
          <p:cNvSpPr/>
          <p:nvPr/>
        </p:nvSpPr>
        <p:spPr>
          <a:xfrm>
            <a:off x="6400800" y="3010812"/>
            <a:ext cx="2100263" cy="1768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B2F6B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最后做平衡</a:t>
            </a:r>
            <a:endParaRPr lang="en-US" sz="850" dirty="0"/>
          </a:p>
        </p:txBody>
      </p:sp>
      <p:sp>
        <p:nvSpPr>
          <p:cNvPr id="48" name="Text 41"/>
          <p:cNvSpPr/>
          <p:nvPr/>
        </p:nvSpPr>
        <p:spPr>
          <a:xfrm>
            <a:off x="6400800" y="3216194"/>
            <a:ext cx="2100263" cy="15858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00" dirty="0">
                <a:solidFill>
                  <a:srgbClr val="1F3B5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在更强表达力、更低成本和更稳泛化之间取</a:t>
            </a:r>
            <a:endParaRPr lang="en-US" sz="800" dirty="0"/>
          </a:p>
        </p:txBody>
      </p:sp>
      <p:sp>
        <p:nvSpPr>
          <p:cNvPr id="49" name="Text 42"/>
          <p:cNvSpPr/>
          <p:nvPr/>
        </p:nvSpPr>
        <p:spPr>
          <a:xfrm>
            <a:off x="6400800" y="3374780"/>
            <a:ext cx="2100263" cy="15858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00" dirty="0">
                <a:solidFill>
                  <a:srgbClr val="1F3B5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舍。</a:t>
            </a:r>
            <a:endParaRPr lang="en-US" sz="800" dirty="0"/>
          </a:p>
        </p:txBody>
      </p:sp>
      <p:sp>
        <p:nvSpPr>
          <p:cNvPr id="50" name="Text 43"/>
          <p:cNvSpPr/>
          <p:nvPr/>
        </p:nvSpPr>
        <p:spPr>
          <a:xfrm>
            <a:off x="6072188" y="3804828"/>
            <a:ext cx="781041" cy="1339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B2F6B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成本</a:t>
            </a:r>
            <a:endParaRPr lang="en-US" sz="650" dirty="0"/>
          </a:p>
        </p:txBody>
      </p:sp>
      <p:sp>
        <p:nvSpPr>
          <p:cNvPr id="51" name="Text 44"/>
          <p:cNvSpPr/>
          <p:nvPr/>
        </p:nvSpPr>
        <p:spPr>
          <a:xfrm>
            <a:off x="6896091" y="3804828"/>
            <a:ext cx="781041" cy="1339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B2F6B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效果</a:t>
            </a:r>
            <a:endParaRPr lang="en-US" sz="650" dirty="0"/>
          </a:p>
        </p:txBody>
      </p:sp>
      <p:sp>
        <p:nvSpPr>
          <p:cNvPr id="52" name="Text 45"/>
          <p:cNvSpPr/>
          <p:nvPr/>
        </p:nvSpPr>
        <p:spPr>
          <a:xfrm>
            <a:off x="7719994" y="3804828"/>
            <a:ext cx="781069" cy="1339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B2F6B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稳定性</a:t>
            </a:r>
            <a:endParaRPr lang="en-US" sz="650" dirty="0"/>
          </a:p>
        </p:txBody>
      </p:sp>
      <p:sp>
        <p:nvSpPr>
          <p:cNvPr id="53" name="Shape 46"/>
          <p:cNvSpPr/>
          <p:nvPr/>
        </p:nvSpPr>
        <p:spPr>
          <a:xfrm>
            <a:off x="500063" y="4081649"/>
            <a:ext cx="8143875" cy="514350"/>
          </a:xfrm>
          <a:prstGeom prst="rect">
            <a:avLst/>
          </a:prstGeom>
          <a:solidFill>
            <a:srgbClr val="0B2F6B"/>
          </a:solidFill>
        </p:spPr>
      </p:sp>
      <p:pic>
        <p:nvPicPr>
          <p:cNvPr id="5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088" y="4238811"/>
            <a:ext cx="385763" cy="200025"/>
          </a:xfrm>
          <a:prstGeom prst="rect">
            <a:avLst/>
          </a:prstGeom>
        </p:spPr>
      </p:pic>
      <p:sp>
        <p:nvSpPr>
          <p:cNvPr id="55" name="Text 47"/>
          <p:cNvSpPr/>
          <p:nvPr/>
        </p:nvSpPr>
        <p:spPr>
          <a:xfrm>
            <a:off x="1214438" y="4237555"/>
            <a:ext cx="7186613" cy="20250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F6FA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参数不是越大越好，关键是让少量新增参数精准学习“真正需要改变的部分”。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0063" y="448646"/>
            <a:ext cx="8143875" cy="1232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kern="0" spc="2" dirty="0">
                <a:solidFill>
                  <a:srgbClr val="00A7E1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DATA PIPELINE</a:t>
            </a:r>
            <a:endParaRPr lang="en-US" sz="750" dirty="0"/>
          </a:p>
        </p:txBody>
      </p:sp>
      <p:sp>
        <p:nvSpPr>
          <p:cNvPr id="5" name="Text 1"/>
          <p:cNvSpPr/>
          <p:nvPr/>
        </p:nvSpPr>
        <p:spPr>
          <a:xfrm>
            <a:off x="500063" y="643313"/>
            <a:ext cx="8143875" cy="28658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1700" b="1" dirty="0">
                <a:solidFill>
                  <a:srgbClr val="0B2F6B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高质量数据定义目标风格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500063" y="1092616"/>
            <a:ext cx="7215188" cy="2071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1F3B5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LoRA 解决“如何高效学习”，但模型最终学成什么样，首先取决于训练数据是否清楚、稳定且可控。</a:t>
            </a:r>
            <a:endParaRPr lang="en-US" sz="1050" dirty="0"/>
          </a:p>
        </p:txBody>
      </p:sp>
      <p:sp>
        <p:nvSpPr>
          <p:cNvPr id="7" name="Shape 3"/>
          <p:cNvSpPr/>
          <p:nvPr/>
        </p:nvSpPr>
        <p:spPr>
          <a:xfrm>
            <a:off x="500063" y="1542672"/>
            <a:ext cx="2143125" cy="2571750"/>
          </a:xfrm>
          <a:prstGeom prst="rect">
            <a:avLst/>
          </a:prstGeom>
          <a:solidFill>
            <a:srgbClr val="E7F6FF">
              <a:alpha val="46000"/>
            </a:srgbClr>
          </a:solidFill>
        </p:spPr>
      </p:sp>
      <p:sp>
        <p:nvSpPr>
          <p:cNvPr id="8" name="Shape 4"/>
          <p:cNvSpPr/>
          <p:nvPr/>
        </p:nvSpPr>
        <p:spPr>
          <a:xfrm>
            <a:off x="500063" y="1542672"/>
            <a:ext cx="2143125" cy="28575"/>
          </a:xfrm>
          <a:prstGeom prst="rect">
            <a:avLst/>
          </a:prstGeom>
          <a:solidFill>
            <a:srgbClr val="00A7E1"/>
          </a:solidFill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3" y="1799038"/>
            <a:ext cx="300038" cy="30003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57275" y="1850495"/>
            <a:ext cx="1414463" cy="19715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b="1" dirty="0">
                <a:solidFill>
                  <a:srgbClr val="0B2F6B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风格信息来源</a:t>
            </a:r>
            <a:endParaRPr lang="en-US" sz="11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13" y="2355469"/>
            <a:ext cx="214313" cy="13573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57263" y="2341182"/>
            <a:ext cx="1514475" cy="16430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F3B57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角色设定</a:t>
            </a:r>
            <a:endParaRPr lang="en-US" sz="800" dirty="0"/>
          </a:p>
        </p:txBody>
      </p:sp>
      <p:sp>
        <p:nvSpPr>
          <p:cNvPr id="13" name="Text 7"/>
          <p:cNvSpPr/>
          <p:nvPr/>
        </p:nvSpPr>
        <p:spPr>
          <a:xfrm>
            <a:off x="957263" y="2526919"/>
            <a:ext cx="1514475" cy="14499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750" dirty="0">
                <a:solidFill>
                  <a:srgbClr val="1F3B57">
                    <a:alpha val="94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身份、性格、知识范围、互动边</a:t>
            </a:r>
            <a:endParaRPr lang="en-US" sz="750" dirty="0"/>
          </a:p>
        </p:txBody>
      </p:sp>
      <p:sp>
        <p:nvSpPr>
          <p:cNvPr id="14" name="Text 8"/>
          <p:cNvSpPr/>
          <p:nvPr/>
        </p:nvSpPr>
        <p:spPr>
          <a:xfrm>
            <a:off x="957263" y="2671915"/>
            <a:ext cx="1514475" cy="14499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750" dirty="0">
                <a:solidFill>
                  <a:srgbClr val="1F3B57">
                    <a:alpha val="94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界。</a:t>
            </a:r>
            <a:endParaRPr lang="en-US" sz="7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513" y="2959786"/>
            <a:ext cx="214313" cy="13573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57263" y="2945498"/>
            <a:ext cx="1514475" cy="16430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F3B57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对话样本</a:t>
            </a:r>
            <a:endParaRPr lang="en-US" sz="800" dirty="0"/>
          </a:p>
        </p:txBody>
      </p:sp>
      <p:sp>
        <p:nvSpPr>
          <p:cNvPr id="17" name="Text 10"/>
          <p:cNvSpPr/>
          <p:nvPr/>
        </p:nvSpPr>
        <p:spPr>
          <a:xfrm>
            <a:off x="957263" y="3131236"/>
            <a:ext cx="1514475" cy="14499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750" dirty="0">
                <a:solidFill>
                  <a:srgbClr val="1F3B57">
                    <a:alpha val="94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典型问答、语气节奏、回应习惯。</a:t>
            </a:r>
            <a:endParaRPr lang="en-US" sz="750" dirty="0"/>
          </a:p>
        </p:txBody>
      </p:sp>
      <p:sp>
        <p:nvSpPr>
          <p:cNvPr id="18" name="Text 11"/>
          <p:cNvSpPr/>
          <p:nvPr/>
        </p:nvSpPr>
        <p:spPr>
          <a:xfrm>
            <a:off x="957263" y="3404819"/>
            <a:ext cx="1514475" cy="16430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F3B57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安全样本</a:t>
            </a:r>
            <a:endParaRPr lang="en-US" sz="800" dirty="0"/>
          </a:p>
        </p:txBody>
      </p:sp>
      <p:sp>
        <p:nvSpPr>
          <p:cNvPr id="19" name="Text 12"/>
          <p:cNvSpPr/>
          <p:nvPr/>
        </p:nvSpPr>
        <p:spPr>
          <a:xfrm>
            <a:off x="957263" y="3590556"/>
            <a:ext cx="1514475" cy="14499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750" dirty="0">
                <a:solidFill>
                  <a:srgbClr val="1F3B57">
                    <a:alpha val="94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拒答策略、未成年人保护、风险纠</a:t>
            </a:r>
            <a:endParaRPr lang="en-US" sz="750" dirty="0"/>
          </a:p>
        </p:txBody>
      </p:sp>
      <p:sp>
        <p:nvSpPr>
          <p:cNvPr id="20" name="Text 13"/>
          <p:cNvSpPr/>
          <p:nvPr/>
        </p:nvSpPr>
        <p:spPr>
          <a:xfrm>
            <a:off x="957263" y="3735552"/>
            <a:ext cx="1514475" cy="14499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750" dirty="0">
                <a:solidFill>
                  <a:srgbClr val="1F3B57">
                    <a:alpha val="94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偏。</a:t>
            </a:r>
            <a:endParaRPr lang="en-US" sz="750" dirty="0"/>
          </a:p>
        </p:txBody>
      </p:sp>
      <p:sp>
        <p:nvSpPr>
          <p:cNvPr id="21" name="Text 14"/>
          <p:cNvSpPr/>
          <p:nvPr/>
        </p:nvSpPr>
        <p:spPr>
          <a:xfrm>
            <a:off x="2886075" y="1603930"/>
            <a:ext cx="3371850" cy="22681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F6B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从原始素材到可训练样本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2886075" y="1873606"/>
            <a:ext cx="3371850" cy="1553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F3B5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目标不是堆数据，而是把风格信息转化为稳定的学习信号。</a:t>
            </a:r>
            <a:endParaRPr lang="en-US" sz="800" dirty="0"/>
          </a:p>
        </p:txBody>
      </p:sp>
      <p:sp>
        <p:nvSpPr>
          <p:cNvPr id="23" name="Shape 16"/>
          <p:cNvSpPr/>
          <p:nvPr/>
        </p:nvSpPr>
        <p:spPr>
          <a:xfrm>
            <a:off x="2886075" y="2271871"/>
            <a:ext cx="617209" cy="1035844"/>
          </a:xfrm>
          <a:prstGeom prst="rect">
            <a:avLst/>
          </a:prstGeom>
          <a:solidFill>
            <a:srgbClr val="FFFFFF">
              <a:alpha val="86000"/>
            </a:srgbClr>
          </a:solidFill>
        </p:spPr>
      </p:sp>
      <p:sp>
        <p:nvSpPr>
          <p:cNvPr id="24" name="Shape 17"/>
          <p:cNvSpPr/>
          <p:nvPr/>
        </p:nvSpPr>
        <p:spPr>
          <a:xfrm>
            <a:off x="2886075" y="2271871"/>
            <a:ext cx="617209" cy="21431"/>
          </a:xfrm>
          <a:prstGeom prst="rect">
            <a:avLst/>
          </a:prstGeom>
          <a:solidFill>
            <a:srgbClr val="00A7E1"/>
          </a:solidFill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54" y="2400458"/>
            <a:ext cx="171450" cy="17145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2971800" y="2670135"/>
            <a:ext cx="445759" cy="17680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F6B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筛选</a:t>
            </a:r>
            <a:endParaRPr lang="en-US" sz="850" dirty="0"/>
          </a:p>
        </p:txBody>
      </p:sp>
      <p:sp>
        <p:nvSpPr>
          <p:cNvPr id="27" name="Text 19"/>
          <p:cNvSpPr/>
          <p:nvPr/>
        </p:nvSpPr>
        <p:spPr>
          <a:xfrm>
            <a:off x="2971800" y="2968386"/>
            <a:ext cx="445759" cy="37605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650" dirty="0">
                <a:solidFill>
                  <a:srgbClr val="1F3B5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保留与目标风格相关内容</a:t>
            </a:r>
            <a:endParaRPr lang="en-US" sz="650" dirty="0"/>
          </a:p>
        </p:txBody>
      </p:sp>
      <p:sp>
        <p:nvSpPr>
          <p:cNvPr id="28" name="Shape 20"/>
          <p:cNvSpPr/>
          <p:nvPr/>
        </p:nvSpPr>
        <p:spPr>
          <a:xfrm>
            <a:off x="3503256" y="2771933"/>
            <a:ext cx="71438" cy="14288"/>
          </a:xfrm>
          <a:prstGeom prst="rect">
            <a:avLst/>
          </a:prstGeom>
          <a:solidFill>
            <a:srgbClr val="00A7E1"/>
          </a:solidFill>
        </p:spPr>
      </p:sp>
      <p:sp>
        <p:nvSpPr>
          <p:cNvPr id="29" name="Shape 21"/>
          <p:cNvSpPr/>
          <p:nvPr/>
        </p:nvSpPr>
        <p:spPr>
          <a:xfrm>
            <a:off x="3574721" y="2271871"/>
            <a:ext cx="617209" cy="1035844"/>
          </a:xfrm>
          <a:prstGeom prst="rect">
            <a:avLst/>
          </a:prstGeom>
          <a:solidFill>
            <a:srgbClr val="FFFFFF">
              <a:alpha val="86000"/>
            </a:srgbClr>
          </a:solidFill>
        </p:spPr>
      </p:sp>
      <p:sp>
        <p:nvSpPr>
          <p:cNvPr id="30" name="Shape 22"/>
          <p:cNvSpPr/>
          <p:nvPr/>
        </p:nvSpPr>
        <p:spPr>
          <a:xfrm>
            <a:off x="3574721" y="2271871"/>
            <a:ext cx="617209" cy="21431"/>
          </a:xfrm>
          <a:prstGeom prst="rect">
            <a:avLst/>
          </a:prstGeom>
          <a:solidFill>
            <a:srgbClr val="00A7E1"/>
          </a:solidFill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6170" y="2400458"/>
            <a:ext cx="214313" cy="17145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3660446" y="2670135"/>
            <a:ext cx="445759" cy="17680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F6B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清洗</a:t>
            </a:r>
            <a:endParaRPr lang="en-US" sz="850" dirty="0"/>
          </a:p>
        </p:txBody>
      </p:sp>
      <p:sp>
        <p:nvSpPr>
          <p:cNvPr id="33" name="Text 24"/>
          <p:cNvSpPr/>
          <p:nvPr/>
        </p:nvSpPr>
        <p:spPr>
          <a:xfrm>
            <a:off x="3660446" y="2968386"/>
            <a:ext cx="445759" cy="5014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650" dirty="0">
                <a:solidFill>
                  <a:srgbClr val="1F3B5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去除噪声、错别字与无关文本</a:t>
            </a:r>
            <a:endParaRPr lang="en-US" sz="650" dirty="0"/>
          </a:p>
        </p:txBody>
      </p:sp>
      <p:sp>
        <p:nvSpPr>
          <p:cNvPr id="34" name="Shape 25"/>
          <p:cNvSpPr/>
          <p:nvPr/>
        </p:nvSpPr>
        <p:spPr>
          <a:xfrm>
            <a:off x="4191902" y="2771933"/>
            <a:ext cx="71438" cy="14288"/>
          </a:xfrm>
          <a:prstGeom prst="rect">
            <a:avLst/>
          </a:prstGeom>
          <a:solidFill>
            <a:srgbClr val="00A7E1"/>
          </a:solidFill>
        </p:spPr>
      </p:sp>
      <p:sp>
        <p:nvSpPr>
          <p:cNvPr id="35" name="Shape 26"/>
          <p:cNvSpPr/>
          <p:nvPr/>
        </p:nvSpPr>
        <p:spPr>
          <a:xfrm>
            <a:off x="4263368" y="2271871"/>
            <a:ext cx="617237" cy="1035844"/>
          </a:xfrm>
          <a:prstGeom prst="rect">
            <a:avLst/>
          </a:prstGeom>
          <a:solidFill>
            <a:srgbClr val="FFFFFF">
              <a:alpha val="86000"/>
            </a:srgbClr>
          </a:solidFill>
        </p:spPr>
      </p:sp>
      <p:sp>
        <p:nvSpPr>
          <p:cNvPr id="36" name="Shape 27"/>
          <p:cNvSpPr/>
          <p:nvPr/>
        </p:nvSpPr>
        <p:spPr>
          <a:xfrm>
            <a:off x="4263368" y="2271871"/>
            <a:ext cx="617237" cy="21431"/>
          </a:xfrm>
          <a:prstGeom prst="rect">
            <a:avLst/>
          </a:prstGeom>
          <a:solidFill>
            <a:srgbClr val="00A7E1"/>
          </a:solidFill>
        </p:spPr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6247" y="2400458"/>
            <a:ext cx="171450" cy="171450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4349093" y="2670135"/>
            <a:ext cx="445787" cy="17680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F6B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去重</a:t>
            </a:r>
            <a:endParaRPr lang="en-US" sz="850" dirty="0"/>
          </a:p>
        </p:txBody>
      </p:sp>
      <p:sp>
        <p:nvSpPr>
          <p:cNvPr id="39" name="Text 29"/>
          <p:cNvSpPr/>
          <p:nvPr/>
        </p:nvSpPr>
        <p:spPr>
          <a:xfrm>
            <a:off x="4349093" y="2968386"/>
            <a:ext cx="445787" cy="5014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650" dirty="0">
                <a:solidFill>
                  <a:srgbClr val="1F3B5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减少重复样本带来的记忆偏差</a:t>
            </a:r>
            <a:endParaRPr lang="en-US" sz="650" dirty="0"/>
          </a:p>
        </p:txBody>
      </p:sp>
      <p:sp>
        <p:nvSpPr>
          <p:cNvPr id="40" name="Shape 30"/>
          <p:cNvSpPr/>
          <p:nvPr/>
        </p:nvSpPr>
        <p:spPr>
          <a:xfrm>
            <a:off x="4880577" y="2771933"/>
            <a:ext cx="71438" cy="14288"/>
          </a:xfrm>
          <a:prstGeom prst="rect">
            <a:avLst/>
          </a:prstGeom>
          <a:solidFill>
            <a:srgbClr val="00A7E1"/>
          </a:solidFill>
        </p:spPr>
      </p:sp>
      <p:sp>
        <p:nvSpPr>
          <p:cNvPr id="41" name="Shape 31"/>
          <p:cNvSpPr/>
          <p:nvPr/>
        </p:nvSpPr>
        <p:spPr>
          <a:xfrm>
            <a:off x="4952042" y="2271871"/>
            <a:ext cx="617209" cy="1035844"/>
          </a:xfrm>
          <a:prstGeom prst="rect">
            <a:avLst/>
          </a:prstGeom>
          <a:solidFill>
            <a:srgbClr val="FFFFFF">
              <a:alpha val="86000"/>
            </a:srgbClr>
          </a:solidFill>
        </p:spPr>
      </p:sp>
      <p:sp>
        <p:nvSpPr>
          <p:cNvPr id="42" name="Shape 32"/>
          <p:cNvSpPr/>
          <p:nvPr/>
        </p:nvSpPr>
        <p:spPr>
          <a:xfrm>
            <a:off x="4952042" y="2271871"/>
            <a:ext cx="617209" cy="21431"/>
          </a:xfrm>
          <a:prstGeom prst="rect">
            <a:avLst/>
          </a:prstGeom>
          <a:solidFill>
            <a:srgbClr val="00A7E1"/>
          </a:solidFill>
        </p:spPr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74921" y="2400458"/>
            <a:ext cx="171450" cy="171450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5037767" y="2670135"/>
            <a:ext cx="445759" cy="35361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F6B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格式统一</a:t>
            </a:r>
            <a:endParaRPr lang="en-US" sz="850" dirty="0"/>
          </a:p>
        </p:txBody>
      </p:sp>
      <p:sp>
        <p:nvSpPr>
          <p:cNvPr id="45" name="Text 34"/>
          <p:cNvSpPr/>
          <p:nvPr/>
        </p:nvSpPr>
        <p:spPr>
          <a:xfrm>
            <a:off x="5037767" y="3145194"/>
            <a:ext cx="445759" cy="5014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650" dirty="0">
                <a:solidFill>
                  <a:srgbClr val="1F3B5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整理为 instruction / response 结构</a:t>
            </a:r>
            <a:endParaRPr lang="en-US" sz="650" dirty="0"/>
          </a:p>
        </p:txBody>
      </p:sp>
      <p:sp>
        <p:nvSpPr>
          <p:cNvPr id="46" name="Shape 35"/>
          <p:cNvSpPr/>
          <p:nvPr/>
        </p:nvSpPr>
        <p:spPr>
          <a:xfrm>
            <a:off x="5569223" y="2771933"/>
            <a:ext cx="71438" cy="14288"/>
          </a:xfrm>
          <a:prstGeom prst="rect">
            <a:avLst/>
          </a:prstGeom>
          <a:solidFill>
            <a:srgbClr val="00A7E1"/>
          </a:solidFill>
        </p:spPr>
      </p:sp>
      <p:sp>
        <p:nvSpPr>
          <p:cNvPr id="47" name="Shape 36"/>
          <p:cNvSpPr/>
          <p:nvPr/>
        </p:nvSpPr>
        <p:spPr>
          <a:xfrm>
            <a:off x="5640688" y="2271871"/>
            <a:ext cx="617237" cy="1035844"/>
          </a:xfrm>
          <a:prstGeom prst="rect">
            <a:avLst/>
          </a:prstGeom>
          <a:solidFill>
            <a:srgbClr val="FFFFFF">
              <a:alpha val="86000"/>
            </a:srgbClr>
          </a:solidFill>
        </p:spPr>
      </p:sp>
      <p:sp>
        <p:nvSpPr>
          <p:cNvPr id="48" name="Shape 37"/>
          <p:cNvSpPr/>
          <p:nvPr/>
        </p:nvSpPr>
        <p:spPr>
          <a:xfrm>
            <a:off x="5640688" y="2271871"/>
            <a:ext cx="617237" cy="21431"/>
          </a:xfrm>
          <a:prstGeom prst="rect">
            <a:avLst/>
          </a:prstGeom>
          <a:solidFill>
            <a:srgbClr val="00A7E1"/>
          </a:solidFill>
        </p:spPr>
      </p:sp>
      <p:pic>
        <p:nvPicPr>
          <p:cNvPr id="49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63568" y="2400458"/>
            <a:ext cx="171450" cy="171450"/>
          </a:xfrm>
          <a:prstGeom prst="rect">
            <a:avLst/>
          </a:prstGeom>
        </p:spPr>
      </p:pic>
      <p:sp>
        <p:nvSpPr>
          <p:cNvPr id="50" name="Text 38"/>
          <p:cNvSpPr/>
          <p:nvPr/>
        </p:nvSpPr>
        <p:spPr>
          <a:xfrm>
            <a:off x="5726413" y="2670135"/>
            <a:ext cx="445787" cy="17680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F6B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质控</a:t>
            </a:r>
            <a:endParaRPr lang="en-US" sz="850" dirty="0"/>
          </a:p>
        </p:txBody>
      </p:sp>
      <p:sp>
        <p:nvSpPr>
          <p:cNvPr id="51" name="Text 39"/>
          <p:cNvSpPr/>
          <p:nvPr/>
        </p:nvSpPr>
        <p:spPr>
          <a:xfrm>
            <a:off x="5726413" y="2968386"/>
            <a:ext cx="445787" cy="37605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650" dirty="0">
                <a:solidFill>
                  <a:srgbClr val="1F3B5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检查一致性、边界与安全性</a:t>
            </a:r>
            <a:endParaRPr lang="en-US" sz="650" dirty="0"/>
          </a:p>
        </p:txBody>
      </p:sp>
      <p:sp>
        <p:nvSpPr>
          <p:cNvPr id="52" name="Shape 40"/>
          <p:cNvSpPr/>
          <p:nvPr/>
        </p:nvSpPr>
        <p:spPr>
          <a:xfrm>
            <a:off x="2886075" y="3540601"/>
            <a:ext cx="1038216" cy="557213"/>
          </a:xfrm>
          <a:prstGeom prst="rect">
            <a:avLst/>
          </a:prstGeom>
          <a:solidFill>
            <a:srgbClr val="0B2F6B"/>
          </a:solidFill>
        </p:spPr>
      </p:sp>
      <p:sp>
        <p:nvSpPr>
          <p:cNvPr id="53" name="Text 41"/>
          <p:cNvSpPr/>
          <p:nvPr/>
        </p:nvSpPr>
        <p:spPr>
          <a:xfrm>
            <a:off x="3000375" y="3640613"/>
            <a:ext cx="809616" cy="18752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CFFCB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一致</a:t>
            </a:r>
            <a:endParaRPr lang="en-US" sz="900" dirty="0"/>
          </a:p>
        </p:txBody>
      </p:sp>
      <p:sp>
        <p:nvSpPr>
          <p:cNvPr id="54" name="Text 42"/>
          <p:cNvSpPr/>
          <p:nvPr/>
        </p:nvSpPr>
        <p:spPr>
          <a:xfrm>
            <a:off x="3000375" y="3824287"/>
            <a:ext cx="742950" cy="1253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50" dirty="0">
                <a:solidFill>
                  <a:srgbClr val="F6FA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人设、语气与行为</a:t>
            </a:r>
            <a:endParaRPr lang="en-US" sz="650" dirty="0"/>
          </a:p>
        </p:txBody>
      </p:sp>
      <p:sp>
        <p:nvSpPr>
          <p:cNvPr id="55" name="Text 43"/>
          <p:cNvSpPr/>
          <p:nvPr/>
        </p:nvSpPr>
        <p:spPr>
          <a:xfrm>
            <a:off x="3000375" y="3949439"/>
            <a:ext cx="557213" cy="1253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50" dirty="0">
                <a:solidFill>
                  <a:srgbClr val="F6FA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边界保持稳定</a:t>
            </a:r>
            <a:endParaRPr lang="en-US" sz="650" dirty="0"/>
          </a:p>
        </p:txBody>
      </p:sp>
      <p:sp>
        <p:nvSpPr>
          <p:cNvPr id="56" name="Shape 44"/>
          <p:cNvSpPr/>
          <p:nvPr/>
        </p:nvSpPr>
        <p:spPr>
          <a:xfrm>
            <a:off x="4052878" y="3536314"/>
            <a:ext cx="1038216" cy="557212"/>
          </a:xfrm>
          <a:prstGeom prst="rect">
            <a:avLst/>
          </a:prstGeom>
          <a:solidFill>
            <a:srgbClr val="0B2F6B"/>
          </a:solidFill>
        </p:spPr>
      </p:sp>
      <p:sp>
        <p:nvSpPr>
          <p:cNvPr id="57" name="Text 45"/>
          <p:cNvSpPr/>
          <p:nvPr/>
        </p:nvSpPr>
        <p:spPr>
          <a:xfrm>
            <a:off x="4167178" y="3636327"/>
            <a:ext cx="809616" cy="18752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CFFCB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覆盖</a:t>
            </a:r>
            <a:endParaRPr lang="en-US" sz="900" dirty="0"/>
          </a:p>
        </p:txBody>
      </p:sp>
      <p:sp>
        <p:nvSpPr>
          <p:cNvPr id="58" name="Text 46"/>
          <p:cNvSpPr/>
          <p:nvPr/>
        </p:nvSpPr>
        <p:spPr>
          <a:xfrm>
            <a:off x="4167178" y="3824287"/>
            <a:ext cx="742950" cy="1253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50" dirty="0">
                <a:solidFill>
                  <a:srgbClr val="F6FA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包含常见、边界与</a:t>
            </a:r>
            <a:endParaRPr lang="en-US" sz="650" dirty="0"/>
          </a:p>
        </p:txBody>
      </p:sp>
      <p:sp>
        <p:nvSpPr>
          <p:cNvPr id="59" name="Text 47"/>
          <p:cNvSpPr/>
          <p:nvPr/>
        </p:nvSpPr>
        <p:spPr>
          <a:xfrm>
            <a:off x="4167178" y="3949439"/>
            <a:ext cx="371475" cy="1253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50" dirty="0">
                <a:solidFill>
                  <a:srgbClr val="F6FA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纠偏场景</a:t>
            </a:r>
            <a:endParaRPr lang="en-US" sz="650" dirty="0"/>
          </a:p>
        </p:txBody>
      </p:sp>
      <p:sp>
        <p:nvSpPr>
          <p:cNvPr id="60" name="Shape 48"/>
          <p:cNvSpPr/>
          <p:nvPr/>
        </p:nvSpPr>
        <p:spPr>
          <a:xfrm>
            <a:off x="5219681" y="3536314"/>
            <a:ext cx="1038216" cy="557212"/>
          </a:xfrm>
          <a:prstGeom prst="rect">
            <a:avLst/>
          </a:prstGeom>
          <a:solidFill>
            <a:srgbClr val="0B2F6B"/>
          </a:solidFill>
        </p:spPr>
      </p:sp>
      <p:sp>
        <p:nvSpPr>
          <p:cNvPr id="61" name="Text 49"/>
          <p:cNvSpPr/>
          <p:nvPr/>
        </p:nvSpPr>
        <p:spPr>
          <a:xfrm>
            <a:off x="5333981" y="3636327"/>
            <a:ext cx="809616" cy="18752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CFFCB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可控</a:t>
            </a:r>
            <a:endParaRPr lang="en-US" sz="900" dirty="0"/>
          </a:p>
        </p:txBody>
      </p:sp>
      <p:sp>
        <p:nvSpPr>
          <p:cNvPr id="62" name="Text 50"/>
          <p:cNvSpPr/>
          <p:nvPr/>
        </p:nvSpPr>
        <p:spPr>
          <a:xfrm>
            <a:off x="5346046" y="3824287"/>
            <a:ext cx="742950" cy="1253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50" dirty="0">
                <a:solidFill>
                  <a:srgbClr val="F6FA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合规要求被写入训</a:t>
            </a:r>
            <a:endParaRPr lang="en-US" sz="650" dirty="0"/>
          </a:p>
        </p:txBody>
      </p:sp>
      <p:sp>
        <p:nvSpPr>
          <p:cNvPr id="63" name="Text 51"/>
          <p:cNvSpPr/>
          <p:nvPr/>
        </p:nvSpPr>
        <p:spPr>
          <a:xfrm>
            <a:off x="5333981" y="3949439"/>
            <a:ext cx="278606" cy="1253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50" dirty="0">
                <a:solidFill>
                  <a:srgbClr val="F6FA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练目标</a:t>
            </a:r>
            <a:endParaRPr lang="en-US" sz="650" dirty="0"/>
          </a:p>
        </p:txBody>
      </p:sp>
      <p:sp>
        <p:nvSpPr>
          <p:cNvPr id="64" name="Shape 52"/>
          <p:cNvSpPr/>
          <p:nvPr/>
        </p:nvSpPr>
        <p:spPr>
          <a:xfrm>
            <a:off x="6500813" y="1542672"/>
            <a:ext cx="2143125" cy="2571750"/>
          </a:xfrm>
          <a:prstGeom prst="rect">
            <a:avLst/>
          </a:prstGeom>
          <a:solidFill>
            <a:srgbClr val="123F86"/>
          </a:solidFill>
        </p:spPr>
      </p:sp>
      <p:sp>
        <p:nvSpPr>
          <p:cNvPr id="65" name="Shape 53"/>
          <p:cNvSpPr/>
          <p:nvPr/>
        </p:nvSpPr>
        <p:spPr>
          <a:xfrm>
            <a:off x="6500813" y="1542672"/>
            <a:ext cx="2143125" cy="28575"/>
          </a:xfrm>
          <a:prstGeom prst="rect">
            <a:avLst/>
          </a:prstGeom>
          <a:solidFill>
            <a:srgbClr val="7CFFCB"/>
          </a:solidFill>
        </p:spPr>
      </p:sp>
      <p:pic>
        <p:nvPicPr>
          <p:cNvPr id="66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72263" y="1799038"/>
            <a:ext cx="300038" cy="300038"/>
          </a:xfrm>
          <a:prstGeom prst="rect">
            <a:avLst/>
          </a:prstGeom>
        </p:spPr>
      </p:pic>
      <p:sp>
        <p:nvSpPr>
          <p:cNvPr id="67" name="Text 54"/>
          <p:cNvSpPr/>
          <p:nvPr/>
        </p:nvSpPr>
        <p:spPr>
          <a:xfrm>
            <a:off x="7058025" y="1850495"/>
            <a:ext cx="1414463" cy="19715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b="1" dirty="0">
                <a:solidFill>
                  <a:srgbClr val="F6FA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结构化训练集</a:t>
            </a:r>
            <a:endParaRPr lang="en-US" sz="1150" dirty="0"/>
          </a:p>
        </p:txBody>
      </p:sp>
      <p:pic>
        <p:nvPicPr>
          <p:cNvPr id="68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72263" y="2355469"/>
            <a:ext cx="214313" cy="135731"/>
          </a:xfrm>
          <a:prstGeom prst="rect">
            <a:avLst/>
          </a:prstGeom>
        </p:spPr>
      </p:pic>
      <p:sp>
        <p:nvSpPr>
          <p:cNvPr id="69" name="Text 55"/>
          <p:cNvSpPr/>
          <p:nvPr/>
        </p:nvSpPr>
        <p:spPr>
          <a:xfrm>
            <a:off x="6958013" y="2341182"/>
            <a:ext cx="1514475" cy="16430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6FA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统一样本格式</a:t>
            </a:r>
            <a:endParaRPr lang="en-US" sz="800" dirty="0"/>
          </a:p>
        </p:txBody>
      </p:sp>
      <p:sp>
        <p:nvSpPr>
          <p:cNvPr id="70" name="Text 56"/>
          <p:cNvSpPr/>
          <p:nvPr/>
        </p:nvSpPr>
        <p:spPr>
          <a:xfrm>
            <a:off x="6958013" y="2526919"/>
            <a:ext cx="1514475" cy="14499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750" dirty="0">
                <a:solidFill>
                  <a:srgbClr val="F6FAFF">
                    <a:alpha val="94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让模型明确输入、角色约束与期望</a:t>
            </a:r>
            <a:endParaRPr lang="en-US" sz="750" dirty="0"/>
          </a:p>
        </p:txBody>
      </p:sp>
      <p:sp>
        <p:nvSpPr>
          <p:cNvPr id="71" name="Text 57"/>
          <p:cNvSpPr/>
          <p:nvPr/>
        </p:nvSpPr>
        <p:spPr>
          <a:xfrm>
            <a:off x="6958013" y="2671915"/>
            <a:ext cx="1514475" cy="14499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750" dirty="0">
                <a:solidFill>
                  <a:srgbClr val="F6FAFF">
                    <a:alpha val="94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输出。</a:t>
            </a:r>
            <a:endParaRPr lang="en-US" sz="750" dirty="0"/>
          </a:p>
        </p:txBody>
      </p:sp>
      <p:pic>
        <p:nvPicPr>
          <p:cNvPr id="72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72263" y="2959786"/>
            <a:ext cx="214313" cy="135731"/>
          </a:xfrm>
          <a:prstGeom prst="rect">
            <a:avLst/>
          </a:prstGeom>
        </p:spPr>
      </p:pic>
      <p:sp>
        <p:nvSpPr>
          <p:cNvPr id="73" name="Text 58"/>
          <p:cNvSpPr/>
          <p:nvPr/>
        </p:nvSpPr>
        <p:spPr>
          <a:xfrm>
            <a:off x="6958013" y="2945498"/>
            <a:ext cx="1514475" cy="16430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6FA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稳定风格标签</a:t>
            </a:r>
            <a:endParaRPr lang="en-US" sz="800" dirty="0"/>
          </a:p>
        </p:txBody>
      </p:sp>
      <p:sp>
        <p:nvSpPr>
          <p:cNvPr id="74" name="Text 59"/>
          <p:cNvSpPr/>
          <p:nvPr/>
        </p:nvSpPr>
        <p:spPr>
          <a:xfrm>
            <a:off x="6958013" y="3131236"/>
            <a:ext cx="1514475" cy="14499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750" dirty="0">
                <a:solidFill>
                  <a:srgbClr val="F6FAFF">
                    <a:alpha val="94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把语气、词汇偏好和句式显性化。</a:t>
            </a:r>
            <a:endParaRPr lang="en-US" sz="750" dirty="0"/>
          </a:p>
        </p:txBody>
      </p:sp>
      <p:pic>
        <p:nvPicPr>
          <p:cNvPr id="75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72263" y="3419106"/>
            <a:ext cx="214313" cy="135731"/>
          </a:xfrm>
          <a:prstGeom prst="rect">
            <a:avLst/>
          </a:prstGeom>
        </p:spPr>
      </p:pic>
      <p:sp>
        <p:nvSpPr>
          <p:cNvPr id="76" name="Text 60"/>
          <p:cNvSpPr/>
          <p:nvPr/>
        </p:nvSpPr>
        <p:spPr>
          <a:xfrm>
            <a:off x="6958013" y="3404819"/>
            <a:ext cx="1514475" cy="16430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6FA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边界行为样本</a:t>
            </a:r>
            <a:endParaRPr lang="en-US" sz="800" dirty="0"/>
          </a:p>
        </p:txBody>
      </p:sp>
      <p:sp>
        <p:nvSpPr>
          <p:cNvPr id="77" name="Text 61"/>
          <p:cNvSpPr/>
          <p:nvPr/>
        </p:nvSpPr>
        <p:spPr>
          <a:xfrm>
            <a:off x="6958013" y="3590556"/>
            <a:ext cx="1514475" cy="14499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750" dirty="0">
                <a:solidFill>
                  <a:srgbClr val="F6FAFF">
                    <a:alpha val="94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避免模型只学会表面语气，忽略安</a:t>
            </a:r>
            <a:endParaRPr lang="en-US" sz="750" dirty="0"/>
          </a:p>
        </p:txBody>
      </p:sp>
      <p:sp>
        <p:nvSpPr>
          <p:cNvPr id="78" name="Text 62"/>
          <p:cNvSpPr/>
          <p:nvPr/>
        </p:nvSpPr>
        <p:spPr>
          <a:xfrm>
            <a:off x="6958013" y="3735552"/>
            <a:ext cx="1514475" cy="14499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750" dirty="0">
                <a:solidFill>
                  <a:srgbClr val="F6FAFF">
                    <a:alpha val="94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全规则。</a:t>
            </a:r>
            <a:endParaRPr lang="en-US" sz="750" dirty="0"/>
          </a:p>
        </p:txBody>
      </p:sp>
      <p:sp>
        <p:nvSpPr>
          <p:cNvPr id="79" name="Shape 63"/>
          <p:cNvSpPr/>
          <p:nvPr/>
        </p:nvSpPr>
        <p:spPr>
          <a:xfrm>
            <a:off x="500063" y="4385884"/>
            <a:ext cx="8143875" cy="514350"/>
          </a:xfrm>
          <a:prstGeom prst="rect">
            <a:avLst/>
          </a:prstGeom>
          <a:solidFill>
            <a:srgbClr val="0B2F6B"/>
          </a:solidFill>
        </p:spPr>
      </p:sp>
      <p:pic>
        <p:nvPicPr>
          <p:cNvPr id="80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0088" y="4543047"/>
            <a:ext cx="385763" cy="200025"/>
          </a:xfrm>
          <a:prstGeom prst="rect">
            <a:avLst/>
          </a:prstGeom>
        </p:spPr>
      </p:pic>
      <p:sp>
        <p:nvSpPr>
          <p:cNvPr id="81" name="Text 64"/>
          <p:cNvSpPr/>
          <p:nvPr/>
        </p:nvSpPr>
        <p:spPr>
          <a:xfrm>
            <a:off x="1214438" y="4541791"/>
            <a:ext cx="7186613" cy="20250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F6FA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数据质量决定 LoRA 的学习上限：只有把目标风格整理成高质量样本，模型才能学得准确、稳定、可控。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0063" y="385763"/>
            <a:ext cx="8143875" cy="1232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kern="0" spc="2" dirty="0">
                <a:solidFill>
                  <a:srgbClr val="00A7E1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QLORA TRAINING</a:t>
            </a:r>
            <a:endParaRPr lang="en-US" sz="750" dirty="0"/>
          </a:p>
        </p:txBody>
      </p:sp>
      <p:sp>
        <p:nvSpPr>
          <p:cNvPr id="5" name="Text 1"/>
          <p:cNvSpPr/>
          <p:nvPr/>
        </p:nvSpPr>
        <p:spPr>
          <a:xfrm>
            <a:off x="500063" y="637580"/>
            <a:ext cx="8143875" cy="28658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1700" b="1" dirty="0">
                <a:solidFill>
                  <a:srgbClr val="0B2F6B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QLoRA 进一步降低训练门槛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500063" y="924167"/>
            <a:ext cx="7286625" cy="20287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1F3B5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QLoRA 在 LoRA 基础上引入 4-bit 量化，让基础模型更省显存，同时仍只训练小规模适配层。</a:t>
            </a:r>
            <a:endParaRPr lang="en-US" sz="1050" dirty="0"/>
          </a:p>
        </p:txBody>
      </p:sp>
      <p:sp>
        <p:nvSpPr>
          <p:cNvPr id="7" name="Shape 3"/>
          <p:cNvSpPr/>
          <p:nvPr/>
        </p:nvSpPr>
        <p:spPr>
          <a:xfrm>
            <a:off x="500063" y="1369926"/>
            <a:ext cx="3464719" cy="2728913"/>
          </a:xfrm>
          <a:prstGeom prst="rect">
            <a:avLst/>
          </a:prstGeom>
          <a:solidFill>
            <a:srgbClr val="E7F6FF">
              <a:alpha val="46000"/>
            </a:srgbClr>
          </a:solidFill>
        </p:spPr>
      </p:sp>
      <p:sp>
        <p:nvSpPr>
          <p:cNvPr id="8" name="Shape 4"/>
          <p:cNvSpPr/>
          <p:nvPr/>
        </p:nvSpPr>
        <p:spPr>
          <a:xfrm>
            <a:off x="500063" y="1369926"/>
            <a:ext cx="3464719" cy="28575"/>
          </a:xfrm>
          <a:prstGeom prst="rect">
            <a:avLst/>
          </a:prstGeom>
          <a:solidFill>
            <a:srgbClr val="00A7E1"/>
          </a:solidFill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88" y="1541376"/>
            <a:ext cx="300038" cy="30003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85850" y="1592805"/>
            <a:ext cx="2678906" cy="19715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b="1" dirty="0">
                <a:solidFill>
                  <a:srgbClr val="0B2F6B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基础模型先被量化</a:t>
            </a:r>
            <a:endParaRPr lang="en-US" sz="1150" dirty="0"/>
          </a:p>
        </p:txBody>
      </p:sp>
      <p:sp>
        <p:nvSpPr>
          <p:cNvPr id="11" name="Text 6"/>
          <p:cNvSpPr/>
          <p:nvPr/>
        </p:nvSpPr>
        <p:spPr>
          <a:xfrm>
            <a:off x="700088" y="2055726"/>
            <a:ext cx="914400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B2F6B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常规加载基础模型</a:t>
            </a:r>
            <a:endParaRPr lang="en-US" sz="800" dirty="0"/>
          </a:p>
        </p:txBody>
      </p:sp>
      <p:sp>
        <p:nvSpPr>
          <p:cNvPr id="12" name="Text 7"/>
          <p:cNvSpPr/>
          <p:nvPr/>
        </p:nvSpPr>
        <p:spPr>
          <a:xfrm>
            <a:off x="3228975" y="2060191"/>
            <a:ext cx="535781" cy="15537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0A7E1"/>
                </a:solidFill>
                <a:latin typeface="Noto Sans SC ExtraBold" pitchFamily="34" charset="0"/>
                <a:ea typeface="Noto Sans SC ExtraBold" pitchFamily="34" charset="-122"/>
                <a:cs typeface="Noto Sans SC ExtraBold" pitchFamily="34" charset="-120"/>
              </a:rPr>
              <a:t>显存压力高</a:t>
            </a:r>
            <a:endParaRPr lang="en-US" sz="750" dirty="0"/>
          </a:p>
        </p:txBody>
      </p:sp>
      <p:sp>
        <p:nvSpPr>
          <p:cNvPr id="13" name="Shape 8"/>
          <p:cNvSpPr/>
          <p:nvPr/>
        </p:nvSpPr>
        <p:spPr>
          <a:xfrm>
            <a:off x="700088" y="2291469"/>
            <a:ext cx="3000375" cy="242888"/>
          </a:xfrm>
          <a:prstGeom prst="rect">
            <a:avLst/>
          </a:prstGeom>
          <a:solidFill>
            <a:srgbClr val="0B2F6B">
              <a:alpha val="10000"/>
            </a:srgbClr>
          </a:solidFill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7413" y="2748669"/>
            <a:ext cx="150019" cy="20002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00088" y="3163007"/>
            <a:ext cx="958825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B2F6B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4-bit 量化基础模型</a:t>
            </a:r>
            <a:endParaRPr lang="en-US" sz="800" dirty="0"/>
          </a:p>
        </p:txBody>
      </p:sp>
      <p:sp>
        <p:nvSpPr>
          <p:cNvPr id="16" name="Text 10"/>
          <p:cNvSpPr/>
          <p:nvPr/>
        </p:nvSpPr>
        <p:spPr>
          <a:xfrm>
            <a:off x="3121819" y="3167472"/>
            <a:ext cx="642938" cy="15537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0A7E1"/>
                </a:solidFill>
                <a:latin typeface="Noto Sans SC ExtraBold" pitchFamily="34" charset="0"/>
                <a:ea typeface="Noto Sans SC ExtraBold" pitchFamily="34" charset="-122"/>
                <a:cs typeface="Noto Sans SC ExtraBold" pitchFamily="34" charset="-120"/>
              </a:rPr>
              <a:t>资源占用降低</a:t>
            </a:r>
            <a:endParaRPr lang="en-US" sz="750" dirty="0"/>
          </a:p>
        </p:txBody>
      </p:sp>
      <p:sp>
        <p:nvSpPr>
          <p:cNvPr id="17" name="Shape 11"/>
          <p:cNvSpPr/>
          <p:nvPr/>
        </p:nvSpPr>
        <p:spPr>
          <a:xfrm>
            <a:off x="700088" y="3398751"/>
            <a:ext cx="3000375" cy="242888"/>
          </a:xfrm>
          <a:prstGeom prst="rect">
            <a:avLst/>
          </a:prstGeom>
          <a:solidFill>
            <a:srgbClr val="0B2F6B">
              <a:alpha val="10000"/>
            </a:srgbClr>
          </a:solidFill>
        </p:spPr>
      </p:sp>
      <p:sp>
        <p:nvSpPr>
          <p:cNvPr id="18" name="Shape 12"/>
          <p:cNvSpPr/>
          <p:nvPr/>
        </p:nvSpPr>
        <p:spPr>
          <a:xfrm>
            <a:off x="700088" y="3741651"/>
            <a:ext cx="3064669" cy="500063"/>
          </a:xfrm>
          <a:prstGeom prst="rect">
            <a:avLst/>
          </a:prstGeom>
          <a:solidFill>
            <a:srgbClr val="0B2F6B"/>
          </a:solidFill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675" y="3905957"/>
            <a:ext cx="328613" cy="17145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257300" y="3825953"/>
            <a:ext cx="2378869" cy="33145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b="1" dirty="0">
                <a:solidFill>
                  <a:srgbClr val="F6FA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基础模型保持量化状态，不直接更新主干权重，把训练压力转移到 LoRA 小模块。</a:t>
            </a:r>
            <a:endParaRPr lang="en-US" sz="800" dirty="0"/>
          </a:p>
        </p:txBody>
      </p:sp>
      <p:sp>
        <p:nvSpPr>
          <p:cNvPr id="21" name="Shape 14"/>
          <p:cNvSpPr/>
          <p:nvPr/>
        </p:nvSpPr>
        <p:spPr>
          <a:xfrm>
            <a:off x="4250531" y="1369926"/>
            <a:ext cx="4393406" cy="2728913"/>
          </a:xfrm>
          <a:prstGeom prst="rect">
            <a:avLst/>
          </a:prstGeom>
          <a:solidFill>
            <a:srgbClr val="123F86"/>
          </a:solidFill>
        </p:spPr>
      </p:sp>
      <p:sp>
        <p:nvSpPr>
          <p:cNvPr id="22" name="Shape 15"/>
          <p:cNvSpPr/>
          <p:nvPr/>
        </p:nvSpPr>
        <p:spPr>
          <a:xfrm>
            <a:off x="4250531" y="1369926"/>
            <a:ext cx="4393406" cy="28575"/>
          </a:xfrm>
          <a:prstGeom prst="rect">
            <a:avLst/>
          </a:prstGeom>
          <a:solidFill>
            <a:srgbClr val="7CFFCB"/>
          </a:solidFill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4844" y="1541376"/>
            <a:ext cx="300038" cy="30003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4850606" y="1592805"/>
            <a:ext cx="3579019" cy="19715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b="1" dirty="0">
                <a:solidFill>
                  <a:srgbClr val="F6FA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训练只发生在适配层</a:t>
            </a:r>
            <a:endParaRPr lang="en-US" sz="1150" dirty="0"/>
          </a:p>
        </p:txBody>
      </p:sp>
      <p:sp>
        <p:nvSpPr>
          <p:cNvPr id="25" name="Shape 17"/>
          <p:cNvSpPr/>
          <p:nvPr/>
        </p:nvSpPr>
        <p:spPr>
          <a:xfrm>
            <a:off x="4464844" y="2027151"/>
            <a:ext cx="1150144" cy="1271588"/>
          </a:xfrm>
          <a:prstGeom prst="rect">
            <a:avLst/>
          </a:prstGeom>
          <a:solidFill>
            <a:srgbClr val="F6FAFF">
              <a:alpha val="8000"/>
            </a:srgbClr>
          </a:solidFill>
        </p:spPr>
      </p:sp>
      <p:sp>
        <p:nvSpPr>
          <p:cNvPr id="26" name="Shape 18"/>
          <p:cNvSpPr/>
          <p:nvPr/>
        </p:nvSpPr>
        <p:spPr>
          <a:xfrm>
            <a:off x="4464844" y="2027151"/>
            <a:ext cx="1150144" cy="21431"/>
          </a:xfrm>
          <a:prstGeom prst="rect">
            <a:avLst/>
          </a:prstGeom>
          <a:solidFill>
            <a:srgbClr val="7CFFCB"/>
          </a:solidFill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3431" y="2170026"/>
            <a:ext cx="225028" cy="200025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4593431" y="2471849"/>
            <a:ext cx="892969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b="1" dirty="0">
                <a:solidFill>
                  <a:srgbClr val="F6FA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量化底座</a:t>
            </a:r>
            <a:endParaRPr lang="en-US" sz="1000" dirty="0"/>
          </a:p>
        </p:txBody>
      </p:sp>
      <p:sp>
        <p:nvSpPr>
          <p:cNvPr id="29" name="Text 20"/>
          <p:cNvSpPr/>
          <p:nvPr/>
        </p:nvSpPr>
        <p:spPr>
          <a:xfrm>
            <a:off x="4593431" y="2714737"/>
            <a:ext cx="892969" cy="57998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750" dirty="0">
                <a:solidFill>
                  <a:srgbClr val="D7F6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大模型以低位宽表示加载，减少显存占用，让实验更容易启动。</a:t>
            </a:r>
            <a:endParaRPr lang="en-US" sz="750" dirty="0"/>
          </a:p>
        </p:txBody>
      </p:sp>
      <p:sp>
        <p:nvSpPr>
          <p:cNvPr id="30" name="Shape 21"/>
          <p:cNvSpPr/>
          <p:nvPr/>
        </p:nvSpPr>
        <p:spPr>
          <a:xfrm>
            <a:off x="5614988" y="2655801"/>
            <a:ext cx="257175" cy="14288"/>
          </a:xfrm>
          <a:prstGeom prst="rect">
            <a:avLst/>
          </a:prstGeom>
          <a:solidFill>
            <a:srgbClr val="7CFFCB"/>
          </a:solidFill>
        </p:spPr>
      </p:sp>
      <p:sp>
        <p:nvSpPr>
          <p:cNvPr id="31" name="Shape 22"/>
          <p:cNvSpPr/>
          <p:nvPr/>
        </p:nvSpPr>
        <p:spPr>
          <a:xfrm>
            <a:off x="5872163" y="2027151"/>
            <a:ext cx="1150144" cy="1271588"/>
          </a:xfrm>
          <a:prstGeom prst="rect">
            <a:avLst/>
          </a:prstGeom>
          <a:solidFill>
            <a:srgbClr val="F6FAFF">
              <a:alpha val="8000"/>
            </a:srgbClr>
          </a:solidFill>
        </p:spPr>
      </p:sp>
      <p:sp>
        <p:nvSpPr>
          <p:cNvPr id="32" name="Shape 23"/>
          <p:cNvSpPr/>
          <p:nvPr/>
        </p:nvSpPr>
        <p:spPr>
          <a:xfrm>
            <a:off x="5872163" y="2027151"/>
            <a:ext cx="1150144" cy="21431"/>
          </a:xfrm>
          <a:prstGeom prst="rect">
            <a:avLst/>
          </a:prstGeom>
          <a:solidFill>
            <a:srgbClr val="7CFFCB"/>
          </a:solidFill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0750" y="2170026"/>
            <a:ext cx="175022" cy="200025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000750" y="2471849"/>
            <a:ext cx="892969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b="1" dirty="0">
                <a:solidFill>
                  <a:srgbClr val="F6FA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冻结主干</a:t>
            </a:r>
            <a:endParaRPr lang="en-US" sz="1000" dirty="0"/>
          </a:p>
        </p:txBody>
      </p:sp>
      <p:sp>
        <p:nvSpPr>
          <p:cNvPr id="35" name="Text 25"/>
          <p:cNvSpPr/>
          <p:nvPr/>
        </p:nvSpPr>
        <p:spPr>
          <a:xfrm>
            <a:off x="6000750" y="2714737"/>
            <a:ext cx="892969" cy="4349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750" dirty="0">
                <a:solidFill>
                  <a:srgbClr val="D7F6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原模型能力被保留，训练过程主要不改写基础权重。</a:t>
            </a:r>
            <a:endParaRPr lang="en-US" sz="750" dirty="0"/>
          </a:p>
        </p:txBody>
      </p:sp>
      <p:sp>
        <p:nvSpPr>
          <p:cNvPr id="36" name="Shape 26"/>
          <p:cNvSpPr/>
          <p:nvPr/>
        </p:nvSpPr>
        <p:spPr>
          <a:xfrm>
            <a:off x="7022306" y="2655801"/>
            <a:ext cx="257175" cy="14288"/>
          </a:xfrm>
          <a:prstGeom prst="rect">
            <a:avLst/>
          </a:prstGeom>
          <a:solidFill>
            <a:srgbClr val="7CFFCB"/>
          </a:solidFill>
        </p:spPr>
      </p:sp>
      <p:sp>
        <p:nvSpPr>
          <p:cNvPr id="37" name="Shape 27"/>
          <p:cNvSpPr/>
          <p:nvPr/>
        </p:nvSpPr>
        <p:spPr>
          <a:xfrm>
            <a:off x="7279481" y="2027151"/>
            <a:ext cx="1150144" cy="1271588"/>
          </a:xfrm>
          <a:prstGeom prst="rect">
            <a:avLst/>
          </a:prstGeom>
          <a:solidFill>
            <a:srgbClr val="F6FAFF">
              <a:alpha val="8000"/>
            </a:srgbClr>
          </a:solidFill>
        </p:spPr>
      </p:sp>
      <p:sp>
        <p:nvSpPr>
          <p:cNvPr id="38" name="Shape 28"/>
          <p:cNvSpPr/>
          <p:nvPr/>
        </p:nvSpPr>
        <p:spPr>
          <a:xfrm>
            <a:off x="7279481" y="2027151"/>
            <a:ext cx="1150144" cy="21431"/>
          </a:xfrm>
          <a:prstGeom prst="rect">
            <a:avLst/>
          </a:prstGeom>
          <a:solidFill>
            <a:srgbClr val="7CFFCB"/>
          </a:solidFill>
        </p:spPr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08069" y="2170026"/>
            <a:ext cx="150019" cy="200025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7408069" y="2471849"/>
            <a:ext cx="892969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b="1" dirty="0">
                <a:solidFill>
                  <a:srgbClr val="F6FA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训练 LoRA</a:t>
            </a:r>
            <a:endParaRPr lang="en-US" sz="1000" dirty="0"/>
          </a:p>
        </p:txBody>
      </p:sp>
      <p:sp>
        <p:nvSpPr>
          <p:cNvPr id="41" name="Text 30"/>
          <p:cNvSpPr/>
          <p:nvPr/>
        </p:nvSpPr>
        <p:spPr>
          <a:xfrm>
            <a:off x="7408069" y="2714737"/>
            <a:ext cx="892969" cy="4349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750" dirty="0">
                <a:solidFill>
                  <a:srgbClr val="D7F6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只更新少量低秩参数，学习目标风格与任务偏好。</a:t>
            </a:r>
            <a:endParaRPr lang="en-US" sz="750" dirty="0"/>
          </a:p>
        </p:txBody>
      </p:sp>
      <p:sp>
        <p:nvSpPr>
          <p:cNvPr id="42" name="Text 31"/>
          <p:cNvSpPr/>
          <p:nvPr/>
        </p:nvSpPr>
        <p:spPr>
          <a:xfrm>
            <a:off x="4464844" y="3498763"/>
            <a:ext cx="1214438" cy="4918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b="1" dirty="0">
                <a:solidFill>
                  <a:srgbClr val="7CFFCB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Loss 曲线下降</a:t>
            </a:r>
            <a:r>
              <a:rPr lang="en-US" sz="850" b="1" dirty="0">
                <a:solidFill>
                  <a:srgbClr val="7CFFCB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
</a:t>
            </a:r>
            <a:r>
              <a:rPr lang="en-US" sz="850" b="1" dirty="0">
                <a:solidFill>
                  <a:srgbClr val="7CFFCB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表示模型正在靠近目标</a:t>
            </a:r>
            <a:r>
              <a:rPr lang="en-US" sz="850" b="1" dirty="0">
                <a:solidFill>
                  <a:srgbClr val="7CFFCB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风格</a:t>
            </a:r>
            <a:endParaRPr lang="en-US" sz="850" dirty="0"/>
          </a:p>
        </p:txBody>
      </p:sp>
      <p:sp>
        <p:nvSpPr>
          <p:cNvPr id="43" name="Shape 32"/>
          <p:cNvSpPr/>
          <p:nvPr/>
        </p:nvSpPr>
        <p:spPr>
          <a:xfrm>
            <a:off x="5822156" y="3519636"/>
            <a:ext cx="2607469" cy="450056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4" name="Shape 33"/>
          <p:cNvSpPr/>
          <p:nvPr/>
        </p:nvSpPr>
        <p:spPr>
          <a:xfrm>
            <a:off x="5822156" y="3519636"/>
            <a:ext cx="2607469" cy="7144"/>
          </a:xfrm>
          <a:prstGeom prst="rect">
            <a:avLst/>
          </a:prstGeom>
          <a:solidFill>
            <a:srgbClr val="FDFEFF"/>
          </a:solidFill>
        </p:spPr>
      </p:sp>
      <p:sp>
        <p:nvSpPr>
          <p:cNvPr id="45" name="Shape 34"/>
          <p:cNvSpPr/>
          <p:nvPr/>
        </p:nvSpPr>
        <p:spPr>
          <a:xfrm>
            <a:off x="5822156" y="3519636"/>
            <a:ext cx="14288" cy="450056"/>
          </a:xfrm>
          <a:prstGeom prst="rect">
            <a:avLst/>
          </a:prstGeom>
          <a:solidFill>
            <a:srgbClr val="F9FCFF"/>
          </a:solidFill>
        </p:spPr>
      </p:sp>
      <p:sp>
        <p:nvSpPr>
          <p:cNvPr id="46" name="Shape 35"/>
          <p:cNvSpPr/>
          <p:nvPr/>
        </p:nvSpPr>
        <p:spPr>
          <a:xfrm>
            <a:off x="500063" y="4370301"/>
            <a:ext cx="8143875" cy="514350"/>
          </a:xfrm>
          <a:prstGeom prst="rect">
            <a:avLst/>
          </a:prstGeom>
          <a:solidFill>
            <a:srgbClr val="0B2F6B"/>
          </a:solidFill>
        </p:spPr>
      </p:sp>
      <p:pic>
        <p:nvPicPr>
          <p:cNvPr id="47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0088" y="4527463"/>
            <a:ext cx="385763" cy="200025"/>
          </a:xfrm>
          <a:prstGeom prst="rect">
            <a:avLst/>
          </a:prstGeom>
        </p:spPr>
      </p:pic>
      <p:sp>
        <p:nvSpPr>
          <p:cNvPr id="48" name="Text 36"/>
          <p:cNvSpPr/>
          <p:nvPr/>
        </p:nvSpPr>
        <p:spPr>
          <a:xfrm>
            <a:off x="1214438" y="4526207"/>
            <a:ext cx="7186613" cy="20250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F6FA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QLoRA 把“大模型风格适配”从高门槛训练，推进到</a:t>
            </a:r>
            <a:r>
              <a:rPr lang="en-US" sz="1050" b="1" dirty="0">
                <a:solidFill>
                  <a:srgbClr val="7CFFCB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个人电脑、普通显卡和小团队实验</a:t>
            </a:r>
            <a:r>
              <a:rPr lang="en-US" sz="1050" b="1" dirty="0">
                <a:solidFill>
                  <a:srgbClr val="F6FA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也更容易尝试的阶段。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0063" y="385763"/>
            <a:ext cx="8143875" cy="1232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kern="0" spc="2" dirty="0">
                <a:solidFill>
                  <a:srgbClr val="00A7E1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METHOD COMPARISON</a:t>
            </a:r>
            <a:endParaRPr lang="en-US" sz="750" dirty="0"/>
          </a:p>
        </p:txBody>
      </p:sp>
      <p:sp>
        <p:nvSpPr>
          <p:cNvPr id="5" name="Text 1"/>
          <p:cNvSpPr/>
          <p:nvPr/>
        </p:nvSpPr>
        <p:spPr>
          <a:xfrm>
            <a:off x="500063" y="666155"/>
            <a:ext cx="8143875" cy="28658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1700" b="1" dirty="0">
                <a:solidFill>
                  <a:srgbClr val="0B2F6B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三种微调方式各有边界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500063" y="924167"/>
            <a:ext cx="6429375" cy="20287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1F3B5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选择微调方式时，关键不是追求单一最优，而是匹配任务深度、资源条件与迭代频率。</a:t>
            </a:r>
            <a:endParaRPr lang="en-US" sz="1050" dirty="0"/>
          </a:p>
        </p:txBody>
      </p:sp>
      <p:sp>
        <p:nvSpPr>
          <p:cNvPr id="7" name="Shape 3"/>
          <p:cNvSpPr/>
          <p:nvPr/>
        </p:nvSpPr>
        <p:spPr>
          <a:xfrm>
            <a:off x="6215063" y="385763"/>
            <a:ext cx="1928813" cy="657225"/>
          </a:xfrm>
          <a:prstGeom prst="rect">
            <a:avLst/>
          </a:prstGeom>
          <a:solidFill>
            <a:srgbClr val="FFFFFF">
              <a:alpha val="82000"/>
            </a:srgbClr>
          </a:solidFill>
        </p:spPr>
      </p:sp>
      <p:sp>
        <p:nvSpPr>
          <p:cNvPr id="8" name="Shape 4"/>
          <p:cNvSpPr/>
          <p:nvPr/>
        </p:nvSpPr>
        <p:spPr>
          <a:xfrm>
            <a:off x="6215063" y="385763"/>
            <a:ext cx="1928813" cy="28575"/>
          </a:xfrm>
          <a:prstGeom prst="rect">
            <a:avLst/>
          </a:prstGeom>
          <a:solidFill>
            <a:srgbClr val="00A7E1"/>
          </a:solidFill>
        </p:spPr>
      </p:sp>
      <p:sp>
        <p:nvSpPr>
          <p:cNvPr id="9" name="Text 5"/>
          <p:cNvSpPr/>
          <p:nvPr/>
        </p:nvSpPr>
        <p:spPr>
          <a:xfrm>
            <a:off x="6343650" y="478631"/>
            <a:ext cx="1671638" cy="18752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2F6B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选择逻辑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6343650" y="859036"/>
            <a:ext cx="835819" cy="12501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1F3B57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深度改造</a:t>
            </a:r>
            <a:endParaRPr lang="en-US" sz="600" dirty="0"/>
          </a:p>
        </p:txBody>
      </p:sp>
      <p:sp>
        <p:nvSpPr>
          <p:cNvPr id="11" name="Text 7"/>
          <p:cNvSpPr/>
          <p:nvPr/>
        </p:nvSpPr>
        <p:spPr>
          <a:xfrm>
            <a:off x="7179469" y="859036"/>
            <a:ext cx="835819" cy="12501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1F3B57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轻量适配</a:t>
            </a:r>
            <a:endParaRPr lang="en-US" sz="600" dirty="0"/>
          </a:p>
        </p:txBody>
      </p:sp>
      <p:sp>
        <p:nvSpPr>
          <p:cNvPr id="12" name="Shape 8"/>
          <p:cNvSpPr/>
          <p:nvPr/>
        </p:nvSpPr>
        <p:spPr>
          <a:xfrm>
            <a:off x="500063" y="1369926"/>
            <a:ext cx="8143875" cy="2957513"/>
          </a:xfrm>
          <a:prstGeom prst="rect">
            <a:avLst/>
          </a:prstGeom>
          <a:solidFill>
            <a:srgbClr val="FFFFFF">
              <a:alpha val="90000"/>
            </a:srgbClr>
          </a:solidFill>
        </p:spPr>
      </p:sp>
      <p:sp>
        <p:nvSpPr>
          <p:cNvPr id="13" name="Shape 9"/>
          <p:cNvSpPr/>
          <p:nvPr/>
        </p:nvSpPr>
        <p:spPr>
          <a:xfrm>
            <a:off x="500063" y="1369926"/>
            <a:ext cx="1357313" cy="385763"/>
          </a:xfrm>
          <a:prstGeom prst="rect">
            <a:avLst/>
          </a:prstGeom>
          <a:solidFill>
            <a:srgbClr val="0B2F6B"/>
          </a:solidFill>
        </p:spPr>
      </p:sp>
      <p:sp>
        <p:nvSpPr>
          <p:cNvPr id="14" name="Shape 10"/>
          <p:cNvSpPr/>
          <p:nvPr/>
        </p:nvSpPr>
        <p:spPr>
          <a:xfrm>
            <a:off x="1850231" y="1369926"/>
            <a:ext cx="7144" cy="385763"/>
          </a:xfrm>
          <a:prstGeom prst="rect">
            <a:avLst/>
          </a:prstGeom>
          <a:solidFill>
            <a:srgbClr val="FDFEFF"/>
          </a:solidFill>
        </p:spPr>
      </p:sp>
      <p:sp>
        <p:nvSpPr>
          <p:cNvPr id="15" name="Text 11"/>
          <p:cNvSpPr/>
          <p:nvPr/>
        </p:nvSpPr>
        <p:spPr>
          <a:xfrm>
            <a:off x="500063" y="1369926"/>
            <a:ext cx="1357313" cy="385763"/>
          </a:xfrm>
          <a:prstGeom prst="rect">
            <a:avLst/>
          </a:prstGeom>
          <a:noFill/>
        </p:spPr>
        <p:txBody>
          <a:bodyPr wrap="square" lIns="153035" tIns="8509" rIns="102108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6FA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对比维度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1857375" y="1369926"/>
            <a:ext cx="2214563" cy="385763"/>
          </a:xfrm>
          <a:prstGeom prst="rect">
            <a:avLst/>
          </a:prstGeom>
          <a:solidFill>
            <a:srgbClr val="0B2F6B"/>
          </a:solidFill>
        </p:spPr>
      </p:sp>
      <p:sp>
        <p:nvSpPr>
          <p:cNvPr id="17" name="Shape 13"/>
          <p:cNvSpPr/>
          <p:nvPr/>
        </p:nvSpPr>
        <p:spPr>
          <a:xfrm>
            <a:off x="4064794" y="1369926"/>
            <a:ext cx="7144" cy="385763"/>
          </a:xfrm>
          <a:prstGeom prst="rect">
            <a:avLst/>
          </a:prstGeom>
          <a:solidFill>
            <a:srgbClr val="FDFEFF"/>
          </a:solidFill>
        </p:spPr>
      </p:sp>
      <p:sp>
        <p:nvSpPr>
          <p:cNvPr id="18" name="Text 14"/>
          <p:cNvSpPr/>
          <p:nvPr/>
        </p:nvSpPr>
        <p:spPr>
          <a:xfrm>
            <a:off x="2743200" y="1444935"/>
            <a:ext cx="485775" cy="1357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6FA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全量微调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1985963" y="1611027"/>
            <a:ext cx="2000250" cy="9822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dirty="0">
                <a:solidFill>
                  <a:srgbClr val="BFEFFF"/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  <a:cs typeface="Noto Sans SC Medium" panose="020B0200000000000000" pitchFamily="34" charset="-120"/>
              </a:rPr>
              <a:t>Full Fine-tuning</a:t>
            </a:r>
            <a:endParaRPr lang="en-US" sz="600" dirty="0"/>
          </a:p>
        </p:txBody>
      </p:sp>
      <p:sp>
        <p:nvSpPr>
          <p:cNvPr id="20" name="Shape 16"/>
          <p:cNvSpPr/>
          <p:nvPr/>
        </p:nvSpPr>
        <p:spPr>
          <a:xfrm>
            <a:off x="4071938" y="1369926"/>
            <a:ext cx="2286000" cy="385763"/>
          </a:xfrm>
          <a:prstGeom prst="rect">
            <a:avLst/>
          </a:prstGeom>
          <a:solidFill>
            <a:srgbClr val="0B2F6B"/>
          </a:solidFill>
        </p:spPr>
      </p:sp>
      <p:sp>
        <p:nvSpPr>
          <p:cNvPr id="21" name="Shape 17"/>
          <p:cNvSpPr/>
          <p:nvPr/>
        </p:nvSpPr>
        <p:spPr>
          <a:xfrm>
            <a:off x="6350794" y="1369926"/>
            <a:ext cx="7144" cy="385763"/>
          </a:xfrm>
          <a:prstGeom prst="rect">
            <a:avLst/>
          </a:prstGeom>
          <a:solidFill>
            <a:srgbClr val="FDFEFF"/>
          </a:solidFill>
        </p:spPr>
      </p:sp>
      <p:sp>
        <p:nvSpPr>
          <p:cNvPr id="22" name="Text 18"/>
          <p:cNvSpPr/>
          <p:nvPr/>
        </p:nvSpPr>
        <p:spPr>
          <a:xfrm>
            <a:off x="5074462" y="1433326"/>
            <a:ext cx="323785" cy="1357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6FA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LoRA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4200525" y="1592275"/>
            <a:ext cx="2071688" cy="9822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dirty="0">
                <a:solidFill>
                  <a:srgbClr val="BFEFFF"/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  <a:cs typeface="Noto Sans SC Medium" panose="020B0200000000000000" pitchFamily="34" charset="-120"/>
              </a:rPr>
              <a:t>Low-Rank Adaptation</a:t>
            </a:r>
            <a:endParaRPr lang="en-US" sz="600" dirty="0"/>
          </a:p>
        </p:txBody>
      </p:sp>
      <p:sp>
        <p:nvSpPr>
          <p:cNvPr id="24" name="Shape 20"/>
          <p:cNvSpPr/>
          <p:nvPr/>
        </p:nvSpPr>
        <p:spPr>
          <a:xfrm>
            <a:off x="6357938" y="1369926"/>
            <a:ext cx="2286000" cy="385763"/>
          </a:xfrm>
          <a:prstGeom prst="rect">
            <a:avLst/>
          </a:prstGeom>
          <a:solidFill>
            <a:srgbClr val="0B2F6B"/>
          </a:solidFill>
        </p:spPr>
      </p:sp>
      <p:sp>
        <p:nvSpPr>
          <p:cNvPr id="25" name="Text 21"/>
          <p:cNvSpPr/>
          <p:nvPr/>
        </p:nvSpPr>
        <p:spPr>
          <a:xfrm>
            <a:off x="7313247" y="1433326"/>
            <a:ext cx="418244" cy="1357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6FA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QLoRA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6486525" y="1592275"/>
            <a:ext cx="2071688" cy="9822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dirty="0">
                <a:solidFill>
                  <a:srgbClr val="BFEFFF"/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  <a:cs typeface="Noto Sans SC Medium" panose="020B0200000000000000" pitchFamily="34" charset="-120"/>
              </a:rPr>
              <a:t>Quantized LoRA</a:t>
            </a:r>
            <a:endParaRPr lang="en-US" sz="600" dirty="0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942151"/>
            <a:ext cx="185738" cy="12858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814388" y="1940365"/>
            <a:ext cx="642938" cy="14287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0B2F6B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可训练参数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1989534" y="1878555"/>
            <a:ext cx="1978819" cy="1542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b="1" dirty="0">
                <a:solidFill>
                  <a:srgbClr val="0B2F6B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几乎全部参数</a:t>
            </a:r>
            <a:endParaRPr lang="en-US" sz="800" dirty="0"/>
          </a:p>
        </p:txBody>
      </p:sp>
      <p:sp>
        <p:nvSpPr>
          <p:cNvPr id="30" name="Shape 25"/>
          <p:cNvSpPr/>
          <p:nvPr/>
        </p:nvSpPr>
        <p:spPr>
          <a:xfrm>
            <a:off x="4071938" y="1755688"/>
            <a:ext cx="2286000" cy="514350"/>
          </a:xfrm>
          <a:prstGeom prst="rect">
            <a:avLst/>
          </a:prstGeom>
          <a:solidFill>
            <a:srgbClr val="FFFFFF">
              <a:alpha val="88000"/>
            </a:srgbClr>
          </a:solidFill>
        </p:spPr>
      </p:sp>
      <p:sp>
        <p:nvSpPr>
          <p:cNvPr id="31" name="Shape 26"/>
          <p:cNvSpPr/>
          <p:nvPr/>
        </p:nvSpPr>
        <p:spPr>
          <a:xfrm>
            <a:off x="4071938" y="1755688"/>
            <a:ext cx="2286000" cy="7144"/>
          </a:xfrm>
          <a:prstGeom prst="rect">
            <a:avLst/>
          </a:prstGeom>
          <a:solidFill>
            <a:srgbClr val="D8DEE7"/>
          </a:solidFill>
        </p:spPr>
      </p:sp>
      <p:sp>
        <p:nvSpPr>
          <p:cNvPr id="32" name="Shape 27"/>
          <p:cNvSpPr/>
          <p:nvPr/>
        </p:nvSpPr>
        <p:spPr>
          <a:xfrm>
            <a:off x="6350794" y="1755688"/>
            <a:ext cx="7144" cy="514350"/>
          </a:xfrm>
          <a:prstGeom prst="rect">
            <a:avLst/>
          </a:prstGeom>
          <a:solidFill>
            <a:srgbClr val="E2E6ED"/>
          </a:solidFill>
        </p:spPr>
      </p:sp>
      <p:sp>
        <p:nvSpPr>
          <p:cNvPr id="33" name="Text 28"/>
          <p:cNvSpPr/>
          <p:nvPr/>
        </p:nvSpPr>
        <p:spPr>
          <a:xfrm>
            <a:off x="4204097" y="1876769"/>
            <a:ext cx="2053828" cy="1542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b="1" dirty="0">
                <a:solidFill>
                  <a:srgbClr val="00A7E1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少量新增参数</a:t>
            </a:r>
            <a:endParaRPr lang="en-US" sz="800" dirty="0"/>
          </a:p>
        </p:txBody>
      </p:sp>
      <p:sp>
        <p:nvSpPr>
          <p:cNvPr id="34" name="Shape 29"/>
          <p:cNvSpPr/>
          <p:nvPr/>
        </p:nvSpPr>
        <p:spPr>
          <a:xfrm>
            <a:off x="6357938" y="1755688"/>
            <a:ext cx="2286000" cy="514350"/>
          </a:xfrm>
          <a:prstGeom prst="rect">
            <a:avLst/>
          </a:prstGeom>
          <a:solidFill>
            <a:srgbClr val="FFFFFF">
              <a:alpha val="88000"/>
            </a:srgbClr>
          </a:solidFill>
        </p:spPr>
      </p:sp>
      <p:sp>
        <p:nvSpPr>
          <p:cNvPr id="35" name="Shape 30"/>
          <p:cNvSpPr/>
          <p:nvPr/>
        </p:nvSpPr>
        <p:spPr>
          <a:xfrm>
            <a:off x="6357938" y="1755688"/>
            <a:ext cx="2286000" cy="7144"/>
          </a:xfrm>
          <a:prstGeom prst="rect">
            <a:avLst/>
          </a:prstGeom>
          <a:solidFill>
            <a:srgbClr val="D8DEE7"/>
          </a:solidFill>
        </p:spPr>
      </p:sp>
      <p:sp>
        <p:nvSpPr>
          <p:cNvPr id="36" name="Text 31"/>
          <p:cNvSpPr/>
          <p:nvPr/>
        </p:nvSpPr>
        <p:spPr>
          <a:xfrm>
            <a:off x="6486525" y="1876769"/>
            <a:ext cx="2057400" cy="1542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b="1" dirty="0">
                <a:solidFill>
                  <a:srgbClr val="00A7E1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少量新增参数</a:t>
            </a:r>
            <a:endParaRPr lang="en-US" sz="800" dirty="0"/>
          </a:p>
        </p:txBody>
      </p:sp>
      <p:pic>
        <p:nvPicPr>
          <p:cNvPr id="3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2456501"/>
            <a:ext cx="185738" cy="128588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814388" y="2454715"/>
            <a:ext cx="514350" cy="14287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0B2F6B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显存占用</a:t>
            </a:r>
            <a:endParaRPr lang="en-US" sz="900" dirty="0"/>
          </a:p>
        </p:txBody>
      </p:sp>
      <p:sp>
        <p:nvSpPr>
          <p:cNvPr id="39" name="Text 33"/>
          <p:cNvSpPr/>
          <p:nvPr/>
        </p:nvSpPr>
        <p:spPr>
          <a:xfrm>
            <a:off x="1989534" y="2392905"/>
            <a:ext cx="1978819" cy="1542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b="1" dirty="0">
                <a:solidFill>
                  <a:srgbClr val="0B2F6B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高</a:t>
            </a:r>
            <a:endParaRPr lang="en-US" sz="800" dirty="0"/>
          </a:p>
        </p:txBody>
      </p:sp>
      <p:sp>
        <p:nvSpPr>
          <p:cNvPr id="40" name="Text 34"/>
          <p:cNvSpPr/>
          <p:nvPr/>
        </p:nvSpPr>
        <p:spPr>
          <a:xfrm>
            <a:off x="4204097" y="2392905"/>
            <a:ext cx="2050256" cy="1542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b="1" dirty="0">
                <a:solidFill>
                  <a:srgbClr val="0B2F6B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中低</a:t>
            </a:r>
            <a:endParaRPr lang="en-US" sz="800" dirty="0"/>
          </a:p>
        </p:txBody>
      </p:sp>
      <p:sp>
        <p:nvSpPr>
          <p:cNvPr id="41" name="Shape 35"/>
          <p:cNvSpPr/>
          <p:nvPr/>
        </p:nvSpPr>
        <p:spPr>
          <a:xfrm>
            <a:off x="6357938" y="2270038"/>
            <a:ext cx="2286000" cy="514350"/>
          </a:xfrm>
          <a:prstGeom prst="rect">
            <a:avLst/>
          </a:prstGeom>
          <a:solidFill>
            <a:srgbClr val="FFFFFF">
              <a:alpha val="88000"/>
            </a:srgbClr>
          </a:solidFill>
        </p:spPr>
      </p:sp>
      <p:sp>
        <p:nvSpPr>
          <p:cNvPr id="42" name="Shape 36"/>
          <p:cNvSpPr/>
          <p:nvPr/>
        </p:nvSpPr>
        <p:spPr>
          <a:xfrm>
            <a:off x="6357938" y="2270038"/>
            <a:ext cx="2286000" cy="7144"/>
          </a:xfrm>
          <a:prstGeom prst="rect">
            <a:avLst/>
          </a:prstGeom>
          <a:solidFill>
            <a:srgbClr val="D8DEE7"/>
          </a:solidFill>
        </p:spPr>
      </p:sp>
      <p:sp>
        <p:nvSpPr>
          <p:cNvPr id="43" name="Text 37"/>
          <p:cNvSpPr/>
          <p:nvPr/>
        </p:nvSpPr>
        <p:spPr>
          <a:xfrm>
            <a:off x="6490097" y="2391119"/>
            <a:ext cx="2053828" cy="1542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b="1" dirty="0">
                <a:solidFill>
                  <a:srgbClr val="00A7E1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更低</a:t>
            </a:r>
            <a:endParaRPr lang="en-US" sz="800" dirty="0"/>
          </a:p>
        </p:txBody>
      </p:sp>
      <p:pic>
        <p:nvPicPr>
          <p:cNvPr id="4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2970851"/>
            <a:ext cx="185738" cy="128588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814388" y="2969065"/>
            <a:ext cx="514350" cy="14287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0B2F6B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训练速度</a:t>
            </a:r>
            <a:endParaRPr lang="en-US" sz="900" dirty="0"/>
          </a:p>
        </p:txBody>
      </p:sp>
      <p:sp>
        <p:nvSpPr>
          <p:cNvPr id="46" name="Text 39"/>
          <p:cNvSpPr/>
          <p:nvPr/>
        </p:nvSpPr>
        <p:spPr>
          <a:xfrm>
            <a:off x="1989534" y="2842961"/>
            <a:ext cx="1978819" cy="1542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b="1" dirty="0">
                <a:solidFill>
                  <a:srgbClr val="0B2F6B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慢</a:t>
            </a:r>
            <a:endParaRPr lang="en-US" sz="800" dirty="0"/>
          </a:p>
        </p:txBody>
      </p:sp>
      <p:sp>
        <p:nvSpPr>
          <p:cNvPr id="47" name="Shape 40"/>
          <p:cNvSpPr/>
          <p:nvPr/>
        </p:nvSpPr>
        <p:spPr>
          <a:xfrm>
            <a:off x="1989534" y="3082975"/>
            <a:ext cx="557213" cy="157163"/>
          </a:xfrm>
          <a:prstGeom prst="rect">
            <a:avLst/>
          </a:prstGeom>
          <a:solidFill>
            <a:srgbClr val="0B2F6B"/>
          </a:solidFill>
        </p:spPr>
      </p:sp>
      <p:sp>
        <p:nvSpPr>
          <p:cNvPr id="48" name="Text 41"/>
          <p:cNvSpPr/>
          <p:nvPr/>
        </p:nvSpPr>
        <p:spPr>
          <a:xfrm>
            <a:off x="1989534" y="3082975"/>
            <a:ext cx="557213" cy="157163"/>
          </a:xfrm>
          <a:prstGeom prst="rect">
            <a:avLst/>
          </a:prstGeom>
          <a:noFill/>
        </p:spPr>
        <p:txBody>
          <a:bodyPr wrap="none" lIns="76581" tIns="34036" rIns="76581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00" b="1" dirty="0">
                <a:solidFill>
                  <a:srgbClr val="F6FAFF"/>
                </a:solidFill>
                <a:latin typeface="Noto Sans SC ExtraBold" pitchFamily="34" charset="0"/>
                <a:ea typeface="Noto Sans SC ExtraBold" pitchFamily="34" charset="-122"/>
                <a:cs typeface="Noto Sans SC ExtraBold" pitchFamily="34" charset="-120"/>
              </a:rPr>
              <a:t>重训练链路</a:t>
            </a:r>
            <a:endParaRPr lang="en-US" sz="600" dirty="0"/>
          </a:p>
        </p:txBody>
      </p:sp>
      <p:sp>
        <p:nvSpPr>
          <p:cNvPr id="49" name="Text 42"/>
          <p:cNvSpPr/>
          <p:nvPr/>
        </p:nvSpPr>
        <p:spPr>
          <a:xfrm>
            <a:off x="4204097" y="2842961"/>
            <a:ext cx="2050256" cy="1542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b="1" dirty="0">
                <a:solidFill>
                  <a:srgbClr val="00A7E1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较快</a:t>
            </a:r>
            <a:endParaRPr lang="en-US" sz="800" dirty="0"/>
          </a:p>
        </p:txBody>
      </p:sp>
      <p:sp>
        <p:nvSpPr>
          <p:cNvPr id="50" name="Shape 43"/>
          <p:cNvSpPr/>
          <p:nvPr/>
        </p:nvSpPr>
        <p:spPr>
          <a:xfrm>
            <a:off x="4204097" y="3082975"/>
            <a:ext cx="557213" cy="157163"/>
          </a:xfrm>
          <a:prstGeom prst="rect">
            <a:avLst/>
          </a:prstGeom>
          <a:solidFill>
            <a:srgbClr val="00A7E1"/>
          </a:solidFill>
        </p:spPr>
      </p:sp>
      <p:sp>
        <p:nvSpPr>
          <p:cNvPr id="51" name="Text 44"/>
          <p:cNvSpPr/>
          <p:nvPr/>
        </p:nvSpPr>
        <p:spPr>
          <a:xfrm>
            <a:off x="4204097" y="3082975"/>
            <a:ext cx="557213" cy="157163"/>
          </a:xfrm>
          <a:prstGeom prst="rect">
            <a:avLst/>
          </a:prstGeom>
          <a:noFill/>
        </p:spPr>
        <p:txBody>
          <a:bodyPr wrap="none" lIns="76581" tIns="34036" rIns="76581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00" b="1" dirty="0">
                <a:solidFill>
                  <a:srgbClr val="F6FAFF"/>
                </a:solidFill>
                <a:latin typeface="Noto Sans SC ExtraBold" pitchFamily="34" charset="0"/>
                <a:ea typeface="Noto Sans SC ExtraBold" pitchFamily="34" charset="-122"/>
                <a:cs typeface="Noto Sans SC ExtraBold" pitchFamily="34" charset="-120"/>
              </a:rPr>
              <a:t>适配层训练</a:t>
            </a:r>
            <a:endParaRPr lang="en-US" sz="600" dirty="0"/>
          </a:p>
        </p:txBody>
      </p:sp>
      <p:sp>
        <p:nvSpPr>
          <p:cNvPr id="52" name="Shape 45"/>
          <p:cNvSpPr/>
          <p:nvPr/>
        </p:nvSpPr>
        <p:spPr>
          <a:xfrm>
            <a:off x="6357938" y="2784388"/>
            <a:ext cx="2286000" cy="514350"/>
          </a:xfrm>
          <a:prstGeom prst="rect">
            <a:avLst/>
          </a:prstGeom>
          <a:solidFill>
            <a:srgbClr val="FFFFFF">
              <a:alpha val="88000"/>
            </a:srgbClr>
          </a:solidFill>
        </p:spPr>
      </p:sp>
      <p:sp>
        <p:nvSpPr>
          <p:cNvPr id="53" name="Shape 46"/>
          <p:cNvSpPr/>
          <p:nvPr/>
        </p:nvSpPr>
        <p:spPr>
          <a:xfrm>
            <a:off x="6357938" y="2784388"/>
            <a:ext cx="2286000" cy="7144"/>
          </a:xfrm>
          <a:prstGeom prst="rect">
            <a:avLst/>
          </a:prstGeom>
          <a:solidFill>
            <a:srgbClr val="D8DEE7"/>
          </a:solidFill>
        </p:spPr>
      </p:sp>
      <p:sp>
        <p:nvSpPr>
          <p:cNvPr id="54" name="Text 47"/>
          <p:cNvSpPr/>
          <p:nvPr/>
        </p:nvSpPr>
        <p:spPr>
          <a:xfrm>
            <a:off x="6490097" y="2841175"/>
            <a:ext cx="2053828" cy="1542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b="1" dirty="0">
                <a:solidFill>
                  <a:srgbClr val="00A7E1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较快且省资源</a:t>
            </a:r>
            <a:endParaRPr lang="en-US" sz="800" dirty="0"/>
          </a:p>
        </p:txBody>
      </p:sp>
      <p:sp>
        <p:nvSpPr>
          <p:cNvPr id="55" name="Shape 48"/>
          <p:cNvSpPr/>
          <p:nvPr/>
        </p:nvSpPr>
        <p:spPr>
          <a:xfrm>
            <a:off x="6490097" y="3081189"/>
            <a:ext cx="471488" cy="157163"/>
          </a:xfrm>
          <a:prstGeom prst="rect">
            <a:avLst/>
          </a:prstGeom>
          <a:solidFill>
            <a:srgbClr val="7CFFCB"/>
          </a:solidFill>
        </p:spPr>
      </p:sp>
      <p:sp>
        <p:nvSpPr>
          <p:cNvPr id="56" name="Text 49"/>
          <p:cNvSpPr/>
          <p:nvPr/>
        </p:nvSpPr>
        <p:spPr>
          <a:xfrm>
            <a:off x="6490097" y="3081189"/>
            <a:ext cx="471488" cy="157163"/>
          </a:xfrm>
          <a:prstGeom prst="rect">
            <a:avLst/>
          </a:prstGeom>
          <a:noFill/>
        </p:spPr>
        <p:txBody>
          <a:bodyPr wrap="none" lIns="76581" tIns="34036" rIns="76581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00" b="1" dirty="0">
                <a:solidFill>
                  <a:srgbClr val="0B2F6B"/>
                </a:solidFill>
                <a:latin typeface="Noto Sans SC ExtraBold" pitchFamily="34" charset="0"/>
                <a:ea typeface="Noto Sans SC ExtraBold" pitchFamily="34" charset="-122"/>
                <a:cs typeface="Noto Sans SC ExtraBold" pitchFamily="34" charset="-120"/>
              </a:rPr>
              <a:t>量化底座</a:t>
            </a:r>
            <a:endParaRPr lang="en-US" sz="600" dirty="0"/>
          </a:p>
        </p:txBody>
      </p:sp>
      <p:pic>
        <p:nvPicPr>
          <p:cNvPr id="5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3485201"/>
            <a:ext cx="185738" cy="128588"/>
          </a:xfrm>
          <a:prstGeom prst="rect">
            <a:avLst/>
          </a:prstGeom>
        </p:spPr>
      </p:pic>
      <p:sp>
        <p:nvSpPr>
          <p:cNvPr id="58" name="Text 50"/>
          <p:cNvSpPr/>
          <p:nvPr/>
        </p:nvSpPr>
        <p:spPr>
          <a:xfrm>
            <a:off x="814388" y="3483415"/>
            <a:ext cx="514350" cy="14287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0B2F6B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遗忘风险</a:t>
            </a:r>
            <a:endParaRPr lang="en-US" sz="900" dirty="0"/>
          </a:p>
        </p:txBody>
      </p:sp>
      <p:sp>
        <p:nvSpPr>
          <p:cNvPr id="59" name="Text 51"/>
          <p:cNvSpPr/>
          <p:nvPr/>
        </p:nvSpPr>
        <p:spPr>
          <a:xfrm>
            <a:off x="1989534" y="3381422"/>
            <a:ext cx="1978819" cy="1542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b="1" dirty="0">
                <a:solidFill>
                  <a:srgbClr val="0B2F6B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较高</a:t>
            </a:r>
            <a:endParaRPr lang="en-US" sz="800" dirty="0"/>
          </a:p>
        </p:txBody>
      </p:sp>
      <p:sp>
        <p:nvSpPr>
          <p:cNvPr id="60" name="Text 52"/>
          <p:cNvSpPr/>
          <p:nvPr/>
        </p:nvSpPr>
        <p:spPr>
          <a:xfrm>
            <a:off x="1989534" y="3598218"/>
            <a:ext cx="1393031" cy="11965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dirty="0">
                <a:solidFill>
                  <a:srgbClr val="1F3B5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原有能力可能被新任务扰动。</a:t>
            </a:r>
            <a:endParaRPr lang="en-US" sz="800" dirty="0"/>
          </a:p>
        </p:txBody>
      </p:sp>
      <p:sp>
        <p:nvSpPr>
          <p:cNvPr id="61" name="Shape 53"/>
          <p:cNvSpPr/>
          <p:nvPr/>
        </p:nvSpPr>
        <p:spPr>
          <a:xfrm>
            <a:off x="4071938" y="3298738"/>
            <a:ext cx="2286000" cy="514350"/>
          </a:xfrm>
          <a:prstGeom prst="rect">
            <a:avLst/>
          </a:prstGeom>
          <a:solidFill>
            <a:srgbClr val="FFFFFF">
              <a:alpha val="88000"/>
            </a:srgbClr>
          </a:solidFill>
        </p:spPr>
      </p:sp>
      <p:sp>
        <p:nvSpPr>
          <p:cNvPr id="62" name="Shape 54"/>
          <p:cNvSpPr/>
          <p:nvPr/>
        </p:nvSpPr>
        <p:spPr>
          <a:xfrm>
            <a:off x="4071938" y="3298738"/>
            <a:ext cx="2286000" cy="7144"/>
          </a:xfrm>
          <a:prstGeom prst="rect">
            <a:avLst/>
          </a:prstGeom>
          <a:solidFill>
            <a:srgbClr val="D8DEE7"/>
          </a:solidFill>
        </p:spPr>
      </p:sp>
      <p:sp>
        <p:nvSpPr>
          <p:cNvPr id="63" name="Shape 55"/>
          <p:cNvSpPr/>
          <p:nvPr/>
        </p:nvSpPr>
        <p:spPr>
          <a:xfrm>
            <a:off x="6350794" y="3298738"/>
            <a:ext cx="7144" cy="514350"/>
          </a:xfrm>
          <a:prstGeom prst="rect">
            <a:avLst/>
          </a:prstGeom>
          <a:solidFill>
            <a:srgbClr val="E2E6ED"/>
          </a:solidFill>
        </p:spPr>
      </p:sp>
      <p:sp>
        <p:nvSpPr>
          <p:cNvPr id="64" name="Text 56"/>
          <p:cNvSpPr/>
          <p:nvPr/>
        </p:nvSpPr>
        <p:spPr>
          <a:xfrm>
            <a:off x="4204097" y="3379636"/>
            <a:ext cx="2053828" cy="1542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b="1" dirty="0">
                <a:solidFill>
                  <a:srgbClr val="00A7E1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较低</a:t>
            </a:r>
            <a:endParaRPr lang="en-US" sz="800" dirty="0"/>
          </a:p>
        </p:txBody>
      </p:sp>
      <p:sp>
        <p:nvSpPr>
          <p:cNvPr id="65" name="Text 57"/>
          <p:cNvSpPr/>
          <p:nvPr/>
        </p:nvSpPr>
        <p:spPr>
          <a:xfrm>
            <a:off x="4204097" y="3596432"/>
            <a:ext cx="1500188" cy="11965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dirty="0">
                <a:solidFill>
                  <a:srgbClr val="1F3B5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冻结主干权重，主要学习增量。</a:t>
            </a:r>
            <a:endParaRPr lang="en-US" sz="800" dirty="0"/>
          </a:p>
        </p:txBody>
      </p:sp>
      <p:sp>
        <p:nvSpPr>
          <p:cNvPr id="66" name="Shape 58"/>
          <p:cNvSpPr/>
          <p:nvPr/>
        </p:nvSpPr>
        <p:spPr>
          <a:xfrm>
            <a:off x="6357938" y="3298738"/>
            <a:ext cx="2286000" cy="514350"/>
          </a:xfrm>
          <a:prstGeom prst="rect">
            <a:avLst/>
          </a:prstGeom>
          <a:solidFill>
            <a:srgbClr val="FFFFFF">
              <a:alpha val="88000"/>
            </a:srgbClr>
          </a:solidFill>
        </p:spPr>
      </p:sp>
      <p:sp>
        <p:nvSpPr>
          <p:cNvPr id="67" name="Shape 59"/>
          <p:cNvSpPr/>
          <p:nvPr/>
        </p:nvSpPr>
        <p:spPr>
          <a:xfrm>
            <a:off x="6357938" y="3298738"/>
            <a:ext cx="2286000" cy="7144"/>
          </a:xfrm>
          <a:prstGeom prst="rect">
            <a:avLst/>
          </a:prstGeom>
          <a:solidFill>
            <a:srgbClr val="D8DEE7"/>
          </a:solidFill>
        </p:spPr>
      </p:sp>
      <p:sp>
        <p:nvSpPr>
          <p:cNvPr id="68" name="Text 60"/>
          <p:cNvSpPr/>
          <p:nvPr/>
        </p:nvSpPr>
        <p:spPr>
          <a:xfrm>
            <a:off x="6486525" y="3379636"/>
            <a:ext cx="2057400" cy="1542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b="1" dirty="0">
                <a:solidFill>
                  <a:srgbClr val="00A7E1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较低</a:t>
            </a:r>
            <a:endParaRPr lang="en-US" sz="800" dirty="0"/>
          </a:p>
        </p:txBody>
      </p:sp>
      <p:sp>
        <p:nvSpPr>
          <p:cNvPr id="69" name="Text 61"/>
          <p:cNvSpPr/>
          <p:nvPr/>
        </p:nvSpPr>
        <p:spPr>
          <a:xfrm>
            <a:off x="6486525" y="3596432"/>
            <a:ext cx="1393254" cy="11965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dirty="0">
                <a:solidFill>
                  <a:srgbClr val="1F3B5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继承 LoRA 低风险适配特点。</a:t>
            </a:r>
            <a:endParaRPr lang="en-US" sz="800" dirty="0"/>
          </a:p>
        </p:txBody>
      </p:sp>
      <p:pic>
        <p:nvPicPr>
          <p:cNvPr id="7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" y="4001337"/>
            <a:ext cx="185738" cy="128588"/>
          </a:xfrm>
          <a:prstGeom prst="rect">
            <a:avLst/>
          </a:prstGeom>
        </p:spPr>
      </p:pic>
      <p:sp>
        <p:nvSpPr>
          <p:cNvPr id="71" name="Text 62"/>
          <p:cNvSpPr/>
          <p:nvPr/>
        </p:nvSpPr>
        <p:spPr>
          <a:xfrm>
            <a:off x="814388" y="3999551"/>
            <a:ext cx="514350" cy="14287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0B2F6B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适用场景</a:t>
            </a:r>
            <a:endParaRPr lang="en-US" sz="900" dirty="0"/>
          </a:p>
        </p:txBody>
      </p:sp>
      <p:sp>
        <p:nvSpPr>
          <p:cNvPr id="72" name="Text 63"/>
          <p:cNvSpPr/>
          <p:nvPr/>
        </p:nvSpPr>
        <p:spPr>
          <a:xfrm>
            <a:off x="1989534" y="3897557"/>
            <a:ext cx="1978819" cy="1542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b="1" dirty="0">
                <a:solidFill>
                  <a:srgbClr val="0B2F6B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大规模深度改造</a:t>
            </a:r>
            <a:endParaRPr lang="en-US" sz="800" dirty="0"/>
          </a:p>
        </p:txBody>
      </p:sp>
      <p:sp>
        <p:nvSpPr>
          <p:cNvPr id="73" name="Text 64"/>
          <p:cNvSpPr/>
          <p:nvPr/>
        </p:nvSpPr>
        <p:spPr>
          <a:xfrm>
            <a:off x="1989534" y="4114354"/>
            <a:ext cx="1821656" cy="11965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dirty="0">
                <a:solidFill>
                  <a:srgbClr val="1F3B5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适合资源充足、目标变化较大的训练。</a:t>
            </a:r>
            <a:endParaRPr lang="en-US" sz="800" dirty="0"/>
          </a:p>
        </p:txBody>
      </p:sp>
      <p:sp>
        <p:nvSpPr>
          <p:cNvPr id="74" name="Shape 65"/>
          <p:cNvSpPr/>
          <p:nvPr/>
        </p:nvSpPr>
        <p:spPr>
          <a:xfrm>
            <a:off x="4071938" y="3813088"/>
            <a:ext cx="2286000" cy="514350"/>
          </a:xfrm>
          <a:prstGeom prst="rect">
            <a:avLst/>
          </a:prstGeom>
          <a:solidFill>
            <a:srgbClr val="FFFFFF">
              <a:alpha val="88000"/>
            </a:srgbClr>
          </a:solidFill>
        </p:spPr>
      </p:sp>
      <p:sp>
        <p:nvSpPr>
          <p:cNvPr id="75" name="Shape 66"/>
          <p:cNvSpPr/>
          <p:nvPr/>
        </p:nvSpPr>
        <p:spPr>
          <a:xfrm>
            <a:off x="4071938" y="3813088"/>
            <a:ext cx="2286000" cy="7144"/>
          </a:xfrm>
          <a:prstGeom prst="rect">
            <a:avLst/>
          </a:prstGeom>
          <a:solidFill>
            <a:srgbClr val="D8DEE7"/>
          </a:solidFill>
        </p:spPr>
      </p:sp>
      <p:sp>
        <p:nvSpPr>
          <p:cNvPr id="76" name="Shape 67"/>
          <p:cNvSpPr/>
          <p:nvPr/>
        </p:nvSpPr>
        <p:spPr>
          <a:xfrm>
            <a:off x="6350794" y="3813088"/>
            <a:ext cx="7144" cy="514350"/>
          </a:xfrm>
          <a:prstGeom prst="rect">
            <a:avLst/>
          </a:prstGeom>
          <a:solidFill>
            <a:srgbClr val="E2E6ED"/>
          </a:solidFill>
        </p:spPr>
      </p:sp>
      <p:sp>
        <p:nvSpPr>
          <p:cNvPr id="77" name="Text 68"/>
          <p:cNvSpPr/>
          <p:nvPr/>
        </p:nvSpPr>
        <p:spPr>
          <a:xfrm>
            <a:off x="4204097" y="3895772"/>
            <a:ext cx="2053828" cy="1542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b="1" dirty="0">
                <a:solidFill>
                  <a:srgbClr val="00A7E1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风格学习与任务适配</a:t>
            </a:r>
            <a:endParaRPr lang="en-US" sz="800" dirty="0"/>
          </a:p>
        </p:txBody>
      </p:sp>
      <p:sp>
        <p:nvSpPr>
          <p:cNvPr id="78" name="Text 69"/>
          <p:cNvSpPr/>
          <p:nvPr/>
        </p:nvSpPr>
        <p:spPr>
          <a:xfrm>
            <a:off x="4204097" y="4112568"/>
            <a:ext cx="1821656" cy="11965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dirty="0">
                <a:solidFill>
                  <a:srgbClr val="1F3B5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适合角色语气、领域表达和快速迭代。</a:t>
            </a:r>
            <a:endParaRPr lang="en-US" sz="800" dirty="0"/>
          </a:p>
        </p:txBody>
      </p:sp>
      <p:sp>
        <p:nvSpPr>
          <p:cNvPr id="79" name="Shape 70"/>
          <p:cNvSpPr/>
          <p:nvPr/>
        </p:nvSpPr>
        <p:spPr>
          <a:xfrm>
            <a:off x="6357938" y="3813088"/>
            <a:ext cx="2286000" cy="514350"/>
          </a:xfrm>
          <a:prstGeom prst="rect">
            <a:avLst/>
          </a:prstGeom>
          <a:solidFill>
            <a:srgbClr val="FFFFFF">
              <a:alpha val="88000"/>
            </a:srgbClr>
          </a:solidFill>
        </p:spPr>
      </p:sp>
      <p:sp>
        <p:nvSpPr>
          <p:cNvPr id="80" name="Shape 71"/>
          <p:cNvSpPr/>
          <p:nvPr/>
        </p:nvSpPr>
        <p:spPr>
          <a:xfrm>
            <a:off x="6357938" y="3813088"/>
            <a:ext cx="2286000" cy="7144"/>
          </a:xfrm>
          <a:prstGeom prst="rect">
            <a:avLst/>
          </a:prstGeom>
          <a:solidFill>
            <a:srgbClr val="D8DEE7"/>
          </a:solidFill>
        </p:spPr>
      </p:sp>
      <p:sp>
        <p:nvSpPr>
          <p:cNvPr id="81" name="Text 72"/>
          <p:cNvSpPr/>
          <p:nvPr/>
        </p:nvSpPr>
        <p:spPr>
          <a:xfrm>
            <a:off x="6486525" y="3895772"/>
            <a:ext cx="2057400" cy="1542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b="1" dirty="0">
                <a:solidFill>
                  <a:srgbClr val="00A7E1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资源有限的风格适配</a:t>
            </a:r>
            <a:endParaRPr lang="en-US" sz="800" dirty="0"/>
          </a:p>
        </p:txBody>
      </p:sp>
      <p:sp>
        <p:nvSpPr>
          <p:cNvPr id="82" name="Text 73"/>
          <p:cNvSpPr/>
          <p:nvPr/>
        </p:nvSpPr>
        <p:spPr>
          <a:xfrm>
            <a:off x="6486525" y="4112568"/>
            <a:ext cx="1821656" cy="11965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dirty="0">
                <a:solidFill>
                  <a:srgbClr val="1F3B5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适合普通显卡、小团队和低成本实验。</a:t>
            </a:r>
            <a:endParaRPr lang="en-US" sz="800" dirty="0"/>
          </a:p>
        </p:txBody>
      </p:sp>
      <p:sp>
        <p:nvSpPr>
          <p:cNvPr id="83" name="Shape 74"/>
          <p:cNvSpPr/>
          <p:nvPr/>
        </p:nvSpPr>
        <p:spPr>
          <a:xfrm>
            <a:off x="500063" y="4570326"/>
            <a:ext cx="8143875" cy="542925"/>
          </a:xfrm>
          <a:prstGeom prst="rect">
            <a:avLst/>
          </a:prstGeom>
          <a:solidFill>
            <a:srgbClr val="0B2F6B"/>
          </a:solidFill>
        </p:spPr>
      </p:sp>
      <p:pic>
        <p:nvPicPr>
          <p:cNvPr id="8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088" y="4738204"/>
            <a:ext cx="414338" cy="207169"/>
          </a:xfrm>
          <a:prstGeom prst="rect">
            <a:avLst/>
          </a:prstGeom>
        </p:spPr>
      </p:pic>
      <p:sp>
        <p:nvSpPr>
          <p:cNvPr id="85" name="Text 75"/>
          <p:cNvSpPr/>
          <p:nvPr/>
        </p:nvSpPr>
        <p:spPr>
          <a:xfrm>
            <a:off x="1243013" y="4648907"/>
            <a:ext cx="5057775" cy="3857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F6FA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LoRA 与 QLoRA 在保持效果的同时显著降低训练成本，更适合频繁迭代的个性化任务。</a:t>
            </a:r>
            <a:endParaRPr lang="en-US" sz="1000" dirty="0"/>
          </a:p>
        </p:txBody>
      </p:sp>
      <p:sp>
        <p:nvSpPr>
          <p:cNvPr id="86" name="Text 76"/>
          <p:cNvSpPr/>
          <p:nvPr/>
        </p:nvSpPr>
        <p:spPr>
          <a:xfrm>
            <a:off x="6429375" y="4706950"/>
            <a:ext cx="2000250" cy="2696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1300" b="1" kern="0" spc="1" dirty="0">
                <a:solidFill>
                  <a:srgbClr val="7CFFCB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效果 · 成本 · 稳定性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8434" name="内容占位符 3"/>
          <p:cNvPicPr>
            <a:picLocks noGrp="1"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835" y="0"/>
            <a:ext cx="6489065" cy="513143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0063" y="385763"/>
            <a:ext cx="8143875" cy="1232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kern="0" spc="2" dirty="0">
                <a:solidFill>
                  <a:srgbClr val="00A7E1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FINAL INSIGHT</a:t>
            </a:r>
            <a:endParaRPr lang="en-US" sz="750" dirty="0"/>
          </a:p>
        </p:txBody>
      </p:sp>
      <p:sp>
        <p:nvSpPr>
          <p:cNvPr id="5" name="Text 1"/>
          <p:cNvSpPr/>
          <p:nvPr/>
        </p:nvSpPr>
        <p:spPr>
          <a:xfrm>
            <a:off x="500063" y="656630"/>
            <a:ext cx="8143875" cy="28658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1700" b="1" dirty="0">
                <a:solidFill>
                  <a:srgbClr val="0B2F6B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小参数也能发挥大作用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500063" y="924167"/>
            <a:ext cx="7000875" cy="20287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1F3B5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高效适配的关键，不是把全部能力重新训练一遍，而是明确分工、压缩变化、学习关键增量。</a:t>
            </a:r>
            <a:endParaRPr lang="en-US" sz="1050" dirty="0"/>
          </a:p>
        </p:txBody>
      </p:sp>
      <p:sp>
        <p:nvSpPr>
          <p:cNvPr id="7" name="Shape 3"/>
          <p:cNvSpPr/>
          <p:nvPr/>
        </p:nvSpPr>
        <p:spPr>
          <a:xfrm>
            <a:off x="500063" y="1398501"/>
            <a:ext cx="2214563" cy="2143125"/>
          </a:xfrm>
          <a:prstGeom prst="rect">
            <a:avLst/>
          </a:prstGeom>
          <a:solidFill>
            <a:srgbClr val="E7F6FF">
              <a:alpha val="46000"/>
            </a:srgbClr>
          </a:solidFill>
        </p:spPr>
      </p:sp>
      <p:sp>
        <p:nvSpPr>
          <p:cNvPr id="8" name="Shape 4"/>
          <p:cNvSpPr/>
          <p:nvPr/>
        </p:nvSpPr>
        <p:spPr>
          <a:xfrm>
            <a:off x="500063" y="1398501"/>
            <a:ext cx="2214563" cy="28575"/>
          </a:xfrm>
          <a:prstGeom prst="rect">
            <a:avLst/>
          </a:prstGeom>
          <a:solidFill>
            <a:srgbClr val="00A7E1"/>
          </a:solidFill>
        </p:spPr>
      </p:sp>
      <p:sp>
        <p:nvSpPr>
          <p:cNvPr id="9" name="Shape 5"/>
          <p:cNvSpPr/>
          <p:nvPr/>
        </p:nvSpPr>
        <p:spPr>
          <a:xfrm>
            <a:off x="685800" y="1584238"/>
            <a:ext cx="385763" cy="385763"/>
          </a:xfrm>
          <a:prstGeom prst="rect">
            <a:avLst/>
          </a:prstGeom>
          <a:solidFill>
            <a:srgbClr val="0B2F6B"/>
          </a:solidFill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384" y="1687823"/>
            <a:ext cx="178594" cy="17859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85800" y="2112876"/>
            <a:ext cx="1857375" cy="21431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b="1" dirty="0">
                <a:solidFill>
                  <a:srgbClr val="0B2F6B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大模型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685800" y="2412913"/>
            <a:ext cx="1857375" cy="18752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A7E1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负责“广度”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685800" y="2707593"/>
            <a:ext cx="1857375" cy="50790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00" dirty="0">
                <a:solidFill>
                  <a:srgbClr val="1F3B5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提供知识储备、语言理解、通用推理和多任务泛化能力，是个性化适配的稳定基础。</a:t>
            </a:r>
            <a:endParaRPr lang="en-US" sz="800" dirty="0"/>
          </a:p>
        </p:txBody>
      </p:sp>
      <p:sp>
        <p:nvSpPr>
          <p:cNvPr id="14" name="Shape 9"/>
          <p:cNvSpPr/>
          <p:nvPr/>
        </p:nvSpPr>
        <p:spPr>
          <a:xfrm>
            <a:off x="2957513" y="1398501"/>
            <a:ext cx="3228975" cy="2143125"/>
          </a:xfrm>
          <a:prstGeom prst="rect">
            <a:avLst/>
          </a:prstGeom>
          <a:solidFill>
            <a:srgbClr val="0B2F6B"/>
          </a:solidFill>
        </p:spPr>
      </p:sp>
      <p:sp>
        <p:nvSpPr>
          <p:cNvPr id="15" name="Shape 10"/>
          <p:cNvSpPr/>
          <p:nvPr/>
        </p:nvSpPr>
        <p:spPr>
          <a:xfrm>
            <a:off x="2957513" y="1398501"/>
            <a:ext cx="3228975" cy="28575"/>
          </a:xfrm>
          <a:prstGeom prst="rect">
            <a:avLst/>
          </a:prstGeom>
          <a:solidFill>
            <a:srgbClr val="7CFFCB"/>
          </a:solidFill>
        </p:spPr>
      </p:sp>
      <p:sp>
        <p:nvSpPr>
          <p:cNvPr id="16" name="Text 11"/>
          <p:cNvSpPr/>
          <p:nvPr/>
        </p:nvSpPr>
        <p:spPr>
          <a:xfrm>
            <a:off x="3496866" y="1826707"/>
            <a:ext cx="2150269" cy="13930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b="1" kern="0" spc="2" dirty="0">
                <a:solidFill>
                  <a:srgbClr val="7CFFCB"/>
                </a:solidFill>
                <a:latin typeface="Noto Sans SC ExtraBold" pitchFamily="34" charset="0"/>
                <a:ea typeface="Noto Sans SC ExtraBold" pitchFamily="34" charset="-122"/>
                <a:cs typeface="Noto Sans SC ExtraBold" pitchFamily="34" charset="-120"/>
              </a:rPr>
              <a:t>LIGHTWEIGHT ADAPTATION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3496866" y="2080310"/>
            <a:ext cx="2150269" cy="70806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2100" b="1" kern="0" spc="1" dirty="0">
                <a:solidFill>
                  <a:srgbClr val="F6FA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只学习真正</a:t>
            </a:r>
            <a:r>
              <a:rPr lang="en-US" sz="2100" b="1" kern="0" spc="1" dirty="0">
                <a:solidFill>
                  <a:srgbClr val="F6FA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
</a:t>
            </a:r>
            <a:r>
              <a:rPr lang="en-US" sz="2100" b="1" kern="0" spc="1" dirty="0">
                <a:solidFill>
                  <a:srgbClr val="F6FA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需要改变的部分</a:t>
            </a:r>
            <a:endParaRPr lang="en-US" sz="2100" dirty="0"/>
          </a:p>
        </p:txBody>
      </p:sp>
      <p:sp>
        <p:nvSpPr>
          <p:cNvPr id="18" name="Text 13"/>
          <p:cNvSpPr/>
          <p:nvPr/>
        </p:nvSpPr>
        <p:spPr>
          <a:xfrm>
            <a:off x="3496866" y="2931254"/>
            <a:ext cx="2150269" cy="1821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7F6FF"/>
                </a:solidFill>
                <a:latin typeface="Noto Sans SC ExtraBold" pitchFamily="34" charset="0"/>
                <a:ea typeface="Noto Sans SC ExtraBold" pitchFamily="34" charset="-122"/>
                <a:cs typeface="Noto Sans SC ExtraBold" pitchFamily="34" charset="-120"/>
              </a:rPr>
              <a:t>W′ = W + B × A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29375" y="1398501"/>
            <a:ext cx="2214563" cy="2143125"/>
          </a:xfrm>
          <a:prstGeom prst="rect">
            <a:avLst/>
          </a:prstGeom>
          <a:solidFill>
            <a:srgbClr val="123F86"/>
          </a:solidFill>
        </p:spPr>
      </p:sp>
      <p:sp>
        <p:nvSpPr>
          <p:cNvPr id="20" name="Shape 15"/>
          <p:cNvSpPr/>
          <p:nvPr/>
        </p:nvSpPr>
        <p:spPr>
          <a:xfrm>
            <a:off x="6429375" y="1398501"/>
            <a:ext cx="2214563" cy="28575"/>
          </a:xfrm>
          <a:prstGeom prst="rect">
            <a:avLst/>
          </a:prstGeom>
          <a:solidFill>
            <a:srgbClr val="7CFFCB"/>
          </a:solidFill>
        </p:spPr>
      </p:sp>
      <p:sp>
        <p:nvSpPr>
          <p:cNvPr id="21" name="Shape 16"/>
          <p:cNvSpPr/>
          <p:nvPr/>
        </p:nvSpPr>
        <p:spPr>
          <a:xfrm>
            <a:off x="6615113" y="1584238"/>
            <a:ext cx="385763" cy="385763"/>
          </a:xfrm>
          <a:prstGeom prst="rect">
            <a:avLst/>
          </a:prstGeom>
          <a:solidFill>
            <a:srgbClr val="7CFFCB"/>
          </a:solidFill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1021" y="1687823"/>
            <a:ext cx="133945" cy="17859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615113" y="2112876"/>
            <a:ext cx="1857375" cy="21431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b="1" dirty="0">
                <a:solidFill>
                  <a:srgbClr val="F6FA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LoRA / QLoRA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6615113" y="2412913"/>
            <a:ext cx="1857375" cy="18752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CFFCB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负责“深度”与“门槛”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6615113" y="2707593"/>
            <a:ext cx="1857375" cy="50790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00" dirty="0">
                <a:solidFill>
                  <a:srgbClr val="F6FA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LoRA 学习角色、语气与任务偏好；QLoRA 通过量化降低硬件成本，让实验更容易落地。</a:t>
            </a:r>
            <a:endParaRPr lang="en-US" sz="800" dirty="0"/>
          </a:p>
        </p:txBody>
      </p:sp>
      <p:sp>
        <p:nvSpPr>
          <p:cNvPr id="26" name="Shape 20"/>
          <p:cNvSpPr/>
          <p:nvPr/>
        </p:nvSpPr>
        <p:spPr>
          <a:xfrm>
            <a:off x="500063" y="4070263"/>
            <a:ext cx="8143875" cy="800100"/>
          </a:xfrm>
          <a:prstGeom prst="rect">
            <a:avLst/>
          </a:prstGeom>
          <a:solidFill>
            <a:srgbClr val="0B2F6B"/>
          </a:solidFill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4348869"/>
            <a:ext cx="500063" cy="24288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371600" y="4230998"/>
            <a:ext cx="5229225" cy="47863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250" b="1" dirty="0">
                <a:solidFill>
                  <a:srgbClr val="7CFFCB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LoRA 将风格适配从</a:t>
            </a:r>
            <a:r>
              <a:rPr lang="en-US" sz="1250" b="1" dirty="0">
                <a:solidFill>
                  <a:srgbClr val="7CFFCB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重训练</a:t>
            </a:r>
            <a:r>
              <a:rPr lang="en-US" sz="1250" b="1" dirty="0">
                <a:solidFill>
                  <a:srgbClr val="7CFFCB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转向</a:t>
            </a:r>
            <a:r>
              <a:rPr lang="en-US" sz="1250" b="1" dirty="0">
                <a:solidFill>
                  <a:srgbClr val="7CFFCB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轻量增量学习</a:t>
            </a:r>
            <a:r>
              <a:rPr lang="en-US" sz="1250" b="1" dirty="0">
                <a:solidFill>
                  <a:srgbClr val="7CFFCB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，让个性化 AI 更高</a:t>
            </a:r>
            <a:r>
              <a:rPr lang="en-US" sz="1250" b="1" dirty="0">
                <a:solidFill>
                  <a:srgbClr val="7CFFCB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效、更可控、更容易落地。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6757988" y="4071686"/>
            <a:ext cx="1643063" cy="79722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ct val="124000"/>
              </a:lnSpc>
              <a:buNone/>
            </a:pPr>
            <a:r>
              <a:rPr lang="en-US" sz="1200" b="1" kern="0" spc="1" dirty="0">
                <a:solidFill>
                  <a:srgbClr val="7CFFCB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高效</a:t>
            </a:r>
            <a:r>
              <a:rPr lang="en-US" sz="1200" b="1" kern="0" spc="1" dirty="0">
                <a:solidFill>
                  <a:srgbClr val="7CFFCB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
</a:t>
            </a:r>
            <a:r>
              <a:rPr lang="en-US" sz="1200" b="1" kern="0" spc="1" dirty="0">
                <a:solidFill>
                  <a:srgbClr val="7CFFCB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可控</a:t>
            </a:r>
            <a:r>
              <a:rPr lang="en-US" sz="1200" b="1" kern="0" spc="1" dirty="0">
                <a:solidFill>
                  <a:srgbClr val="7CFFCB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
</a:t>
            </a:r>
            <a:r>
              <a:rPr lang="en-US" sz="1200" b="1" kern="0" spc="1" dirty="0">
                <a:solidFill>
                  <a:srgbClr val="7CFFCB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易落地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01625" y="897255"/>
            <a:ext cx="7514590" cy="3458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200"/>
              <a:t>1.Hu, E. J., Shen, Y., Wallis, P., et al. (2021). LoRA: Low-Rank Adaptation of Large Language Models. arXiv preprint arXiv:2106.09685.</a:t>
            </a:r>
            <a:endParaRPr lang="en-US" altLang="zh-CN" sz="1200"/>
          </a:p>
          <a:p>
            <a:endParaRPr lang="en-US" altLang="zh-CN" sz="1200"/>
          </a:p>
          <a:p>
            <a:r>
              <a:rPr lang="en-US" altLang="zh-CN" sz="1200"/>
              <a:t>2.Dettmers, T., Pagnoni, A., Holtzman, A., &amp; Zettlemoyer, L. (2023). QLoRA: Efficient Finetuning of Quantized LLMs. arXiv preprint arXiv:2305.14314.</a:t>
            </a:r>
            <a:br>
              <a:rPr lang="zh-CN" altLang="en-US" sz="1200"/>
            </a:br>
            <a:br>
              <a:rPr lang="zh-CN" altLang="en-US" sz="1200"/>
            </a:br>
            <a:r>
              <a:rPr lang="en-US" altLang="zh-CN" sz="1200"/>
              <a:t>3.</a:t>
            </a:r>
            <a:r>
              <a:rPr lang="zh-CN" altLang="en-US" sz="1200"/>
              <a:t>张钦彤, 王昱超, 王鹤羲, 等. (2024). 《大语言模型微调技术的研究综述》. 计算机学报 (</a:t>
            </a:r>
            <a:r>
              <a:rPr lang="en-US" altLang="zh-CN" sz="1200"/>
              <a:t>Journal of Computer Research and Development).</a:t>
            </a:r>
            <a:br>
              <a:rPr lang="en-US" altLang="zh-CN" sz="1200"/>
            </a:br>
            <a:br>
              <a:rPr lang="en-US" altLang="zh-CN" sz="1200"/>
            </a:br>
            <a:r>
              <a:rPr lang="en-US" altLang="zh-CN" sz="1200"/>
              <a:t>4.</a:t>
            </a:r>
            <a:r>
              <a:rPr lang="zh-CN" altLang="en-US" sz="1200"/>
              <a:t>清华大学唐杰团队. (2025). 《大模型微调综述：</a:t>
            </a:r>
            <a:r>
              <a:rPr lang="en-US" altLang="zh-CN" sz="1200"/>
              <a:t>PEFT (Parameter-Efficient Fine-Tuning)》. </a:t>
            </a:r>
            <a:r>
              <a:rPr lang="zh-CN" altLang="en-US" sz="1200"/>
              <a:t>学术论文评述.</a:t>
            </a:r>
            <a:br>
              <a:rPr lang="en-US" altLang="zh-CN" sz="1200"/>
            </a:br>
            <a:br>
              <a:rPr lang="en-US" altLang="zh-CN" sz="1200"/>
            </a:br>
            <a:r>
              <a:rPr lang="en-US" altLang="zh-CN" sz="1200"/>
              <a:t>5.</a:t>
            </a:r>
            <a:r>
              <a:rPr lang="zh-CN" altLang="en-US" sz="1200"/>
              <a:t>武信. (2024). 《一种垂直领域大语言模型系统架构设计与实证》. 计算机科学 (</a:t>
            </a:r>
            <a:r>
              <a:rPr lang="en-US" altLang="zh-CN" sz="1200"/>
              <a:t>Computer Science).</a:t>
            </a:r>
            <a:endParaRPr lang="en-US" altLang="zh-CN" sz="1200"/>
          </a:p>
          <a:p>
            <a:endParaRPr lang="en-US" altLang="zh-CN" sz="1200"/>
          </a:p>
          <a:p>
            <a:r>
              <a:rPr lang="en-US" altLang="zh-CN" sz="1200"/>
              <a:t>6.</a:t>
            </a:r>
            <a:r>
              <a:rPr lang="zh-CN" altLang="en-US" sz="1200"/>
              <a:t>清华大学五道口金融学院. (2024). 《大型语言模型行业图谱》. 行业研究报告.</a:t>
            </a:r>
            <a:endParaRPr lang="en-US" altLang="zh-CN" sz="1200"/>
          </a:p>
          <a:p>
            <a:endParaRPr lang="en-US" altLang="zh-CN" sz="1200"/>
          </a:p>
          <a:p>
            <a:r>
              <a:rPr lang="en-US" altLang="zh-CN" sz="1200"/>
              <a:t>7.</a:t>
            </a:r>
            <a:r>
              <a:rPr lang="zh-CN" altLang="en-US" sz="1200"/>
              <a:t>胡海峰, 等. (2025). 《</a:t>
            </a:r>
            <a:r>
              <a:rPr lang="en-US" altLang="zh-CN" sz="1200"/>
              <a:t>PMoE: </a:t>
            </a:r>
            <a:r>
              <a:rPr lang="zh-CN" altLang="en-US" sz="1200"/>
              <a:t>在 </a:t>
            </a:r>
            <a:r>
              <a:rPr lang="en-US" altLang="zh-CN" sz="1200"/>
              <a:t>P-tuning </a:t>
            </a:r>
            <a:r>
              <a:rPr lang="zh-CN" altLang="en-US" sz="1200"/>
              <a:t>中引入混合专家的参数高效微调框架》. 计算机研究与发展.</a:t>
            </a:r>
            <a:endParaRPr lang="en-US" altLang="zh-CN" sz="1200"/>
          </a:p>
          <a:p>
            <a:endParaRPr lang="en-US" altLang="zh-CN" sz="1200"/>
          </a:p>
          <a:p>
            <a:r>
              <a:rPr lang="en-US" altLang="zh-CN" sz="1200"/>
              <a:t>8.</a:t>
            </a:r>
            <a:r>
              <a:rPr lang="zh-CN" altLang="en-US" sz="1200"/>
              <a:t>陈子建, 等. (2025). 《大模型微调的多领域机器翻译方法综述》. 计算机科学探索.</a:t>
            </a:r>
            <a:endParaRPr lang="zh-CN" altLang="en-US" sz="1200"/>
          </a:p>
        </p:txBody>
      </p:sp>
      <p:sp>
        <p:nvSpPr>
          <p:cNvPr id="3" name="文本框 2"/>
          <p:cNvSpPr txBox="1"/>
          <p:nvPr/>
        </p:nvSpPr>
        <p:spPr>
          <a:xfrm>
            <a:off x="203200" y="4596765"/>
            <a:ext cx="7297420" cy="4184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000"/>
              <a:t>[政策文件] 国家互联网信息办公室. (2024). 《人工智能拟人化互动服务管理暂行办法》.</a:t>
            </a:r>
            <a:endParaRPr lang="zh-CN" altLang="en-US" sz="1000"/>
          </a:p>
          <a:p>
            <a:r>
              <a:rPr lang="zh-CN" altLang="en-US" sz="1000"/>
              <a:t>[技术文档] </a:t>
            </a:r>
            <a:r>
              <a:rPr lang="en-US" altLang="zh-CN" sz="1000"/>
              <a:t>Hugging Face. (2023). PEFT: State-of-the-art Parameter-Efficient Fine-Tuning methods. GitHub Repository.</a:t>
            </a:r>
            <a:endParaRPr lang="en-US" altLang="zh-CN" sz="1000"/>
          </a:p>
        </p:txBody>
      </p:sp>
      <p:sp>
        <p:nvSpPr>
          <p:cNvPr id="4" name="文本框 3"/>
          <p:cNvSpPr txBox="1"/>
          <p:nvPr/>
        </p:nvSpPr>
        <p:spPr>
          <a:xfrm>
            <a:off x="301625" y="28765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参考文献</a:t>
            </a:r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62.6127559055118,&quot;left&quot;:69.75,&quot;top&quot;:123.02708661417323,&quot;width&quot;:339.75}"/>
</p:tagLst>
</file>

<file path=ppt/tags/tag2.xml><?xml version="1.0" encoding="utf-8"?>
<p:tagLst xmlns:p="http://schemas.openxmlformats.org/presentationml/2006/main">
  <p:tag name="KSO_WM_DIAGRAM_VIRTUALLY_FRAME" val="{&quot;height&quot;:262.6127559055118,&quot;left&quot;:69.75,&quot;top&quot;:123.02708661417323,&quot;width&quot;:339.75}"/>
</p:tagLst>
</file>

<file path=ppt/tags/tag3.xml><?xml version="1.0" encoding="utf-8"?>
<p:tagLst xmlns:p="http://schemas.openxmlformats.org/presentationml/2006/main">
  <p:tag name="KSO_WM_DIAGRAM_VIRTUALLY_FRAME" val="{&quot;height&quot;:262.6127559055118,&quot;left&quot;:69.75,&quot;top&quot;:123.02708661417323,&quot;width&quot;:339.75}"/>
</p:tagLst>
</file>

<file path=ppt/tags/tag4.xml><?xml version="1.0" encoding="utf-8"?>
<p:tagLst xmlns:p="http://schemas.openxmlformats.org/presentationml/2006/main">
  <p:tag name="KSO_WM_DIAGRAM_VIRTUALLY_FRAME" val="{&quot;height&quot;:262.6127559055118,&quot;left&quot;:69.75,&quot;top&quot;:123.02708661417323,&quot;width&quot;:339.75}"/>
</p:tagLst>
</file>

<file path=ppt/tags/tag5.xml><?xml version="1.0" encoding="utf-8"?>
<p:tagLst xmlns:p="http://schemas.openxmlformats.org/presentationml/2006/main">
  <p:tag name="KSO_WM_DIAGRAM_VIRTUALLY_FRAME" val="{&quot;height&quot;:262.6127559055118,&quot;left&quot;:69.75,&quot;top&quot;:123.02708661417323,&quot;width&quot;:339.75}"/>
</p:tagLst>
</file>

<file path=ppt/tags/tag6.xml><?xml version="1.0" encoding="utf-8"?>
<p:tagLst xmlns:p="http://schemas.openxmlformats.org/presentationml/2006/main">
  <p:tag name="KSO_WM_DIAGRAM_VIRTUALLY_FRAME" val="{&quot;height&quot;:262.6127559055118,&quot;left&quot;:69.75,&quot;top&quot;:123.02708661417323,&quot;width&quot;:339.7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4632</Words>
  <Application>WPS 演示</Application>
  <PresentationFormat>On-screen Show (16:9)</PresentationFormat>
  <Paragraphs>611</Paragraphs>
  <Slides>16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6" baseType="lpstr">
      <vt:lpstr>Arial</vt:lpstr>
      <vt:lpstr>宋体</vt:lpstr>
      <vt:lpstr>Wingdings</vt:lpstr>
      <vt:lpstr>Noto Sans SC</vt:lpstr>
      <vt:lpstr>Noto Sans SC</vt:lpstr>
      <vt:lpstr>Noto Sans SC Black</vt:lpstr>
      <vt:lpstr>Noto Sans SC Black</vt:lpstr>
      <vt:lpstr>Noto Sans SC Medium</vt:lpstr>
      <vt:lpstr>Noto Sans SC Medium</vt:lpstr>
      <vt:lpstr>Noto Sans SC ExtraBold</vt:lpstr>
      <vt:lpstr>Noto Sans SC ExtraBold</vt:lpstr>
      <vt:lpstr>Noto Sans SC ExtraBold</vt:lpstr>
      <vt:lpstr>Noto Sans SC Bold</vt:lpstr>
      <vt:lpstr>Noto Sans SC Bold</vt:lpstr>
      <vt:lpstr>Noto Sans SC Bold</vt:lpstr>
      <vt:lpstr>Calibri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Живидыц</cp:lastModifiedBy>
  <cp:revision>3</cp:revision>
  <dcterms:created xsi:type="dcterms:W3CDTF">2026-05-25T08:36:00Z</dcterms:created>
  <dcterms:modified xsi:type="dcterms:W3CDTF">2026-05-25T09:12:18Z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4EE2A88A41CD45EE862EDCE2CBC1A2F1_12</vt:lpwstr>
  </property>
</Properties>
</file>