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大家好，今天我们聊聊 LoRA 微调和信息压缩。我们将探讨如何用小参数，让大模型学会新风格，这对于打造专属 AI 伴侣至关重要。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伴侣正从科幻走向现实，用户对长期陪伴感和稳定人设的需求越来越高。我们看到拟人化 AI 应用快速增长，但个性化互动不只是回答正确，更要保持角色设定和语气。这种行业需求和监管压力，共同推动模型从通用回答走向可控风格。接下来，我们看看当前大模型在个性化方面遇到的挑战。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然而，云端大模型在个性化方面遇到了“忠诚度”危机，就像豆包案例中，AI 难以保持对单一用户的专属感。这意味着隐私挑战、记忆碎片化，以及中心化平台可能带来的安全隐患。这种共享模式让用户的情感投入变得不稳定。那么，如何才能真正拥有一个专属的 AI 伴侣呢？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这就是为什么我们需要本地部署，它能彻底解决云端大模型的“忠诚度”危机。本地部署让数据所有权归还用户，你的对话数据不再上传云端，隐私得到保障。你还能深度定制 AI 伴侣的人设，打造真正灵魂契合的陪伴者。最重要的是，本地 AI 是你的数字资产，提供永久的陪伴承诺。但是，本地部署大模型需要解决一个核心问题：如何高效地让大模型学会你的专属风格？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通用大模型虽然能力强大，但它难以天然适配新风格。大模型具备广泛知识和语言理解能力，但默认输出通常偏通用化。新角色、新表达方式、新语气，都需要更精细的风格学习。如果每个新风格都重新训练整个模型，成本、时间和部署复杂度都会显著增加。所以，风格学习的核心挑战是：既要像，又要快，还要低成本。接下来，我们将介绍 LoRA 如何解决这个问题。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通用模型在风格适配上存在局限，那么 LoRA 是如何解决这个问题的呢？LoRA 的核心原理就是这个公式：W' = W + B × A。它通过冻结原始模型权重，只新增并训练两个低秩矩阵 A 和 B，来学习任务所需的权重增量。这种方式保留了大模型的通用能力，同时用极少参数完成定向适配。它就像是一种信息压缩，只学习关键变化。接下来，我们深入探讨 LoRA 为什么能实现这种高效的信息压缩。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LoRA 为什么像信息压缩？这可能是大家最关心的问题之一。新任务会带来大量的参数变化，但真正决定风格的往往只是少数关键方向。LoRA 的精妙之处就在于，它不保存全部变化，而是高效地提取并表达最重要的低秩变化。对风格学习而言，这些关键变化通常体现在语气、词汇偏好、句式结构和情感表达上。所以，LoRA 的本质就是用少量参数压缩并表达最重要的任务变化，这就像我们用一个小的压缩包，就能完整地传递一个大的文件。理解了 LoRA 的信息压缩原理，我们就能更好地理解它的配置参数。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既然 LoRA 像信息压缩，那么如何控制这个压缩过程呢？这就涉及到 LoRA 的关键配置参数。Rank 决定了低秩矩阵的维度，它控制着模型能记住的细节多少。Alpha 则控制着 LoRA 权重对原始模型的影响强度。Target Modules 指定了 LoRA 注入模型的位置，这决定了我们适配的重点。最后，Dropout 帮助我们降低过拟合风险，确保模型在学习新风格的同时，还能保持通用能力。这些参数不是越大越好，而是在效果、成本和稳定性之间找到最佳平衡点。但这些参数的调优，最终还是为了让模型更好地学习我们想要定义的风格，而风格的定义，离不开高质量的数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高质量数据是定义目标风格的基石。LoRA 解决了如何高效学习的问题，但能否学好，最终取决于数据质量。我们的数据管线从语料采集开始，从对话记录、小说或剧本中提取最能代表目标性格的原始文本。接着，我们会进行严格的清洗过滤，去除冗余信息和不符合人设的表达。然后，将语料转化为模型易于理解的指令化问答对格式。最后，通过质量评估，筛选出多样性高、风格强烈的核心训练集。记住，数据决定了 AI 伴侣的“灵魂”，多样性比纯粹的数量更重要。有了高质量的数据，我们才能让 LoRA 真正发挥作用，让 AI 伴侣拥有独特的个性。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现在，我们已经知道如何通过 LoRA 高效学习风格，但如果我们的硬件资源有限怎么办呢？QLoRA 就是这个问题的答案，它进一步降低了训练大模型的门槛。QLoRA 引入了 4-bit 量化技术，这意味着基础模型在训练时占用的显存大大减少。这让像 RTX 3090 这样的消费级显卡也能轻松微调 13B 甚至更大的模型。所以，QLoRA 真正做到了让“每个人拥有专属 AI”不再是遥不可及的梦想，而是我们每个人都能在家实现的现实。接下来，我们把这几种微调方式放在一起，看看它们的具体差异。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我们已经看到了 LoRA 和 QLoRA 的强大之处，现在让我们把它们和传统的全量微调放在一起比较。全量微调需要更新几乎所有参数，显存占用极高，训练速度也慢。LoRA 则只更新极少量参数，显存占用中低，训练速度快。而 QLoRA 在 LoRA 的基础上，通过量化进一步降低了显存占用，是资源有限情况下的最佳选择。所以，对于我们打造个性化 AI 伴侣来说，LoRA 是平衡效果与成本的最佳方案，而 QLoRA 则是普通玩家进入大模型微调领域的入场券。那么，这些技术最终能为我们带来什么呢？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最后，我们来总结一下。大模型为我们提供了广阔的知识和通用理解能力，这是基础。LoRA 则像一个精巧的工具，用极少的参数就能让大模型学会特定的风格和任务偏好。而 QLoRA 更是降低了门槛，让这些强大的技术能被更多人使用。最聪明的做法，不是把所有内容都重学一遍，而是只学习真正需要改变的关键部分。LoRA 和 QLoRA 让我们能够以更高效、更可控的方式，实现个性化 AI 的落地，让每个人都能拥有自己的专属数字伴侣。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jpe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7.jpe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6.png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33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8.png"/><Relationship Id="rId1" Type="http://schemas.openxmlformats.org/officeDocument/2006/relationships/image" Target="../media/image37.jpe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3561048" cy="5143500"/>
          </a:xfrm>
          <a:prstGeom prst="rect">
            <a:avLst/>
          </a:prstGeom>
          <a:solidFill>
            <a:srgbClr val="003366"/>
          </a:solidFill>
        </p:spPr>
      </p:sp>
      <p:sp>
        <p:nvSpPr>
          <p:cNvPr id="5" name="Text 1"/>
          <p:cNvSpPr/>
          <p:nvPr/>
        </p:nvSpPr>
        <p:spPr>
          <a:xfrm>
            <a:off x="428625" y="1887848"/>
            <a:ext cx="2703798" cy="96010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LoRA 微调与</a:t>
            </a:r>
            <a:r>
              <a:rPr lang="en-US" sz="2850" b="1" dirty="0">
                <a:solidFill>
                  <a:srgbClr val="FFFF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
</a:t>
            </a:r>
            <a:r>
              <a:rPr lang="en-US" sz="2850" b="1" dirty="0">
                <a:solidFill>
                  <a:srgbClr val="FFFF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信息压缩</a:t>
            </a:r>
            <a:endParaRPr lang="en-US" sz="2850" dirty="0"/>
          </a:p>
        </p:txBody>
      </p:sp>
      <p:sp>
        <p:nvSpPr>
          <p:cNvPr id="6" name="Text 2"/>
          <p:cNvSpPr/>
          <p:nvPr/>
        </p:nvSpPr>
        <p:spPr>
          <a:xfrm>
            <a:off x="428625" y="3133120"/>
            <a:ext cx="2703798" cy="2482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7CFFCB">
                    <a:alpha val="9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打造专属且私密的 AI 伴侣</a:t>
            </a:r>
            <a:endParaRPr lang="en-US" sz="1250" dirty="0"/>
          </a:p>
        </p:txBody>
      </p:sp>
      <p:sp>
        <p:nvSpPr>
          <p:cNvPr id="7" name="Shape 3"/>
          <p:cNvSpPr/>
          <p:nvPr/>
        </p:nvSpPr>
        <p:spPr>
          <a:xfrm>
            <a:off x="3193146" y="0"/>
            <a:ext cx="735748" cy="5143500"/>
          </a:xfrm>
          <a:prstGeom prst="rect">
            <a:avLst/>
          </a:prstGeom>
          <a:solidFill>
            <a:srgbClr val="00A8E8"/>
          </a:solidFill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461" y="1892201"/>
            <a:ext cx="1285875" cy="12858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620055"/>
            <a:ext cx="3222641" cy="514350"/>
          </a:xfrm>
          <a:prstGeom prst="rect">
            <a:avLst/>
          </a:prstGeom>
          <a:noFill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3366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AI 伴侣：从科幻走进现实</a:t>
            </a:r>
            <a:endParaRPr lang="en-US" sz="20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455874"/>
            <a:ext cx="171450" cy="17145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885825" y="1562444"/>
            <a:ext cx="4314825" cy="2482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3366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虚拟陪伴需求爆发</a:t>
            </a:r>
            <a:endParaRPr lang="en-US" sz="1200" dirty="0"/>
          </a:p>
        </p:txBody>
      </p:sp>
      <p:sp>
        <p:nvSpPr>
          <p:cNvPr id="7" name="Text 2"/>
          <p:cNvSpPr/>
          <p:nvPr/>
        </p:nvSpPr>
        <p:spPr>
          <a:xfrm>
            <a:off x="885825" y="1939277"/>
            <a:ext cx="4314825" cy="4114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拟人化互动已成为 AI 应用的新蓝海，用户期待 AI 不只是工具，而是具备稳定性格和语气的陪伴者。</a:t>
            </a:r>
            <a:endParaRPr lang="en-US" sz="9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29331"/>
            <a:ext cx="171450" cy="17145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885825" y="2835901"/>
            <a:ext cx="4314825" cy="2482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3366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情感价值的具象化</a:t>
            </a:r>
            <a:endParaRPr lang="en-US" sz="1200" dirty="0"/>
          </a:p>
        </p:txBody>
      </p:sp>
      <p:sp>
        <p:nvSpPr>
          <p:cNvPr id="10" name="Text 4"/>
          <p:cNvSpPr/>
          <p:nvPr/>
        </p:nvSpPr>
        <p:spPr>
          <a:xfrm>
            <a:off x="885825" y="3212734"/>
            <a:ext cx="4314825" cy="4114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AI 角色 App 正在重塑社交体验，用户对虚拟角色的情感投入日益增加，要求更精准的性格模拟。</a:t>
            </a:r>
            <a:endParaRPr lang="en-US" sz="9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002788"/>
            <a:ext cx="171450" cy="17145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885825" y="4109358"/>
            <a:ext cx="4314825" cy="2482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3366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行业乱象与监管红线</a:t>
            </a:r>
            <a:endParaRPr lang="en-US" sz="1200" dirty="0"/>
          </a:p>
        </p:txBody>
      </p:sp>
      <p:sp>
        <p:nvSpPr>
          <p:cNvPr id="13" name="Text 6"/>
          <p:cNvSpPr/>
          <p:nvPr/>
        </p:nvSpPr>
        <p:spPr>
          <a:xfrm>
            <a:off x="885825" y="4486191"/>
            <a:ext cx="4314825" cy="4114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随着需求增长，合规与安全挑战凸显。国家已出台暂行办法，对拟人化互动服务进行规范引导。</a:t>
            </a:r>
            <a:endParaRPr lang="en-US" sz="950" dirty="0"/>
          </a:p>
        </p:txBody>
      </p:sp>
      <p:sp>
        <p:nvSpPr>
          <p:cNvPr id="14" name="Shape 7"/>
          <p:cNvSpPr/>
          <p:nvPr/>
        </p:nvSpPr>
        <p:spPr>
          <a:xfrm>
            <a:off x="5522119" y="1240752"/>
            <a:ext cx="3014663" cy="2661996"/>
          </a:xfrm>
          <a:prstGeom prst="rect">
            <a:avLst/>
          </a:prstGeom>
          <a:solidFill>
            <a:srgbClr val="FFFFFF"/>
          </a:solidFill>
          <a:ln w="9144">
            <a:solidFill>
              <a:srgbClr val="E1E8ED"/>
            </a:solidFill>
            <a:prstDash val="solid"/>
          </a:ln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0700" y="1319333"/>
            <a:ext cx="2857500" cy="250483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964406" y="557213"/>
            <a:ext cx="2243138" cy="4029075"/>
          </a:xfrm>
          <a:prstGeom prst="rect">
            <a:avLst/>
          </a:prstGeom>
          <a:solidFill>
            <a:srgbClr val="FFFFFF"/>
          </a:solidFill>
          <a:ln w="18288">
            <a:solidFill>
              <a:srgbClr val="E1E8ED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413" y="607219"/>
            <a:ext cx="2143125" cy="5215691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4029075" y="885044"/>
            <a:ext cx="4543425" cy="8286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3366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豆包案例：云端大模型的“忠诚度”危机</a:t>
            </a:r>
            <a:endParaRPr lang="en-US" sz="2000" dirty="0"/>
          </a:p>
        </p:txBody>
      </p:sp>
      <p:sp>
        <p:nvSpPr>
          <p:cNvPr id="7" name="Shape 2"/>
          <p:cNvSpPr/>
          <p:nvPr/>
        </p:nvSpPr>
        <p:spPr>
          <a:xfrm>
            <a:off x="4029075" y="1928031"/>
            <a:ext cx="4543425" cy="1416332"/>
          </a:xfrm>
          <a:prstGeom prst="rect">
            <a:avLst/>
          </a:prstGeom>
          <a:solidFill>
            <a:srgbClr val="FFF5F5"/>
          </a:solidFill>
        </p:spPr>
      </p:sp>
      <p:sp>
        <p:nvSpPr>
          <p:cNvPr id="8" name="Shape 3"/>
          <p:cNvSpPr/>
          <p:nvPr/>
        </p:nvSpPr>
        <p:spPr>
          <a:xfrm>
            <a:off x="4029075" y="1928031"/>
            <a:ext cx="42863" cy="1416332"/>
          </a:xfrm>
          <a:prstGeom prst="rect">
            <a:avLst/>
          </a:prstGeom>
          <a:solidFill>
            <a:srgbClr val="FF4D4F"/>
          </a:solidFill>
        </p:spPr>
      </p:sp>
      <p:sp>
        <p:nvSpPr>
          <p:cNvPr id="9" name="Text 4"/>
          <p:cNvSpPr/>
          <p:nvPr/>
        </p:nvSpPr>
        <p:spPr>
          <a:xfrm>
            <a:off x="4207669" y="2248914"/>
            <a:ext cx="4186238" cy="2482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F1322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“谁都能当她男朋友”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4207669" y="2625747"/>
            <a:ext cx="4186238" cy="4114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在云端共享实例中，AI 难以保持对单一用户的绝对忠诚。上一秒还是你的“专属”，下一秒就能被别人“撬走”。</a:t>
            </a:r>
            <a:endParaRPr lang="en-US" sz="9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4825" y="3588144"/>
            <a:ext cx="128588" cy="12858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550569" y="3558676"/>
            <a:ext cx="2700338" cy="18752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隐私挑战：情感投入被共享化，数据缺乏排他性</a:t>
            </a:r>
            <a:endParaRPr lang="en-US" sz="9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4825" y="3882823"/>
            <a:ext cx="128588" cy="12858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550569" y="3853355"/>
            <a:ext cx="2571750" cy="18752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记忆碎片化：通用模型难以承载深度私密记忆</a:t>
            </a:r>
            <a:endParaRPr lang="en-US" sz="9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4825" y="4177503"/>
            <a:ext cx="128588" cy="12858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4550569" y="4148035"/>
            <a:ext cx="2785979" cy="18752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安全隐患：中心化平台存在被监管“一刀切”的风险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759972"/>
            <a:ext cx="4204097" cy="414338"/>
          </a:xfrm>
          <a:prstGeom prst="rect">
            <a:avLst/>
          </a:prstGeom>
          <a:noFill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3366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为什么我们需要本地部署？</a:t>
            </a:r>
            <a:endParaRPr lang="en-US" sz="20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498457"/>
            <a:ext cx="192881" cy="17145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871538" y="1460060"/>
            <a:ext cx="1543050" cy="2482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3366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数据所有权归还用户</a:t>
            </a:r>
            <a:endParaRPr lang="en-US" sz="1200" dirty="0"/>
          </a:p>
        </p:txBody>
      </p:sp>
      <p:sp>
        <p:nvSpPr>
          <p:cNvPr id="7" name="Text 2"/>
          <p:cNvSpPr/>
          <p:nvPr/>
        </p:nvSpPr>
        <p:spPr>
          <a:xfrm>
            <a:off x="571500" y="1836893"/>
            <a:ext cx="4204097" cy="4114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本地部署意味着你的 AI 伴侣完全属于你，对话数据不再上传云端，彻底杜绝隐私泄露风险。</a:t>
            </a:r>
            <a:endParaRPr lang="en-US" sz="9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36757"/>
            <a:ext cx="171450" cy="17145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850106" y="2498359"/>
            <a:ext cx="1200150" cy="2482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3366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人设的深度定制</a:t>
            </a:r>
            <a:endParaRPr lang="en-US" sz="1200" dirty="0"/>
          </a:p>
        </p:txBody>
      </p:sp>
      <p:sp>
        <p:nvSpPr>
          <p:cNvPr id="10" name="Text 4"/>
          <p:cNvSpPr/>
          <p:nvPr/>
        </p:nvSpPr>
        <p:spPr>
          <a:xfrm>
            <a:off x="571500" y="2875192"/>
            <a:ext cx="4204097" cy="4114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不受云端预设指令限制，你可以自由定义伴侣的性格、背景和说话方式，打造真正灵魂契合的陪伴者。</a:t>
            </a:r>
            <a:endParaRPr lang="en-US" sz="9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575056"/>
            <a:ext cx="214313" cy="17145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892969" y="3536659"/>
            <a:ext cx="1200150" cy="2482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3366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永久的陪伴承诺</a:t>
            </a:r>
            <a:endParaRPr lang="en-US" sz="1200" dirty="0"/>
          </a:p>
        </p:txBody>
      </p:sp>
      <p:sp>
        <p:nvSpPr>
          <p:cNvPr id="13" name="Text 6"/>
          <p:cNvSpPr/>
          <p:nvPr/>
        </p:nvSpPr>
        <p:spPr>
          <a:xfrm>
            <a:off x="571500" y="3913491"/>
            <a:ext cx="4204097" cy="4114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不因服务器停机或公司倒闭而消失。本地 AI 是真正属于个人的数字资产，提供永恒的陪伴。</a:t>
            </a:r>
            <a:endParaRPr lang="en-US" sz="950" dirty="0"/>
          </a:p>
        </p:txBody>
      </p:sp>
      <p:sp>
        <p:nvSpPr>
          <p:cNvPr id="14" name="Shape 7"/>
          <p:cNvSpPr/>
          <p:nvPr/>
        </p:nvSpPr>
        <p:spPr>
          <a:xfrm>
            <a:off x="5166717" y="1488105"/>
            <a:ext cx="3371850" cy="1915446"/>
          </a:xfrm>
          <a:prstGeom prst="rect">
            <a:avLst/>
          </a:prstGeom>
          <a:solidFill>
            <a:srgbClr val="FFFFFF"/>
          </a:solidFill>
          <a:ln w="9144">
            <a:solidFill>
              <a:srgbClr val="E1E8ED"/>
            </a:solidFill>
            <a:prstDash val="solid"/>
          </a:ln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5298" y="1566686"/>
            <a:ext cx="3214688" cy="1758283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796930" y="3503563"/>
            <a:ext cx="2111397" cy="14466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88888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图：B 站关于“本地部署 AI 伴侣”的海量技术分享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620055"/>
            <a:ext cx="3714750" cy="514350"/>
          </a:xfrm>
          <a:prstGeom prst="rect">
            <a:avLst/>
          </a:prstGeom>
          <a:noFill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3366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通用模型难以天然适配新风格</a:t>
            </a:r>
            <a:endParaRPr lang="en-US" sz="2000" dirty="0"/>
          </a:p>
        </p:txBody>
      </p:sp>
      <p:sp>
        <p:nvSpPr>
          <p:cNvPr id="5" name="Shape 1"/>
          <p:cNvSpPr/>
          <p:nvPr/>
        </p:nvSpPr>
        <p:spPr>
          <a:xfrm>
            <a:off x="571500" y="1491593"/>
            <a:ext cx="3429000" cy="2805122"/>
          </a:xfrm>
          <a:prstGeom prst="rect">
            <a:avLst/>
          </a:prstGeom>
          <a:solidFill>
            <a:srgbClr val="FFFFFF"/>
          </a:solidFill>
          <a:ln w="9144">
            <a:solidFill>
              <a:srgbClr val="E1E8ED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3" y="1886592"/>
            <a:ext cx="171450" cy="17145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064419" y="1848194"/>
            <a:ext cx="1371600" cy="2482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大模型：通用能力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1071563" y="2310752"/>
            <a:ext cx="2707481" cy="20716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知识与语言理解</a:t>
            </a:r>
            <a:endParaRPr lang="en-US" sz="1000" dirty="0"/>
          </a:p>
        </p:txBody>
      </p:sp>
      <p:sp>
        <p:nvSpPr>
          <p:cNvPr id="9" name="Text 4"/>
          <p:cNvSpPr/>
          <p:nvPr/>
        </p:nvSpPr>
        <p:spPr>
          <a:xfrm>
            <a:off x="1071563" y="2582214"/>
            <a:ext cx="1714500" cy="1285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33333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覆盖海量文本、问答和推理任务。</a:t>
            </a:r>
            <a:endParaRPr lang="en-US" sz="850" dirty="0"/>
          </a:p>
        </p:txBody>
      </p:sp>
      <p:sp>
        <p:nvSpPr>
          <p:cNvPr id="10" name="Text 5"/>
          <p:cNvSpPr/>
          <p:nvPr/>
        </p:nvSpPr>
        <p:spPr>
          <a:xfrm>
            <a:off x="1071563" y="2896539"/>
            <a:ext cx="2707481" cy="20716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多任务泛化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1071563" y="3168002"/>
            <a:ext cx="1600200" cy="1285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33333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可在多类任务间迁移基础能力。</a:t>
            </a:r>
            <a:endParaRPr lang="en-US" sz="850" dirty="0"/>
          </a:p>
        </p:txBody>
      </p:sp>
      <p:sp>
        <p:nvSpPr>
          <p:cNvPr id="12" name="Text 7"/>
          <p:cNvSpPr/>
          <p:nvPr/>
        </p:nvSpPr>
        <p:spPr>
          <a:xfrm>
            <a:off x="1071563" y="3482327"/>
            <a:ext cx="2707481" cy="20716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默认输出通用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1071563" y="3753789"/>
            <a:ext cx="1943100" cy="1285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33333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表达自然，但未必符合特定角色风格。</a:t>
            </a:r>
            <a:endParaRPr lang="en-US" sz="8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3406" y="2390505"/>
            <a:ext cx="342900" cy="3429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136231" y="2954861"/>
            <a:ext cx="857250" cy="32861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3366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如何快速学会一种新风格？</a:t>
            </a:r>
            <a:endParaRPr lang="en-US" sz="800" dirty="0"/>
          </a:p>
        </p:txBody>
      </p:sp>
      <p:sp>
        <p:nvSpPr>
          <p:cNvPr id="16" name="Shape 10"/>
          <p:cNvSpPr/>
          <p:nvPr/>
        </p:nvSpPr>
        <p:spPr>
          <a:xfrm>
            <a:off x="5136356" y="1491593"/>
            <a:ext cx="3436144" cy="2805122"/>
          </a:xfrm>
          <a:prstGeom prst="rect">
            <a:avLst/>
          </a:prstGeom>
          <a:solidFill>
            <a:srgbClr val="003366"/>
          </a:solidFill>
          <a:ln w="9144">
            <a:solidFill>
              <a:srgbClr val="E1E8ED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7813" y="1886592"/>
            <a:ext cx="192881" cy="17145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657850" y="1848194"/>
            <a:ext cx="1371600" cy="2482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新任务：特定风格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5643563" y="2310752"/>
            <a:ext cx="2714625" cy="20716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新角色</a:t>
            </a:r>
            <a:endParaRPr lang="en-US" sz="1000" dirty="0"/>
          </a:p>
        </p:txBody>
      </p:sp>
      <p:sp>
        <p:nvSpPr>
          <p:cNvPr id="20" name="Text 13"/>
          <p:cNvSpPr/>
          <p:nvPr/>
        </p:nvSpPr>
        <p:spPr>
          <a:xfrm>
            <a:off x="5643563" y="2582214"/>
            <a:ext cx="1485900" cy="1285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保持人设、身份与说话习惯。</a:t>
            </a:r>
            <a:endParaRPr lang="en-US" sz="850" dirty="0"/>
          </a:p>
        </p:txBody>
      </p:sp>
      <p:sp>
        <p:nvSpPr>
          <p:cNvPr id="21" name="Text 14"/>
          <p:cNvSpPr/>
          <p:nvPr/>
        </p:nvSpPr>
        <p:spPr>
          <a:xfrm>
            <a:off x="5643563" y="2896539"/>
            <a:ext cx="2714625" cy="20716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新表达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5643563" y="3168002"/>
            <a:ext cx="1485900" cy="1285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固定语气、句式和互动节奏。</a:t>
            </a:r>
            <a:endParaRPr lang="en-US" sz="850" dirty="0"/>
          </a:p>
        </p:txBody>
      </p:sp>
      <p:sp>
        <p:nvSpPr>
          <p:cNvPr id="23" name="Text 16"/>
          <p:cNvSpPr/>
          <p:nvPr/>
        </p:nvSpPr>
        <p:spPr>
          <a:xfrm>
            <a:off x="5643563" y="3482327"/>
            <a:ext cx="2714625" cy="20716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新领域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5643563" y="3753789"/>
            <a:ext cx="1714500" cy="1285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适应特定场景中的专业表达方式。</a:t>
            </a:r>
            <a:endParaRPr lang="en-US" sz="850" dirty="0"/>
          </a:p>
        </p:txBody>
      </p:sp>
      <p:sp>
        <p:nvSpPr>
          <p:cNvPr id="25" name="Shape 18"/>
          <p:cNvSpPr/>
          <p:nvPr/>
        </p:nvSpPr>
        <p:spPr>
          <a:xfrm>
            <a:off x="0" y="4714875"/>
            <a:ext cx="10287000" cy="428625"/>
          </a:xfrm>
          <a:prstGeom prst="rect">
            <a:avLst/>
          </a:prstGeom>
          <a:solidFill>
            <a:srgbClr val="003366"/>
          </a:solidFill>
        </p:spPr>
      </p:sp>
      <p:sp>
        <p:nvSpPr>
          <p:cNvPr id="26" name="Text 19"/>
          <p:cNvSpPr/>
          <p:nvPr/>
        </p:nvSpPr>
        <p:spPr>
          <a:xfrm>
            <a:off x="0" y="4714875"/>
            <a:ext cx="10287000" cy="428625"/>
          </a:xfrm>
          <a:prstGeom prst="rect">
            <a:avLst/>
          </a:prstGeom>
          <a:noFill/>
        </p:spPr>
        <p:txBody>
          <a:bodyPr wrap="square" lIns="680339" tIns="0" rIns="680339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风格学习的核心挑战：既要像，又要快，还要低成本。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620055"/>
            <a:ext cx="4531537" cy="514350"/>
          </a:xfrm>
          <a:prstGeom prst="rect">
            <a:avLst/>
          </a:prstGeom>
          <a:noFill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3366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LoRA 的核心原理：W' = W + B × A</a:t>
            </a:r>
            <a:endParaRPr lang="en-US" sz="2000" dirty="0"/>
          </a:p>
        </p:txBody>
      </p:sp>
      <p:sp>
        <p:nvSpPr>
          <p:cNvPr id="5" name="Shape 1"/>
          <p:cNvSpPr/>
          <p:nvPr/>
        </p:nvSpPr>
        <p:spPr>
          <a:xfrm>
            <a:off x="571500" y="1348718"/>
            <a:ext cx="8001000" cy="623292"/>
          </a:xfrm>
          <a:prstGeom prst="rect">
            <a:avLst/>
          </a:prstGeom>
          <a:solidFill>
            <a:srgbClr val="FFFFFF"/>
          </a:solidFill>
          <a:ln w="9144">
            <a:solidFill>
              <a:srgbClr val="E1E8ED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714375" y="1491593"/>
            <a:ext cx="7715250" cy="3232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W' = W + </a:t>
            </a:r>
            <a:r>
              <a:rPr lang="en-US" sz="2000" b="1" dirty="0">
                <a:solidFill>
                  <a:srgbClr val="00A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ΔW</a:t>
            </a:r>
            <a:r>
              <a:rPr lang="en-US" sz="2000" b="1" dirty="0">
                <a:solidFill>
                  <a:srgbClr val="00A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= W + </a:t>
            </a:r>
            <a:r>
              <a:rPr lang="en-US" sz="2000" b="1" dirty="0">
                <a:solidFill>
                  <a:srgbClr val="00A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 × A</a:t>
            </a:r>
            <a:endParaRPr lang="en-US" sz="2000" dirty="0"/>
          </a:p>
        </p:txBody>
      </p:sp>
      <p:sp>
        <p:nvSpPr>
          <p:cNvPr id="7" name="Shape 3"/>
          <p:cNvSpPr/>
          <p:nvPr/>
        </p:nvSpPr>
        <p:spPr>
          <a:xfrm>
            <a:off x="2757320" y="2172035"/>
            <a:ext cx="742950" cy="742950"/>
          </a:xfrm>
          <a:prstGeom prst="rect">
            <a:avLst/>
          </a:prstGeom>
          <a:solidFill>
            <a:srgbClr val="003366">
              <a:alpha val="5000"/>
            </a:srgbClr>
          </a:solidFill>
          <a:ln w="18288">
            <a:solidFill>
              <a:srgbClr val="003366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757320" y="2172035"/>
            <a:ext cx="742950" cy="74295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3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W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3628858" y="2445283"/>
            <a:ext cx="100124" cy="19645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+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871857" y="2172035"/>
            <a:ext cx="242888" cy="742950"/>
          </a:xfrm>
          <a:prstGeom prst="rect">
            <a:avLst/>
          </a:prstGeom>
          <a:solidFill>
            <a:srgbClr val="003366">
              <a:alpha val="5000"/>
            </a:srgbClr>
          </a:solidFill>
          <a:ln w="18288">
            <a:solidFill>
              <a:srgbClr val="00A8E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871857" y="2172035"/>
            <a:ext cx="242888" cy="74295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8E8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B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243332" y="2445283"/>
            <a:ext cx="100124" cy="19645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×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486331" y="2422066"/>
            <a:ext cx="742950" cy="242888"/>
          </a:xfrm>
          <a:prstGeom prst="rect">
            <a:avLst/>
          </a:prstGeom>
          <a:solidFill>
            <a:srgbClr val="003366">
              <a:alpha val="5000"/>
            </a:srgbClr>
          </a:solidFill>
          <a:ln w="18288">
            <a:solidFill>
              <a:srgbClr val="00A8E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486331" y="2422066"/>
            <a:ext cx="742950" cy="242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8E8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A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5357868" y="2445283"/>
            <a:ext cx="100124" cy="19645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=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600867" y="2172035"/>
            <a:ext cx="742950" cy="742950"/>
          </a:xfrm>
          <a:prstGeom prst="rect">
            <a:avLst/>
          </a:prstGeom>
          <a:solidFill>
            <a:srgbClr val="00A8E8">
              <a:alpha val="5000"/>
            </a:srgbClr>
          </a:solidFill>
          <a:ln w="18288">
            <a:solidFill>
              <a:srgbClr val="00A8E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600867" y="2172035"/>
            <a:ext cx="742950" cy="74295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8E8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ΔW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71500" y="3172160"/>
            <a:ext cx="1893094" cy="103902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9" name="Shape 15"/>
          <p:cNvSpPr/>
          <p:nvPr/>
        </p:nvSpPr>
        <p:spPr>
          <a:xfrm>
            <a:off x="571500" y="3172160"/>
            <a:ext cx="1893094" cy="28575"/>
          </a:xfrm>
          <a:prstGeom prst="rect">
            <a:avLst/>
          </a:prstGeom>
          <a:solidFill>
            <a:srgbClr val="00A8E8"/>
          </a:solidFill>
        </p:spPr>
      </p:sp>
      <p:sp>
        <p:nvSpPr>
          <p:cNvPr id="20" name="Text 16"/>
          <p:cNvSpPr/>
          <p:nvPr/>
        </p:nvSpPr>
        <p:spPr>
          <a:xfrm>
            <a:off x="2138883" y="3065004"/>
            <a:ext cx="254273" cy="26253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A8E8">
                    <a:alpha val="20000"/>
                  </a:srgbClr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01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678656" y="3407904"/>
            <a:ext cx="1678781" cy="18752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3366"/>
                </a:solidFill>
                <a:latin typeface="Noto Sans SC ExtraBold" pitchFamily="34" charset="0"/>
                <a:ea typeface="Noto Sans SC ExtraBold" pitchFamily="34" charset="-122"/>
                <a:cs typeface="Noto Sans SC ExtraBold" pitchFamily="34" charset="-120"/>
              </a:rPr>
              <a:t>冻结原始模型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678656" y="3695440"/>
            <a:ext cx="1678781" cy="2800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把大模型作为稳定底座，避免训练过程破坏通用能力。</a:t>
            </a:r>
            <a:endParaRPr lang="en-US" sz="750" dirty="0"/>
          </a:p>
        </p:txBody>
      </p:sp>
      <p:sp>
        <p:nvSpPr>
          <p:cNvPr id="23" name="Shape 19"/>
          <p:cNvSpPr/>
          <p:nvPr/>
        </p:nvSpPr>
        <p:spPr>
          <a:xfrm>
            <a:off x="2607469" y="3172160"/>
            <a:ext cx="1893094" cy="103902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4" name="Shape 20"/>
          <p:cNvSpPr/>
          <p:nvPr/>
        </p:nvSpPr>
        <p:spPr>
          <a:xfrm>
            <a:off x="2607469" y="3172160"/>
            <a:ext cx="1893094" cy="28575"/>
          </a:xfrm>
          <a:prstGeom prst="rect">
            <a:avLst/>
          </a:prstGeom>
          <a:solidFill>
            <a:srgbClr val="00A8E8"/>
          </a:solidFill>
        </p:spPr>
      </p:sp>
      <p:sp>
        <p:nvSpPr>
          <p:cNvPr id="25" name="Text 21"/>
          <p:cNvSpPr/>
          <p:nvPr/>
        </p:nvSpPr>
        <p:spPr>
          <a:xfrm>
            <a:off x="4174852" y="3065004"/>
            <a:ext cx="254273" cy="26253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A8E8">
                    <a:alpha val="20000"/>
                  </a:srgbClr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02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2714625" y="3407904"/>
            <a:ext cx="1678781" cy="18752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3366"/>
                </a:solidFill>
                <a:latin typeface="Noto Sans SC ExtraBold" pitchFamily="34" charset="0"/>
                <a:ea typeface="Noto Sans SC ExtraBold" pitchFamily="34" charset="-122"/>
                <a:cs typeface="Noto Sans SC ExtraBold" pitchFamily="34" charset="-120"/>
              </a:rPr>
              <a:t>插入低秩模块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2714625" y="3695440"/>
            <a:ext cx="1678781" cy="2800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在目标层加入小矩阵 B 与 A，形成可训练的适配层。</a:t>
            </a:r>
            <a:endParaRPr lang="en-US" sz="750" dirty="0"/>
          </a:p>
        </p:txBody>
      </p:sp>
      <p:sp>
        <p:nvSpPr>
          <p:cNvPr id="28" name="Shape 24"/>
          <p:cNvSpPr/>
          <p:nvPr/>
        </p:nvSpPr>
        <p:spPr>
          <a:xfrm>
            <a:off x="4643438" y="3172160"/>
            <a:ext cx="1893094" cy="103902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9" name="Shape 25"/>
          <p:cNvSpPr/>
          <p:nvPr/>
        </p:nvSpPr>
        <p:spPr>
          <a:xfrm>
            <a:off x="4643438" y="3172160"/>
            <a:ext cx="1893094" cy="28575"/>
          </a:xfrm>
          <a:prstGeom prst="rect">
            <a:avLst/>
          </a:prstGeom>
          <a:solidFill>
            <a:srgbClr val="00A8E8"/>
          </a:solidFill>
        </p:spPr>
      </p:sp>
      <p:sp>
        <p:nvSpPr>
          <p:cNvPr id="30" name="Text 26"/>
          <p:cNvSpPr/>
          <p:nvPr/>
        </p:nvSpPr>
        <p:spPr>
          <a:xfrm>
            <a:off x="6210821" y="3065004"/>
            <a:ext cx="254273" cy="26253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A8E8">
                    <a:alpha val="20000"/>
                  </a:srgbClr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03</a:t>
            </a:r>
            <a:endParaRPr lang="en-US" sz="1600" dirty="0"/>
          </a:p>
        </p:txBody>
      </p:sp>
      <p:sp>
        <p:nvSpPr>
          <p:cNvPr id="31" name="Text 27"/>
          <p:cNvSpPr/>
          <p:nvPr/>
        </p:nvSpPr>
        <p:spPr>
          <a:xfrm>
            <a:off x="4750594" y="3407904"/>
            <a:ext cx="1678781" cy="18752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3366"/>
                </a:solidFill>
                <a:latin typeface="Noto Sans SC ExtraBold" pitchFamily="34" charset="0"/>
                <a:ea typeface="Noto Sans SC ExtraBold" pitchFamily="34" charset="-122"/>
                <a:cs typeface="Noto Sans SC ExtraBold" pitchFamily="34" charset="-120"/>
              </a:rPr>
              <a:t>训练少量参数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4750594" y="3695440"/>
            <a:ext cx="1678781" cy="2800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只更新新增矩阵，让它们捕捉风格、语气与任务偏好。</a:t>
            </a:r>
            <a:endParaRPr lang="en-US" sz="750" dirty="0"/>
          </a:p>
        </p:txBody>
      </p:sp>
      <p:sp>
        <p:nvSpPr>
          <p:cNvPr id="33" name="Shape 29"/>
          <p:cNvSpPr/>
          <p:nvPr/>
        </p:nvSpPr>
        <p:spPr>
          <a:xfrm>
            <a:off x="6679406" y="3172160"/>
            <a:ext cx="1893094" cy="103902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4" name="Shape 30"/>
          <p:cNvSpPr/>
          <p:nvPr/>
        </p:nvSpPr>
        <p:spPr>
          <a:xfrm>
            <a:off x="6679406" y="3172160"/>
            <a:ext cx="1893094" cy="28575"/>
          </a:xfrm>
          <a:prstGeom prst="rect">
            <a:avLst/>
          </a:prstGeom>
          <a:solidFill>
            <a:srgbClr val="00A8E8"/>
          </a:solidFill>
        </p:spPr>
      </p:sp>
      <p:sp>
        <p:nvSpPr>
          <p:cNvPr id="35" name="Text 31"/>
          <p:cNvSpPr/>
          <p:nvPr/>
        </p:nvSpPr>
        <p:spPr>
          <a:xfrm>
            <a:off x="8246790" y="3065004"/>
            <a:ext cx="254273" cy="26253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A8E8">
                    <a:alpha val="20000"/>
                  </a:srgbClr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04</a:t>
            </a:r>
            <a:endParaRPr lang="en-US" sz="1600" dirty="0"/>
          </a:p>
        </p:txBody>
      </p:sp>
      <p:sp>
        <p:nvSpPr>
          <p:cNvPr id="36" name="Text 32"/>
          <p:cNvSpPr/>
          <p:nvPr/>
        </p:nvSpPr>
        <p:spPr>
          <a:xfrm>
            <a:off x="6786563" y="3407904"/>
            <a:ext cx="1678781" cy="18752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3366"/>
                </a:solidFill>
                <a:latin typeface="Noto Sans SC ExtraBold" pitchFamily="34" charset="0"/>
                <a:ea typeface="Noto Sans SC ExtraBold" pitchFamily="34" charset="-122"/>
                <a:cs typeface="Noto Sans SC ExtraBold" pitchFamily="34" charset="-120"/>
              </a:rPr>
              <a:t>叠加完成适配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6786563" y="3695440"/>
            <a:ext cx="1678781" cy="2800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将低秩增量并入推理路径，得到面向新风格的模型输出。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620055"/>
            <a:ext cx="3402350" cy="514350"/>
          </a:xfrm>
          <a:prstGeom prst="rect">
            <a:avLst/>
          </a:prstGeom>
          <a:noFill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3366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LoRA 为什么像信息压缩？</a:t>
            </a:r>
            <a:endParaRPr lang="en-US" sz="2000" dirty="0"/>
          </a:p>
        </p:txBody>
      </p:sp>
      <p:sp>
        <p:nvSpPr>
          <p:cNvPr id="5" name="Text 1"/>
          <p:cNvSpPr/>
          <p:nvPr/>
        </p:nvSpPr>
        <p:spPr>
          <a:xfrm>
            <a:off x="571500" y="1420155"/>
            <a:ext cx="8001000" cy="20716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5555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新任务会引起大量参数变化，但真正决定风格的往往只是少数低秩方向。</a:t>
            </a:r>
            <a:endParaRPr lang="en-US" sz="1050" dirty="0"/>
          </a:p>
        </p:txBody>
      </p:sp>
      <p:sp>
        <p:nvSpPr>
          <p:cNvPr id="6" name="Shape 2"/>
          <p:cNvSpPr/>
          <p:nvPr/>
        </p:nvSpPr>
        <p:spPr>
          <a:xfrm>
            <a:off x="571500" y="1984511"/>
            <a:ext cx="2428875" cy="2428875"/>
          </a:xfrm>
          <a:prstGeom prst="rect">
            <a:avLst/>
          </a:prstGeom>
          <a:solidFill>
            <a:srgbClr val="FFFFFF"/>
          </a:solidFill>
          <a:ln w="18288">
            <a:solidFill>
              <a:srgbClr val="E1E8ED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71500" y="1793472"/>
            <a:ext cx="2428875" cy="22681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3366"/>
                </a:solidFill>
                <a:latin typeface="Noto Sans SC ExtraBold" pitchFamily="34" charset="0"/>
                <a:ea typeface="Noto Sans SC ExtraBold" pitchFamily="34" charset="-122"/>
                <a:cs typeface="Noto Sans SC ExtraBold" pitchFamily="34" charset="-120"/>
              </a:rPr>
              <a:t>高维参数变化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4109024" y="2643522"/>
            <a:ext cx="925953" cy="217884"/>
          </a:xfrm>
          <a:prstGeom prst="rect">
            <a:avLst/>
          </a:prstGeom>
          <a:solidFill>
            <a:srgbClr val="003366"/>
          </a:solidFill>
        </p:spPr>
      </p:sp>
      <p:sp>
        <p:nvSpPr>
          <p:cNvPr id="9" name="Text 5"/>
          <p:cNvSpPr/>
          <p:nvPr/>
        </p:nvSpPr>
        <p:spPr>
          <a:xfrm>
            <a:off x="4109024" y="2643522"/>
            <a:ext cx="925953" cy="217884"/>
          </a:xfrm>
          <a:prstGeom prst="rect">
            <a:avLst/>
          </a:prstGeom>
          <a:noFill/>
        </p:spPr>
        <p:txBody>
          <a:bodyPr wrap="none" lIns="127508" tIns="42545" rIns="127508" bIns="42545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LOW-RANK</a:t>
            </a:r>
            <a:endParaRPr lang="en-US" sz="9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5730" y="2932844"/>
            <a:ext cx="312539" cy="3571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343400" y="3475769"/>
            <a:ext cx="457200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3366"/>
                </a:solidFill>
                <a:latin typeface="Noto Sans SC ExtraBold" pitchFamily="34" charset="0"/>
                <a:ea typeface="Noto Sans SC ExtraBold" pitchFamily="34" charset="-122"/>
                <a:cs typeface="Noto Sans SC ExtraBold" pitchFamily="34" charset="-120"/>
              </a:rPr>
              <a:t>核心提取</a:t>
            </a:r>
            <a:endParaRPr lang="en-US" sz="800" dirty="0"/>
          </a:p>
        </p:txBody>
      </p:sp>
      <p:sp>
        <p:nvSpPr>
          <p:cNvPr id="12" name="Shape 7"/>
          <p:cNvSpPr/>
          <p:nvPr/>
        </p:nvSpPr>
        <p:spPr>
          <a:xfrm>
            <a:off x="6143625" y="1984511"/>
            <a:ext cx="2428875" cy="2428875"/>
          </a:xfrm>
          <a:prstGeom prst="rect">
            <a:avLst/>
          </a:prstGeom>
          <a:solidFill>
            <a:srgbClr val="FFFFFF"/>
          </a:solidFill>
          <a:ln w="18288">
            <a:solidFill>
              <a:srgbClr val="00A8E8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6143625" y="1793472"/>
            <a:ext cx="2428875" cy="22681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3366"/>
                </a:solidFill>
                <a:latin typeface="Noto Sans SC ExtraBold" pitchFamily="34" charset="0"/>
                <a:ea typeface="Noto Sans SC ExtraBold" pitchFamily="34" charset="-122"/>
                <a:cs typeface="Noto Sans SC ExtraBold" pitchFamily="34" charset="-120"/>
              </a:rPr>
              <a:t>核心风格维度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6429375" y="2510470"/>
            <a:ext cx="2143125" cy="373261"/>
          </a:xfrm>
          <a:prstGeom prst="rect">
            <a:avLst/>
          </a:prstGeom>
          <a:solidFill>
            <a:srgbClr val="F4F7F9"/>
          </a:solidFill>
          <a:ln w="9144">
            <a:solidFill>
              <a:srgbClr val="00A8E8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2632807"/>
            <a:ext cx="128588" cy="12858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750844" y="2603339"/>
            <a:ext cx="1414463" cy="18752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3366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语气：亲切、冷静、活泼</a:t>
            </a:r>
            <a:endParaRPr lang="en-US" sz="900" dirty="0"/>
          </a:p>
        </p:txBody>
      </p:sp>
      <p:sp>
        <p:nvSpPr>
          <p:cNvPr id="17" name="Shape 11"/>
          <p:cNvSpPr/>
          <p:nvPr/>
        </p:nvSpPr>
        <p:spPr>
          <a:xfrm>
            <a:off x="6429375" y="2962312"/>
            <a:ext cx="2143125" cy="373261"/>
          </a:xfrm>
          <a:prstGeom prst="rect">
            <a:avLst/>
          </a:prstGeom>
          <a:solidFill>
            <a:srgbClr val="F4F7F9"/>
          </a:solidFill>
          <a:ln w="9144">
            <a:solidFill>
              <a:srgbClr val="00A8E8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100" y="3084649"/>
            <a:ext cx="128588" cy="12858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750844" y="3055181"/>
            <a:ext cx="1414463" cy="18752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3366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性格：傲娇、温柔、严谨</a:t>
            </a:r>
            <a:endParaRPr lang="en-US" sz="900" dirty="0"/>
          </a:p>
        </p:txBody>
      </p:sp>
      <p:sp>
        <p:nvSpPr>
          <p:cNvPr id="20" name="Shape 13"/>
          <p:cNvSpPr/>
          <p:nvPr/>
        </p:nvSpPr>
        <p:spPr>
          <a:xfrm>
            <a:off x="6429375" y="3414154"/>
            <a:ext cx="2143125" cy="373261"/>
          </a:xfrm>
          <a:prstGeom prst="rect">
            <a:avLst/>
          </a:prstGeom>
          <a:solidFill>
            <a:srgbClr val="F4F7F9"/>
          </a:solidFill>
          <a:ln w="9144">
            <a:solidFill>
              <a:srgbClr val="00A8E8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5100" y="3536491"/>
            <a:ext cx="112514" cy="12858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734770" y="3507023"/>
            <a:ext cx="1543050" cy="18752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3366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知识：特定领域的专业表达</a:t>
            </a:r>
            <a:endParaRPr lang="en-US" sz="900" dirty="0"/>
          </a:p>
        </p:txBody>
      </p:sp>
      <p:sp>
        <p:nvSpPr>
          <p:cNvPr id="23" name="Shape 15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03366"/>
          </a:solidFill>
        </p:spPr>
      </p:sp>
      <p:sp>
        <p:nvSpPr>
          <p:cNvPr id="24" name="Text 16"/>
          <p:cNvSpPr/>
          <p:nvPr/>
        </p:nvSpPr>
        <p:spPr>
          <a:xfrm>
            <a:off x="571500" y="4754166"/>
            <a:ext cx="4915877" cy="20716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CFFCB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LoRA 的本质：用</a:t>
            </a:r>
            <a:r>
              <a:rPr lang="en-US" sz="1000" b="1" dirty="0">
                <a:solidFill>
                  <a:srgbClr val="7CFFCB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极小</a:t>
            </a:r>
            <a:r>
              <a:rPr lang="en-US" sz="1000" b="1" dirty="0">
                <a:solidFill>
                  <a:srgbClr val="7CFFCB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的存储空间，换取模型在</a:t>
            </a:r>
            <a:r>
              <a:rPr lang="en-US" sz="1000" b="1" dirty="0">
                <a:solidFill>
                  <a:srgbClr val="7CFFCB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特定风格</a:t>
            </a:r>
            <a:r>
              <a:rPr lang="en-US" sz="1000" b="1" dirty="0">
                <a:solidFill>
                  <a:srgbClr val="7CFFCB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上的巨大提升。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620055"/>
            <a:ext cx="8001000" cy="414338"/>
          </a:xfrm>
          <a:prstGeom prst="rect">
            <a:avLst/>
          </a:prstGeom>
          <a:noFill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3366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LoRA 的关键配置参数说明</a:t>
            </a:r>
            <a:endParaRPr lang="en-US" sz="2000" dirty="0"/>
          </a:p>
        </p:txBody>
      </p:sp>
      <p:sp>
        <p:nvSpPr>
          <p:cNvPr id="5" name="Shape 1"/>
          <p:cNvSpPr/>
          <p:nvPr/>
        </p:nvSpPr>
        <p:spPr>
          <a:xfrm>
            <a:off x="571500" y="1248705"/>
            <a:ext cx="5385439" cy="216776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" name="Shape 2"/>
          <p:cNvSpPr/>
          <p:nvPr/>
        </p:nvSpPr>
        <p:spPr>
          <a:xfrm>
            <a:off x="575072" y="1252277"/>
            <a:ext cx="1321594" cy="366117"/>
          </a:xfrm>
          <a:prstGeom prst="rect">
            <a:avLst/>
          </a:prstGeom>
          <a:solidFill>
            <a:srgbClr val="003366"/>
          </a:solidFill>
          <a:ln w="9144">
            <a:solidFill>
              <a:srgbClr val="E1E8ED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75072" y="1252277"/>
            <a:ext cx="1321594" cy="366117"/>
          </a:xfrm>
          <a:prstGeom prst="rect">
            <a:avLst/>
          </a:prstGeom>
          <a:noFill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参数名称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1893094" y="1252277"/>
            <a:ext cx="1178719" cy="366117"/>
          </a:xfrm>
          <a:prstGeom prst="rect">
            <a:avLst/>
          </a:prstGeom>
          <a:solidFill>
            <a:srgbClr val="003366"/>
          </a:solidFill>
          <a:ln w="9144">
            <a:solidFill>
              <a:srgbClr val="E1E8ED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893094" y="1252277"/>
            <a:ext cx="1178719" cy="366117"/>
          </a:xfrm>
          <a:prstGeom prst="rect">
            <a:avLst/>
          </a:prstGeom>
          <a:noFill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推荐值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3064669" y="1252277"/>
            <a:ext cx="2888698" cy="366117"/>
          </a:xfrm>
          <a:prstGeom prst="rect">
            <a:avLst/>
          </a:prstGeom>
          <a:solidFill>
            <a:srgbClr val="003366"/>
          </a:solidFill>
          <a:ln w="9144">
            <a:solidFill>
              <a:srgbClr val="E1E8ED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064669" y="1252277"/>
            <a:ext cx="2888698" cy="366117"/>
          </a:xfrm>
          <a:prstGeom prst="rect">
            <a:avLst/>
          </a:prstGeom>
          <a:noFill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核心作用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664369" y="1716621"/>
            <a:ext cx="617320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00A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Rank (r)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978819" y="1729122"/>
            <a:ext cx="992981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28A745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8, 16, 32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3061097" y="1611250"/>
            <a:ext cx="2892270" cy="478631"/>
          </a:xfrm>
          <a:prstGeom prst="rect">
            <a:avLst/>
          </a:prstGeom>
          <a:noFill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决定低秩空间大小。秩越大，能记住的性格细节越多，但显存占用随之增加。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64369" y="2195252"/>
            <a:ext cx="385846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00A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Alpha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978819" y="2207754"/>
            <a:ext cx="992981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28A745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16, 32</a:t>
            </a:r>
            <a:endParaRPr lang="en-US" sz="750" dirty="0"/>
          </a:p>
        </p:txBody>
      </p:sp>
      <p:sp>
        <p:nvSpPr>
          <p:cNvPr id="17" name="Text 13"/>
          <p:cNvSpPr/>
          <p:nvPr/>
        </p:nvSpPr>
        <p:spPr>
          <a:xfrm>
            <a:off x="3061097" y="2089882"/>
            <a:ext cx="2892270" cy="358611"/>
          </a:xfrm>
          <a:prstGeom prst="rect">
            <a:avLst/>
          </a:prstGeom>
          <a:noFill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控制 LoRA 更新强度。通常设为 Rank 的 1-2 倍。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664369" y="2553863"/>
            <a:ext cx="1080325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00A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Target Modules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978819" y="2566364"/>
            <a:ext cx="992981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28A745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q_proj, v_proj</a:t>
            </a:r>
            <a:endParaRPr lang="en-US" sz="750" dirty="0"/>
          </a:p>
        </p:txBody>
      </p:sp>
      <p:sp>
        <p:nvSpPr>
          <p:cNvPr id="20" name="Text 16"/>
          <p:cNvSpPr/>
          <p:nvPr/>
        </p:nvSpPr>
        <p:spPr>
          <a:xfrm>
            <a:off x="3061097" y="2448492"/>
            <a:ext cx="2892270" cy="478631"/>
          </a:xfrm>
          <a:prstGeom prst="rect">
            <a:avLst/>
          </a:prstGeom>
          <a:noFill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指定注入模型的关键模块位置，影响训练效率与适配重点。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64369" y="3032494"/>
            <a:ext cx="540162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00A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Dropout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978819" y="3044996"/>
            <a:ext cx="992981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28A745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0.05 - 0.1</a:t>
            </a:r>
            <a:endParaRPr lang="en-US" sz="750" dirty="0"/>
          </a:p>
        </p:txBody>
      </p:sp>
      <p:sp>
        <p:nvSpPr>
          <p:cNvPr id="23" name="Text 19"/>
          <p:cNvSpPr/>
          <p:nvPr/>
        </p:nvSpPr>
        <p:spPr>
          <a:xfrm>
            <a:off x="3061097" y="2927124"/>
            <a:ext cx="2892270" cy="478631"/>
          </a:xfrm>
          <a:prstGeom prst="rect">
            <a:avLst/>
          </a:prstGeom>
          <a:noFill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训练时随机关闭部分更新，有助于缓解过拟合，提升风格泛化稳定性。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571500" y="3587921"/>
            <a:ext cx="5385439" cy="378619"/>
          </a:xfrm>
          <a:prstGeom prst="rect">
            <a:avLst/>
          </a:prstGeom>
          <a:solidFill>
            <a:srgbClr val="E1F5FE"/>
          </a:solidFill>
        </p:spPr>
      </p:sp>
      <p:sp>
        <p:nvSpPr>
          <p:cNvPr id="25" name="Shape 21"/>
          <p:cNvSpPr/>
          <p:nvPr/>
        </p:nvSpPr>
        <p:spPr>
          <a:xfrm>
            <a:off x="571500" y="3587921"/>
            <a:ext cx="42863" cy="378619"/>
          </a:xfrm>
          <a:prstGeom prst="rect">
            <a:avLst/>
          </a:prstGeom>
          <a:solidFill>
            <a:srgbClr val="00A8E8"/>
          </a:solidFill>
        </p:spPr>
      </p:sp>
      <p:sp>
        <p:nvSpPr>
          <p:cNvPr id="26" name="Text 22"/>
          <p:cNvSpPr/>
          <p:nvPr/>
        </p:nvSpPr>
        <p:spPr>
          <a:xfrm>
            <a:off x="571500" y="3587921"/>
            <a:ext cx="5385439" cy="378619"/>
          </a:xfrm>
          <a:prstGeom prst="rect">
            <a:avLst/>
          </a:prstGeom>
          <a:noFill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3366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提示：参数不是越大越好，关键是让少量新增参数精准学习“真正需要改变的部分”。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6242689" y="1248705"/>
            <a:ext cx="2329811" cy="3720778"/>
          </a:xfrm>
          <a:prstGeom prst="rect">
            <a:avLst/>
          </a:prstGeom>
          <a:solidFill>
            <a:srgbClr val="FFFFFF"/>
          </a:solidFill>
          <a:ln w="9144">
            <a:solidFill>
              <a:srgbClr val="E1E8ED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431747" y="1557728"/>
            <a:ext cx="1962159" cy="312539"/>
          </a:xfrm>
          <a:prstGeom prst="rect">
            <a:avLst/>
          </a:prstGeom>
          <a:noFill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3366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调参逻辑</a:t>
            </a:r>
            <a:endParaRPr lang="en-US" sz="1100" dirty="0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1747" y="2041717"/>
            <a:ext cx="128588" cy="12858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646059" y="2134586"/>
            <a:ext cx="1747847" cy="1768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3366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先确定目标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6646059" y="2411406"/>
            <a:ext cx="1747847" cy="2800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根据角色风格、任务边界和部署资源决定配置起点。</a:t>
            </a:r>
            <a:endParaRPr lang="en-US" sz="750" dirty="0"/>
          </a:p>
        </p:txBody>
      </p:sp>
      <p:sp>
        <p:nvSpPr>
          <p:cNvPr id="32" name="Text 27"/>
          <p:cNvSpPr/>
          <p:nvPr/>
        </p:nvSpPr>
        <p:spPr>
          <a:xfrm>
            <a:off x="6517472" y="3055739"/>
            <a:ext cx="1876434" cy="1768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3366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再观察效果</a:t>
            </a:r>
            <a:endParaRPr lang="en-US" sz="850" dirty="0"/>
          </a:p>
        </p:txBody>
      </p:sp>
      <p:sp>
        <p:nvSpPr>
          <p:cNvPr id="33" name="Text 28"/>
          <p:cNvSpPr/>
          <p:nvPr/>
        </p:nvSpPr>
        <p:spPr>
          <a:xfrm>
            <a:off x="6517472" y="3332559"/>
            <a:ext cx="1876434" cy="2800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比较风格一致性、回答质量、Loss 变化与验证集表现。</a:t>
            </a:r>
            <a:endParaRPr lang="en-US" sz="750" dirty="0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1747" y="3884023"/>
            <a:ext cx="160734" cy="128588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6678206" y="3976892"/>
            <a:ext cx="1715700" cy="1768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3366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最后做平衡</a:t>
            </a:r>
            <a:endParaRPr lang="en-US" sz="850" dirty="0"/>
          </a:p>
        </p:txBody>
      </p:sp>
      <p:sp>
        <p:nvSpPr>
          <p:cNvPr id="36" name="Text 30"/>
          <p:cNvSpPr/>
          <p:nvPr/>
        </p:nvSpPr>
        <p:spPr>
          <a:xfrm>
            <a:off x="6678206" y="4253712"/>
            <a:ext cx="1715700" cy="2800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在更强表达力、更低成本和更稳泛化之间取舍。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620055"/>
            <a:ext cx="8001000" cy="414338"/>
          </a:xfrm>
          <a:prstGeom prst="rect">
            <a:avLst/>
          </a:prstGeom>
          <a:noFill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3366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数据管线：高质量数据定义目标风格</a:t>
            </a:r>
            <a:endParaRPr lang="en-US" sz="2000" dirty="0"/>
          </a:p>
        </p:txBody>
      </p:sp>
      <p:sp>
        <p:nvSpPr>
          <p:cNvPr id="5" name="Shape 1"/>
          <p:cNvSpPr/>
          <p:nvPr/>
        </p:nvSpPr>
        <p:spPr>
          <a:xfrm>
            <a:off x="928688" y="1891643"/>
            <a:ext cx="7286625" cy="14288"/>
          </a:xfrm>
          <a:prstGeom prst="rect">
            <a:avLst/>
          </a:prstGeom>
          <a:solidFill>
            <a:srgbClr val="E1E8ED"/>
          </a:solidFill>
        </p:spPr>
      </p:sp>
      <p:sp>
        <p:nvSpPr>
          <p:cNvPr id="6" name="Shape 2"/>
          <p:cNvSpPr/>
          <p:nvPr/>
        </p:nvSpPr>
        <p:spPr>
          <a:xfrm>
            <a:off x="971550" y="1463018"/>
            <a:ext cx="914400" cy="914400"/>
          </a:xfrm>
          <a:prstGeom prst="ellipse">
            <a:avLst/>
          </a:prstGeom>
          <a:solidFill>
            <a:srgbClr val="FFFFFF"/>
          </a:solidFill>
          <a:ln w="27432">
            <a:solidFill>
              <a:srgbClr val="00A8E8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731" y="1720193"/>
            <a:ext cx="300038" cy="3429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71500" y="2534580"/>
            <a:ext cx="1714500" cy="2482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366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语料采集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571500" y="2897125"/>
            <a:ext cx="1714500" cy="548590"/>
          </a:xfrm>
          <a:prstGeom prst="rect">
            <a:avLst/>
          </a:prstGeom>
          <a:noFill/>
        </p:spPr>
        <p:txBody>
          <a:bodyPr wrap="square" lIns="85090" tIns="0" rIns="8509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从对话记录、小说或剧本中提取最能代表目标性格的原始文本。</a:t>
            </a:r>
            <a:endParaRPr lang="en-US" sz="850" dirty="0"/>
          </a:p>
        </p:txBody>
      </p:sp>
      <p:sp>
        <p:nvSpPr>
          <p:cNvPr id="10" name="Shape 5"/>
          <p:cNvSpPr/>
          <p:nvPr/>
        </p:nvSpPr>
        <p:spPr>
          <a:xfrm>
            <a:off x="3067041" y="1463018"/>
            <a:ext cx="914400" cy="914400"/>
          </a:xfrm>
          <a:prstGeom prst="ellipse">
            <a:avLst/>
          </a:prstGeom>
          <a:solidFill>
            <a:srgbClr val="FFFFFF"/>
          </a:solidFill>
          <a:ln w="27432">
            <a:solidFill>
              <a:srgbClr val="00A8E8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791" y="1720193"/>
            <a:ext cx="342900" cy="3429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2666991" y="2534580"/>
            <a:ext cx="1714500" cy="2482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366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清洗过滤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2666991" y="2897125"/>
            <a:ext cx="1714500" cy="548590"/>
          </a:xfrm>
          <a:prstGeom prst="rect">
            <a:avLst/>
          </a:prstGeom>
          <a:noFill/>
        </p:spPr>
        <p:txBody>
          <a:bodyPr wrap="square" lIns="85090" tIns="0" rIns="8509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去除冗余信息、错别字及不符合人设的表达，确保语料纯净度。</a:t>
            </a:r>
            <a:endParaRPr lang="en-US" sz="850" dirty="0"/>
          </a:p>
        </p:txBody>
      </p:sp>
      <p:sp>
        <p:nvSpPr>
          <p:cNvPr id="14" name="Shape 8"/>
          <p:cNvSpPr/>
          <p:nvPr/>
        </p:nvSpPr>
        <p:spPr>
          <a:xfrm>
            <a:off x="5162531" y="1463018"/>
            <a:ext cx="914400" cy="914400"/>
          </a:xfrm>
          <a:prstGeom prst="ellipse">
            <a:avLst/>
          </a:prstGeom>
          <a:solidFill>
            <a:srgbClr val="FFFFFF"/>
          </a:solidFill>
          <a:ln w="27432">
            <a:solidFill>
              <a:srgbClr val="00A8E8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5419" y="1720193"/>
            <a:ext cx="428625" cy="3429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762481" y="2534580"/>
            <a:ext cx="1714500" cy="2482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366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指令化处理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4762481" y="2897125"/>
            <a:ext cx="1714500" cy="548590"/>
          </a:xfrm>
          <a:prstGeom prst="rect">
            <a:avLst/>
          </a:prstGeom>
          <a:noFill/>
        </p:spPr>
        <p:txBody>
          <a:bodyPr wrap="square" lIns="85090" tIns="0" rIns="8509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将语料转化为模型易于理解的 Instruction-Response 问答对格式。</a:t>
            </a:r>
            <a:endParaRPr lang="en-US" sz="850" dirty="0"/>
          </a:p>
        </p:txBody>
      </p:sp>
      <p:sp>
        <p:nvSpPr>
          <p:cNvPr id="18" name="Shape 11"/>
          <p:cNvSpPr/>
          <p:nvPr/>
        </p:nvSpPr>
        <p:spPr>
          <a:xfrm>
            <a:off x="7258022" y="1463018"/>
            <a:ext cx="914400" cy="914400"/>
          </a:xfrm>
          <a:prstGeom prst="ellipse">
            <a:avLst/>
          </a:prstGeom>
          <a:solidFill>
            <a:srgbClr val="FFFFFF"/>
          </a:solidFill>
          <a:ln w="27432">
            <a:solidFill>
              <a:srgbClr val="00A8E8"/>
            </a:solidFill>
            <a:prstDash val="solid"/>
          </a:ln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772" y="1720193"/>
            <a:ext cx="342900" cy="3429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857972" y="2534580"/>
            <a:ext cx="1714500" cy="2482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366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质量评估</a:t>
            </a:r>
            <a:endParaRPr lang="en-US" sz="1200" dirty="0"/>
          </a:p>
        </p:txBody>
      </p:sp>
      <p:sp>
        <p:nvSpPr>
          <p:cNvPr id="21" name="Text 13"/>
          <p:cNvSpPr/>
          <p:nvPr/>
        </p:nvSpPr>
        <p:spPr>
          <a:xfrm>
            <a:off x="6857972" y="2897125"/>
            <a:ext cx="1714500" cy="548590"/>
          </a:xfrm>
          <a:prstGeom prst="rect">
            <a:avLst/>
          </a:prstGeom>
          <a:noFill/>
        </p:spPr>
        <p:txBody>
          <a:bodyPr wrap="square" lIns="85090" tIns="0" rIns="8509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通过人工或模型打分，筛选出多样性高、风格强烈的核心训练集。</a:t>
            </a:r>
            <a:endParaRPr lang="en-US" sz="850" dirty="0"/>
          </a:p>
        </p:txBody>
      </p:sp>
      <p:sp>
        <p:nvSpPr>
          <p:cNvPr id="22" name="Shape 14"/>
          <p:cNvSpPr/>
          <p:nvPr/>
        </p:nvSpPr>
        <p:spPr>
          <a:xfrm>
            <a:off x="571500" y="4131515"/>
            <a:ext cx="8001000" cy="585788"/>
          </a:xfrm>
          <a:prstGeom prst="rect">
            <a:avLst/>
          </a:prstGeom>
          <a:solidFill>
            <a:srgbClr val="E1F5FE"/>
          </a:solidFill>
          <a:ln w="9144">
            <a:solidFill>
              <a:srgbClr val="00A8E8"/>
            </a:solidFill>
            <a:prstDash val="solid"/>
          </a:ln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094" y="4310109"/>
            <a:ext cx="160734" cy="214313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053703" y="4323504"/>
            <a:ext cx="4057678" cy="18752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3366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核心原则：数据决定了 AI 伴侣的“灵魂”，多样性比纯粹的数量更重要。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522191"/>
            <a:ext cx="3842612" cy="414338"/>
          </a:xfrm>
          <a:prstGeom prst="rect">
            <a:avLst/>
          </a:prstGeom>
          <a:noFill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3366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QLoRA 与低成本训练过程</a:t>
            </a:r>
            <a:endParaRPr lang="en-US" sz="20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257998"/>
            <a:ext cx="200025" cy="200025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914400" y="1364568"/>
            <a:ext cx="3499712" cy="2482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3366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4-bit 量化技术</a:t>
            </a:r>
            <a:endParaRPr lang="en-US" sz="1200" dirty="0"/>
          </a:p>
        </p:txBody>
      </p:sp>
      <p:sp>
        <p:nvSpPr>
          <p:cNvPr id="7" name="Text 2"/>
          <p:cNvSpPr/>
          <p:nvPr/>
        </p:nvSpPr>
        <p:spPr>
          <a:xfrm>
            <a:off x="914400" y="1734257"/>
            <a:ext cx="3499712" cy="36433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将基础模型权重从 16-bit 压缩至 4-bit，在几乎不损失精度的情况下，将显存占用直接砍掉 50% 以上。</a:t>
            </a:r>
            <a:endParaRPr lang="en-US" sz="9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70063"/>
            <a:ext cx="200025" cy="200025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914400" y="2576633"/>
            <a:ext cx="3499712" cy="2482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3366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平民化训练门槛</a:t>
            </a:r>
            <a:endParaRPr lang="en-US" sz="1200" dirty="0"/>
          </a:p>
        </p:txBody>
      </p:sp>
      <p:sp>
        <p:nvSpPr>
          <p:cNvPr id="10" name="Text 4"/>
          <p:cNvSpPr/>
          <p:nvPr/>
        </p:nvSpPr>
        <p:spPr>
          <a:xfrm>
            <a:off x="914400" y="2946322"/>
            <a:ext cx="3499712" cy="36433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QLoRA 结合 LoRA，让 24G 显存的消费级显卡（如 RTX 3090/4090）也能轻松微调 13B 甚至更大的模型。</a:t>
            </a:r>
            <a:endParaRPr lang="en-US" sz="9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682129"/>
            <a:ext cx="175022" cy="200025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889397" y="3788699"/>
            <a:ext cx="3524715" cy="2482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3366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打破算力垄断</a:t>
            </a:r>
            <a:endParaRPr lang="en-US" sz="1200" dirty="0"/>
          </a:p>
        </p:txBody>
      </p:sp>
      <p:sp>
        <p:nvSpPr>
          <p:cNvPr id="13" name="Text 6"/>
          <p:cNvSpPr/>
          <p:nvPr/>
        </p:nvSpPr>
        <p:spPr>
          <a:xfrm>
            <a:off x="889397" y="4158388"/>
            <a:ext cx="3524715" cy="36433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技术进步让“每个人拥有专属 AI”不再是实验室的专利，而是每一个开发者在家里就能实现的梦想。</a:t>
            </a:r>
            <a:endParaRPr lang="en-US" sz="900" dirty="0"/>
          </a:p>
        </p:txBody>
      </p:sp>
      <p:sp>
        <p:nvSpPr>
          <p:cNvPr id="14" name="Shape 7"/>
          <p:cNvSpPr/>
          <p:nvPr/>
        </p:nvSpPr>
        <p:spPr>
          <a:xfrm>
            <a:off x="4842737" y="1282303"/>
            <a:ext cx="3729763" cy="2578894"/>
          </a:xfrm>
          <a:prstGeom prst="rect">
            <a:avLst/>
          </a:prstGeom>
          <a:solidFill>
            <a:srgbClr val="FFFFFF"/>
          </a:solidFill>
          <a:ln w="9144">
            <a:solidFill>
              <a:srgbClr val="E1E8ED"/>
            </a:solidFill>
            <a:prstDash val="solid"/>
          </a:ln>
        </p:spPr>
      </p:sp>
      <p:sp>
        <p:nvSpPr>
          <p:cNvPr id="15" name="Text 8"/>
          <p:cNvSpPr/>
          <p:nvPr/>
        </p:nvSpPr>
        <p:spPr>
          <a:xfrm>
            <a:off x="5136356" y="1575197"/>
            <a:ext cx="3150394" cy="20716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366"/>
                </a:solidFill>
                <a:latin typeface="Noto Sans SC ExtraBold" pitchFamily="34" charset="0"/>
                <a:ea typeface="Noto Sans SC ExtraBold" pitchFamily="34" charset="-122"/>
                <a:cs typeface="Noto Sans SC ExtraBold" pitchFamily="34" charset="-120"/>
              </a:rPr>
              <a:t>显存占用对比 (7B 模型)</a:t>
            </a:r>
            <a:endParaRPr lang="en-US" sz="1000" dirty="0"/>
          </a:p>
        </p:txBody>
      </p:sp>
      <p:sp>
        <p:nvSpPr>
          <p:cNvPr id="16" name="Text 9"/>
          <p:cNvSpPr/>
          <p:nvPr/>
        </p:nvSpPr>
        <p:spPr>
          <a:xfrm>
            <a:off x="5136356" y="1996678"/>
            <a:ext cx="883062" cy="1553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666666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标准 LoRA (FP16)</a:t>
            </a:r>
            <a:endParaRPr lang="en-US" sz="750" dirty="0"/>
          </a:p>
        </p:txBody>
      </p:sp>
      <p:sp>
        <p:nvSpPr>
          <p:cNvPr id="17" name="Text 10"/>
          <p:cNvSpPr/>
          <p:nvPr/>
        </p:nvSpPr>
        <p:spPr>
          <a:xfrm>
            <a:off x="7914466" y="1996678"/>
            <a:ext cx="372284" cy="1553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666666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~16 GB</a:t>
            </a:r>
            <a:endParaRPr lang="en-US" sz="750" dirty="0"/>
          </a:p>
        </p:txBody>
      </p:sp>
      <p:sp>
        <p:nvSpPr>
          <p:cNvPr id="18" name="Shape 11"/>
          <p:cNvSpPr/>
          <p:nvPr/>
        </p:nvSpPr>
        <p:spPr>
          <a:xfrm>
            <a:off x="5136356" y="2223492"/>
            <a:ext cx="3150394" cy="171450"/>
          </a:xfrm>
          <a:prstGeom prst="rect">
            <a:avLst/>
          </a:prstGeom>
          <a:solidFill>
            <a:srgbClr val="E1E8ED"/>
          </a:solidFill>
        </p:spPr>
      </p:sp>
      <p:sp>
        <p:nvSpPr>
          <p:cNvPr id="19" name="Text 12"/>
          <p:cNvSpPr/>
          <p:nvPr/>
        </p:nvSpPr>
        <p:spPr>
          <a:xfrm>
            <a:off x="5136356" y="2609255"/>
            <a:ext cx="692386" cy="12323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666666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QLoRA (4-bit)</a:t>
            </a:r>
            <a:endParaRPr lang="en-US" sz="750" dirty="0"/>
          </a:p>
        </p:txBody>
      </p:sp>
      <p:sp>
        <p:nvSpPr>
          <p:cNvPr id="20" name="Text 13"/>
          <p:cNvSpPr/>
          <p:nvPr/>
        </p:nvSpPr>
        <p:spPr>
          <a:xfrm>
            <a:off x="7974071" y="2609255"/>
            <a:ext cx="312679" cy="12323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666666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~8 GB</a:t>
            </a:r>
            <a:endParaRPr lang="en-US" sz="750" dirty="0"/>
          </a:p>
        </p:txBody>
      </p:sp>
      <p:sp>
        <p:nvSpPr>
          <p:cNvPr id="21" name="Shape 14"/>
          <p:cNvSpPr/>
          <p:nvPr/>
        </p:nvSpPr>
        <p:spPr>
          <a:xfrm>
            <a:off x="5136356" y="2803922"/>
            <a:ext cx="3150394" cy="171450"/>
          </a:xfrm>
          <a:prstGeom prst="rect">
            <a:avLst/>
          </a:prstGeom>
          <a:solidFill>
            <a:srgbClr val="E1E8ED"/>
          </a:solidFill>
        </p:spPr>
      </p:sp>
      <p:sp>
        <p:nvSpPr>
          <p:cNvPr id="22" name="Shape 15"/>
          <p:cNvSpPr/>
          <p:nvPr/>
        </p:nvSpPr>
        <p:spPr>
          <a:xfrm>
            <a:off x="6102604" y="3332559"/>
            <a:ext cx="1217898" cy="235744"/>
          </a:xfrm>
          <a:prstGeom prst="rect">
            <a:avLst/>
          </a:prstGeom>
          <a:solidFill>
            <a:srgbClr val="28A745"/>
          </a:solidFill>
        </p:spPr>
      </p:sp>
      <p:sp>
        <p:nvSpPr>
          <p:cNvPr id="23" name="Text 16"/>
          <p:cNvSpPr/>
          <p:nvPr/>
        </p:nvSpPr>
        <p:spPr>
          <a:xfrm>
            <a:off x="6102604" y="3332559"/>
            <a:ext cx="1217898" cy="235744"/>
          </a:xfrm>
          <a:prstGeom prst="rect">
            <a:avLst/>
          </a:prstGeom>
          <a:noFill/>
        </p:spPr>
        <p:txBody>
          <a:bodyPr wrap="none" lIns="127508" tIns="42545" rIns="127508" bIns="42545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RTX 4090 完美支持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620055"/>
            <a:ext cx="8001000" cy="414338"/>
          </a:xfrm>
          <a:prstGeom prst="rect">
            <a:avLst/>
          </a:prstGeom>
          <a:noFill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3366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微调方式对比：全量 vs LoRA vs QLoRA</a:t>
            </a:r>
            <a:endParaRPr lang="en-US" sz="2000" dirty="0"/>
          </a:p>
        </p:txBody>
      </p:sp>
      <p:sp>
        <p:nvSpPr>
          <p:cNvPr id="5" name="Shape 1"/>
          <p:cNvSpPr/>
          <p:nvPr/>
        </p:nvSpPr>
        <p:spPr>
          <a:xfrm>
            <a:off x="571500" y="1248705"/>
            <a:ext cx="8001000" cy="244673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" name="Shape 2"/>
          <p:cNvSpPr/>
          <p:nvPr/>
        </p:nvSpPr>
        <p:spPr>
          <a:xfrm>
            <a:off x="575072" y="1252277"/>
            <a:ext cx="1650206" cy="428625"/>
          </a:xfrm>
          <a:prstGeom prst="rect">
            <a:avLst/>
          </a:prstGeom>
          <a:solidFill>
            <a:srgbClr val="F4F7F9"/>
          </a:solidFill>
          <a:ln w="9144">
            <a:solidFill>
              <a:srgbClr val="E1E8ED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75072" y="1252277"/>
            <a:ext cx="1650206" cy="428625"/>
          </a:xfrm>
          <a:prstGeom prst="rect">
            <a:avLst/>
          </a:prstGeom>
          <a:noFill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3366"/>
                </a:solidFill>
                <a:latin typeface="Noto Sans SC ExtraBold" pitchFamily="34" charset="0"/>
                <a:ea typeface="Noto Sans SC ExtraBold" pitchFamily="34" charset="-122"/>
                <a:cs typeface="Noto Sans SC ExtraBold" pitchFamily="34" charset="-120"/>
              </a:rPr>
              <a:t>对比维度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2225278" y="1252277"/>
            <a:ext cx="2283823" cy="428625"/>
          </a:xfrm>
          <a:prstGeom prst="rect">
            <a:avLst/>
          </a:prstGeom>
          <a:solidFill>
            <a:srgbClr val="003366"/>
          </a:solidFill>
          <a:ln w="9144">
            <a:solidFill>
              <a:srgbClr val="E1E8ED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225278" y="1252277"/>
            <a:ext cx="2283823" cy="428625"/>
          </a:xfrm>
          <a:prstGeom prst="rect">
            <a:avLst/>
          </a:prstGeom>
          <a:noFill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全量微调 (Full FT)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505362" y="1252277"/>
            <a:ext cx="2026927" cy="425053"/>
          </a:xfrm>
          <a:prstGeom prst="rect">
            <a:avLst/>
          </a:prstGeom>
          <a:solidFill>
            <a:srgbClr val="003366"/>
          </a:solidFill>
          <a:ln w="9144">
            <a:solidFill>
              <a:srgbClr val="E1E8ED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505362" y="1252277"/>
            <a:ext cx="2026927" cy="425053"/>
          </a:xfrm>
          <a:prstGeom prst="rect">
            <a:avLst/>
          </a:prstGeom>
          <a:noFill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LoRA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530392" y="1252277"/>
            <a:ext cx="2038536" cy="425053"/>
          </a:xfrm>
          <a:prstGeom prst="rect">
            <a:avLst/>
          </a:prstGeom>
          <a:solidFill>
            <a:srgbClr val="003366"/>
          </a:solidFill>
          <a:ln w="9144">
            <a:solidFill>
              <a:srgbClr val="E1E8ED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530392" y="1252277"/>
            <a:ext cx="2038536" cy="425053"/>
          </a:xfrm>
          <a:prstGeom prst="rect">
            <a:avLst/>
          </a:prstGeom>
          <a:noFill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QLoRA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75072" y="1673758"/>
            <a:ext cx="1650206" cy="385763"/>
          </a:xfrm>
          <a:prstGeom prst="rect">
            <a:avLst/>
          </a:prstGeom>
          <a:solidFill>
            <a:srgbClr val="F4F7F9"/>
          </a:solidFill>
          <a:ln w="9144">
            <a:solidFill>
              <a:srgbClr val="E1E8ED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75072" y="1673758"/>
            <a:ext cx="1650206" cy="385763"/>
          </a:xfrm>
          <a:prstGeom prst="rect">
            <a:avLst/>
          </a:prstGeom>
          <a:noFill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3366"/>
                </a:solidFill>
                <a:latin typeface="Noto Sans SC ExtraBold" pitchFamily="34" charset="0"/>
                <a:ea typeface="Noto Sans SC ExtraBold" pitchFamily="34" charset="-122"/>
                <a:cs typeface="Noto Sans SC ExtraBold" pitchFamily="34" charset="-120"/>
              </a:rPr>
              <a:t>可训练参数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2225278" y="1673758"/>
            <a:ext cx="2276317" cy="385763"/>
          </a:xfrm>
          <a:prstGeom prst="rect">
            <a:avLst/>
          </a:prstGeom>
          <a:noFill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100% (全部参数)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4501595" y="1673758"/>
            <a:ext cx="2028797" cy="385763"/>
          </a:xfrm>
          <a:prstGeom prst="rect">
            <a:avLst/>
          </a:prstGeom>
          <a:solidFill>
            <a:srgbClr val="00A8E8">
              <a:alpha val="5000"/>
            </a:srgbClr>
          </a:solidFill>
          <a:ln w="9144">
            <a:solidFill>
              <a:srgbClr val="E1E8ED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501595" y="1673758"/>
            <a:ext cx="2028797" cy="385763"/>
          </a:xfrm>
          <a:prstGeom prst="rect">
            <a:avLst/>
          </a:prstGeom>
          <a:noFill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&lt; 1% (极少量)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6530392" y="1673758"/>
            <a:ext cx="2038536" cy="385763"/>
          </a:xfrm>
          <a:prstGeom prst="rect">
            <a:avLst/>
          </a:prstGeom>
          <a:solidFill>
            <a:srgbClr val="00A8E8">
              <a:alpha val="5000"/>
            </a:srgbClr>
          </a:solidFill>
          <a:ln w="9144">
            <a:solidFill>
              <a:srgbClr val="E1E8ED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530392" y="1673758"/>
            <a:ext cx="2038536" cy="385763"/>
          </a:xfrm>
          <a:prstGeom prst="rect">
            <a:avLst/>
          </a:prstGeom>
          <a:noFill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&lt; 1% (极少量)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575072" y="2059521"/>
            <a:ext cx="1650206" cy="426839"/>
          </a:xfrm>
          <a:prstGeom prst="rect">
            <a:avLst/>
          </a:prstGeom>
          <a:solidFill>
            <a:srgbClr val="F4F7F9"/>
          </a:solidFill>
          <a:ln w="9144">
            <a:solidFill>
              <a:srgbClr val="E1E8ED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75072" y="2059521"/>
            <a:ext cx="1650206" cy="426839"/>
          </a:xfrm>
          <a:prstGeom prst="rect">
            <a:avLst/>
          </a:prstGeom>
          <a:noFill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3366"/>
                </a:solidFill>
                <a:latin typeface="Noto Sans SC ExtraBold" pitchFamily="34" charset="0"/>
                <a:ea typeface="Noto Sans SC ExtraBold" pitchFamily="34" charset="-122"/>
                <a:cs typeface="Noto Sans SC ExtraBold" pitchFamily="34" charset="-120"/>
              </a:rPr>
              <a:t>显存占用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2948108" y="2170249"/>
            <a:ext cx="830628" cy="205383"/>
          </a:xfrm>
          <a:prstGeom prst="rect">
            <a:avLst/>
          </a:prstGeom>
          <a:solidFill>
            <a:srgbClr val="FFF1F0"/>
          </a:solidFill>
          <a:ln w="9144">
            <a:solidFill>
              <a:srgbClr val="FFA39E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2948108" y="2170249"/>
            <a:ext cx="830628" cy="205383"/>
          </a:xfrm>
          <a:prstGeom prst="rect">
            <a:avLst/>
          </a:prstGeom>
          <a:noFill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CF1322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极高 (显存黑洞)</a:t>
            </a:r>
            <a:endParaRPr lang="en-US" sz="650" dirty="0"/>
          </a:p>
        </p:txBody>
      </p:sp>
      <p:sp>
        <p:nvSpPr>
          <p:cNvPr id="25" name="Shape 21"/>
          <p:cNvSpPr/>
          <p:nvPr/>
        </p:nvSpPr>
        <p:spPr>
          <a:xfrm>
            <a:off x="5100665" y="2170249"/>
            <a:ext cx="830628" cy="205383"/>
          </a:xfrm>
          <a:prstGeom prst="rect">
            <a:avLst/>
          </a:prstGeom>
          <a:solidFill>
            <a:srgbClr val="FFFBE6"/>
          </a:solidFill>
          <a:ln w="9144">
            <a:solidFill>
              <a:srgbClr val="FFE58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100665" y="2170249"/>
            <a:ext cx="830628" cy="205383"/>
          </a:xfrm>
          <a:prstGeom prst="rect">
            <a:avLst/>
          </a:prstGeom>
          <a:noFill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D48806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中低 (单卡友好)</a:t>
            </a:r>
            <a:endParaRPr lang="en-US" sz="650" dirty="0"/>
          </a:p>
        </p:txBody>
      </p:sp>
      <p:sp>
        <p:nvSpPr>
          <p:cNvPr id="27" name="Shape 23"/>
          <p:cNvSpPr/>
          <p:nvPr/>
        </p:nvSpPr>
        <p:spPr>
          <a:xfrm>
            <a:off x="6530392" y="2059521"/>
            <a:ext cx="2038536" cy="426839"/>
          </a:xfrm>
          <a:prstGeom prst="rect">
            <a:avLst/>
          </a:prstGeom>
          <a:solidFill>
            <a:srgbClr val="00A8E8">
              <a:alpha val="5000"/>
            </a:srgbClr>
          </a:solidFill>
          <a:ln w="9144">
            <a:solidFill>
              <a:srgbClr val="E1E8ED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136132" y="2166677"/>
            <a:ext cx="830628" cy="205383"/>
          </a:xfrm>
          <a:prstGeom prst="rect">
            <a:avLst/>
          </a:prstGeom>
          <a:solidFill>
            <a:srgbClr val="F6FFED"/>
          </a:solidFill>
          <a:ln w="9144">
            <a:solidFill>
              <a:srgbClr val="B7EB8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7136132" y="2166677"/>
            <a:ext cx="830628" cy="205383"/>
          </a:xfrm>
          <a:prstGeom prst="rect">
            <a:avLst/>
          </a:prstGeom>
          <a:noFill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389E0D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极低 (平民首选)</a:t>
            </a:r>
            <a:endParaRPr lang="en-US" sz="650" dirty="0"/>
          </a:p>
        </p:txBody>
      </p:sp>
      <p:sp>
        <p:nvSpPr>
          <p:cNvPr id="30" name="Shape 26"/>
          <p:cNvSpPr/>
          <p:nvPr/>
        </p:nvSpPr>
        <p:spPr>
          <a:xfrm>
            <a:off x="575072" y="2472072"/>
            <a:ext cx="1650206" cy="385763"/>
          </a:xfrm>
          <a:prstGeom prst="rect">
            <a:avLst/>
          </a:prstGeom>
          <a:solidFill>
            <a:srgbClr val="F4F7F9"/>
          </a:solidFill>
          <a:ln w="9144">
            <a:solidFill>
              <a:srgbClr val="E1E8ED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75072" y="2472072"/>
            <a:ext cx="1650206" cy="385763"/>
          </a:xfrm>
          <a:prstGeom prst="rect">
            <a:avLst/>
          </a:prstGeom>
          <a:noFill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3366"/>
                </a:solidFill>
                <a:latin typeface="Noto Sans SC ExtraBold" pitchFamily="34" charset="0"/>
                <a:ea typeface="Noto Sans SC ExtraBold" pitchFamily="34" charset="-122"/>
                <a:cs typeface="Noto Sans SC ExtraBold" pitchFamily="34" charset="-120"/>
              </a:rPr>
              <a:t>训练速度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2225278" y="2472072"/>
            <a:ext cx="2276317" cy="385763"/>
          </a:xfrm>
          <a:prstGeom prst="rect">
            <a:avLst/>
          </a:prstGeom>
          <a:noFill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较慢 (全量更新)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4501595" y="2472072"/>
            <a:ext cx="2028797" cy="385763"/>
          </a:xfrm>
          <a:prstGeom prst="rect">
            <a:avLst/>
          </a:prstGeom>
          <a:solidFill>
            <a:srgbClr val="00A8E8">
              <a:alpha val="5000"/>
            </a:srgbClr>
          </a:solidFill>
          <a:ln w="9144">
            <a:solidFill>
              <a:srgbClr val="E1E8ED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4501595" y="2472072"/>
            <a:ext cx="2028797" cy="385763"/>
          </a:xfrm>
          <a:prstGeom prst="rect">
            <a:avLst/>
          </a:prstGeom>
          <a:noFill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快 (仅更新增量)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6530392" y="2472072"/>
            <a:ext cx="2038536" cy="385763"/>
          </a:xfrm>
          <a:prstGeom prst="rect">
            <a:avLst/>
          </a:prstGeom>
          <a:noFill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中等 (量化计算开销)</a:t>
            </a:r>
            <a:endParaRPr lang="en-US" sz="850" dirty="0"/>
          </a:p>
        </p:txBody>
      </p:sp>
      <p:sp>
        <p:nvSpPr>
          <p:cNvPr id="36" name="Shape 32"/>
          <p:cNvSpPr/>
          <p:nvPr/>
        </p:nvSpPr>
        <p:spPr>
          <a:xfrm>
            <a:off x="575072" y="2857835"/>
            <a:ext cx="1650206" cy="426839"/>
          </a:xfrm>
          <a:prstGeom prst="rect">
            <a:avLst/>
          </a:prstGeom>
          <a:solidFill>
            <a:srgbClr val="F4F7F9"/>
          </a:solidFill>
          <a:ln w="9144">
            <a:solidFill>
              <a:srgbClr val="E1E8ED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575072" y="2857835"/>
            <a:ext cx="1650206" cy="426839"/>
          </a:xfrm>
          <a:prstGeom prst="rect">
            <a:avLst/>
          </a:prstGeom>
          <a:noFill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3366"/>
                </a:solidFill>
                <a:latin typeface="Noto Sans SC ExtraBold" pitchFamily="34" charset="0"/>
                <a:ea typeface="Noto Sans SC ExtraBold" pitchFamily="34" charset="-122"/>
                <a:cs typeface="Noto Sans SC ExtraBold" pitchFamily="34" charset="-120"/>
              </a:rPr>
              <a:t>遗忘风险</a:t>
            </a:r>
            <a:endParaRPr lang="en-US" sz="800" dirty="0"/>
          </a:p>
        </p:txBody>
      </p:sp>
      <p:sp>
        <p:nvSpPr>
          <p:cNvPr id="38" name="Shape 34"/>
          <p:cNvSpPr/>
          <p:nvPr/>
        </p:nvSpPr>
        <p:spPr>
          <a:xfrm>
            <a:off x="2855240" y="2968563"/>
            <a:ext cx="1016366" cy="205383"/>
          </a:xfrm>
          <a:prstGeom prst="rect">
            <a:avLst/>
          </a:prstGeom>
          <a:solidFill>
            <a:srgbClr val="FFF1F0"/>
          </a:solidFill>
          <a:ln w="9144">
            <a:solidFill>
              <a:srgbClr val="FFA39E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2855240" y="2968563"/>
            <a:ext cx="1016366" cy="205383"/>
          </a:xfrm>
          <a:prstGeom prst="rect">
            <a:avLst/>
          </a:prstGeom>
          <a:noFill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CF1322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较高 (能力可能削弱)</a:t>
            </a:r>
            <a:endParaRPr lang="en-US" sz="650" dirty="0"/>
          </a:p>
        </p:txBody>
      </p:sp>
      <p:sp>
        <p:nvSpPr>
          <p:cNvPr id="40" name="Shape 36"/>
          <p:cNvSpPr/>
          <p:nvPr/>
        </p:nvSpPr>
        <p:spPr>
          <a:xfrm>
            <a:off x="4501595" y="2857835"/>
            <a:ext cx="2028797" cy="426839"/>
          </a:xfrm>
          <a:prstGeom prst="rect">
            <a:avLst/>
          </a:prstGeom>
          <a:solidFill>
            <a:srgbClr val="00A8E8">
              <a:alpha val="5000"/>
            </a:srgbClr>
          </a:solidFill>
          <a:ln w="9144">
            <a:solidFill>
              <a:srgbClr val="E1E8ED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5007797" y="2966777"/>
            <a:ext cx="1016366" cy="205383"/>
          </a:xfrm>
          <a:prstGeom prst="rect">
            <a:avLst/>
          </a:prstGeom>
          <a:solidFill>
            <a:srgbClr val="F6FFED"/>
          </a:solidFill>
          <a:ln w="9144">
            <a:solidFill>
              <a:srgbClr val="B7EB8F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5007797" y="2966777"/>
            <a:ext cx="1016366" cy="205383"/>
          </a:xfrm>
          <a:prstGeom prst="rect">
            <a:avLst/>
          </a:prstGeom>
          <a:noFill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389E0D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较低 (保留主干知识)</a:t>
            </a:r>
            <a:endParaRPr lang="en-US" sz="650" dirty="0"/>
          </a:p>
        </p:txBody>
      </p:sp>
      <p:sp>
        <p:nvSpPr>
          <p:cNvPr id="43" name="Shape 39"/>
          <p:cNvSpPr/>
          <p:nvPr/>
        </p:nvSpPr>
        <p:spPr>
          <a:xfrm>
            <a:off x="6526876" y="2857835"/>
            <a:ext cx="2042052" cy="426839"/>
          </a:xfrm>
          <a:prstGeom prst="rect">
            <a:avLst/>
          </a:prstGeom>
          <a:solidFill>
            <a:srgbClr val="00A8E8">
              <a:alpha val="5000"/>
            </a:srgbClr>
          </a:solidFill>
          <a:ln w="9144">
            <a:solidFill>
              <a:srgbClr val="E1E8ED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7039719" y="2968563"/>
            <a:ext cx="1016366" cy="205383"/>
          </a:xfrm>
          <a:prstGeom prst="rect">
            <a:avLst/>
          </a:prstGeom>
          <a:solidFill>
            <a:srgbClr val="F6FFED"/>
          </a:solidFill>
          <a:ln w="9144">
            <a:solidFill>
              <a:srgbClr val="B7EB8F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7039719" y="2968563"/>
            <a:ext cx="1016366" cy="205383"/>
          </a:xfrm>
          <a:prstGeom prst="rect">
            <a:avLst/>
          </a:prstGeom>
          <a:noFill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389E0D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较低 (保留主干知识)</a:t>
            </a:r>
            <a:endParaRPr lang="en-US" sz="650" dirty="0"/>
          </a:p>
        </p:txBody>
      </p:sp>
      <p:sp>
        <p:nvSpPr>
          <p:cNvPr id="46" name="Shape 42"/>
          <p:cNvSpPr/>
          <p:nvPr/>
        </p:nvSpPr>
        <p:spPr>
          <a:xfrm>
            <a:off x="575072" y="3270386"/>
            <a:ext cx="1650206" cy="385763"/>
          </a:xfrm>
          <a:prstGeom prst="rect">
            <a:avLst/>
          </a:prstGeom>
          <a:solidFill>
            <a:srgbClr val="F4F7F9"/>
          </a:solidFill>
          <a:ln w="9144">
            <a:solidFill>
              <a:srgbClr val="E1E8ED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75072" y="3270386"/>
            <a:ext cx="1650206" cy="385763"/>
          </a:xfrm>
          <a:prstGeom prst="rect">
            <a:avLst/>
          </a:prstGeom>
          <a:noFill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3366"/>
                </a:solidFill>
                <a:latin typeface="Noto Sans SC ExtraBold" pitchFamily="34" charset="0"/>
                <a:ea typeface="Noto Sans SC ExtraBold" pitchFamily="34" charset="-122"/>
                <a:cs typeface="Noto Sans SC ExtraBold" pitchFamily="34" charset="-120"/>
              </a:rPr>
              <a:t>适用场景</a:t>
            </a:r>
            <a:endParaRPr lang="en-US" sz="800" dirty="0"/>
          </a:p>
        </p:txBody>
      </p:sp>
      <p:sp>
        <p:nvSpPr>
          <p:cNvPr id="48" name="Text 44"/>
          <p:cNvSpPr/>
          <p:nvPr/>
        </p:nvSpPr>
        <p:spPr>
          <a:xfrm>
            <a:off x="2218134" y="3270386"/>
            <a:ext cx="2282847" cy="385763"/>
          </a:xfrm>
          <a:prstGeom prst="rect">
            <a:avLst/>
          </a:prstGeom>
          <a:noFill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大规模深度改造</a:t>
            </a:r>
            <a:endParaRPr lang="en-US" sz="850" dirty="0"/>
          </a:p>
        </p:txBody>
      </p:sp>
      <p:sp>
        <p:nvSpPr>
          <p:cNvPr id="49" name="Shape 45"/>
          <p:cNvSpPr/>
          <p:nvPr/>
        </p:nvSpPr>
        <p:spPr>
          <a:xfrm>
            <a:off x="4500981" y="3270386"/>
            <a:ext cx="2023579" cy="385763"/>
          </a:xfrm>
          <a:prstGeom prst="rect">
            <a:avLst/>
          </a:prstGeom>
          <a:solidFill>
            <a:srgbClr val="00A8E8">
              <a:alpha val="5000"/>
            </a:srgbClr>
          </a:solidFill>
          <a:ln w="9144">
            <a:solidFill>
              <a:srgbClr val="E1E8ED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4500981" y="3270386"/>
            <a:ext cx="2023579" cy="385763"/>
          </a:xfrm>
          <a:prstGeom prst="rect">
            <a:avLst/>
          </a:prstGeom>
          <a:noFill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风格学习 / 角色扮演</a:t>
            </a:r>
            <a:endParaRPr lang="en-US" sz="850" dirty="0"/>
          </a:p>
        </p:txBody>
      </p:sp>
      <p:sp>
        <p:nvSpPr>
          <p:cNvPr id="51" name="Shape 47"/>
          <p:cNvSpPr/>
          <p:nvPr/>
        </p:nvSpPr>
        <p:spPr>
          <a:xfrm>
            <a:off x="6524560" y="3270386"/>
            <a:ext cx="2044368" cy="385763"/>
          </a:xfrm>
          <a:prstGeom prst="rect">
            <a:avLst/>
          </a:prstGeom>
          <a:solidFill>
            <a:srgbClr val="00A8E8">
              <a:alpha val="5000"/>
            </a:srgbClr>
          </a:solidFill>
          <a:ln w="9144">
            <a:solidFill>
              <a:srgbClr val="E1E8ED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6524560" y="3270386"/>
            <a:ext cx="2044368" cy="385763"/>
          </a:xfrm>
          <a:prstGeom prst="rect">
            <a:avLst/>
          </a:prstGeom>
          <a:noFill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资源受限 / 个人玩家</a:t>
            </a:r>
            <a:endParaRPr lang="en-US" sz="850" dirty="0"/>
          </a:p>
        </p:txBody>
      </p:sp>
      <p:sp>
        <p:nvSpPr>
          <p:cNvPr id="53" name="Shape 49"/>
          <p:cNvSpPr/>
          <p:nvPr/>
        </p:nvSpPr>
        <p:spPr>
          <a:xfrm>
            <a:off x="571500" y="3874033"/>
            <a:ext cx="8001000" cy="674359"/>
          </a:xfrm>
          <a:prstGeom prst="rect">
            <a:avLst/>
          </a:prstGeom>
          <a:solidFill>
            <a:srgbClr val="E1F5FE"/>
          </a:solidFill>
        </p:spPr>
      </p:sp>
      <p:sp>
        <p:nvSpPr>
          <p:cNvPr id="54" name="Shape 50"/>
          <p:cNvSpPr/>
          <p:nvPr/>
        </p:nvSpPr>
        <p:spPr>
          <a:xfrm>
            <a:off x="571500" y="3874033"/>
            <a:ext cx="8001000" cy="28575"/>
          </a:xfrm>
          <a:prstGeom prst="rect">
            <a:avLst/>
          </a:prstGeom>
          <a:solidFill>
            <a:srgbClr val="00A8E8"/>
          </a:solidFill>
        </p:spPr>
      </p:sp>
      <p:pic>
        <p:nvPicPr>
          <p:cNvPr id="5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4111200"/>
            <a:ext cx="214313" cy="171450"/>
          </a:xfrm>
          <a:prstGeom prst="rect">
            <a:avLst/>
          </a:prstGeom>
        </p:spPr>
      </p:pic>
      <p:sp>
        <p:nvSpPr>
          <p:cNvPr id="56" name="Text 51"/>
          <p:cNvSpPr/>
          <p:nvPr/>
        </p:nvSpPr>
        <p:spPr>
          <a:xfrm>
            <a:off x="1071563" y="4016908"/>
            <a:ext cx="7358063" cy="36003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003366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结论：LoRA 与 QLoRA 在保持效果的同时显著降低训练成本，且能有效规避全量微调带来的原有知识遗忘风险，更适合频繁迭代的个性化任务。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801216"/>
            <a:ext cx="8001000" cy="49649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450" b="1" dirty="0">
                <a:solidFill>
                  <a:srgbClr val="0033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总结：小参数也能发挥大作用</a:t>
            </a:r>
            <a:endParaRPr lang="en-US" sz="2450" dirty="0"/>
          </a:p>
        </p:txBody>
      </p:sp>
      <p:sp>
        <p:nvSpPr>
          <p:cNvPr id="5" name="Shape 1"/>
          <p:cNvSpPr/>
          <p:nvPr/>
        </p:nvSpPr>
        <p:spPr>
          <a:xfrm>
            <a:off x="571500" y="1654894"/>
            <a:ext cx="3857625" cy="206217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" name="Shape 2"/>
          <p:cNvSpPr/>
          <p:nvPr/>
        </p:nvSpPr>
        <p:spPr>
          <a:xfrm>
            <a:off x="571500" y="1654894"/>
            <a:ext cx="3857625" cy="42863"/>
          </a:xfrm>
          <a:prstGeom prst="rect">
            <a:avLst/>
          </a:prstGeom>
          <a:solidFill>
            <a:srgbClr val="00A8E8"/>
          </a:solidFill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7438" y="1869207"/>
            <a:ext cx="285750" cy="2857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85813" y="2440121"/>
            <a:ext cx="3429000" cy="2482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366"/>
                </a:solidFill>
                <a:latin typeface="Noto Sans SC ExtraBold" pitchFamily="34" charset="0"/>
                <a:ea typeface="Noto Sans SC ExtraBold" pitchFamily="34" charset="-122"/>
                <a:cs typeface="Noto Sans SC ExtraBold" pitchFamily="34" charset="-120"/>
              </a:rPr>
              <a:t>大模型：负责“广度”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785813" y="2809810"/>
            <a:ext cx="3429000" cy="36433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提供海量知识储备、语言理解、通用推理和多任务泛化能力，是个性化适配的稳定基础。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785813" y="3295585"/>
            <a:ext cx="3429000" cy="16430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A8E8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—— 核心：知识底座 ——</a:t>
            </a:r>
            <a:endParaRPr lang="en-US" sz="800" dirty="0"/>
          </a:p>
        </p:txBody>
      </p:sp>
      <p:sp>
        <p:nvSpPr>
          <p:cNvPr id="11" name="Shape 6"/>
          <p:cNvSpPr/>
          <p:nvPr/>
        </p:nvSpPr>
        <p:spPr>
          <a:xfrm>
            <a:off x="4714875" y="1654894"/>
            <a:ext cx="3857625" cy="206217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" name="Shape 7"/>
          <p:cNvSpPr/>
          <p:nvPr/>
        </p:nvSpPr>
        <p:spPr>
          <a:xfrm>
            <a:off x="4714875" y="1654894"/>
            <a:ext cx="3857625" cy="42863"/>
          </a:xfrm>
          <a:prstGeom prst="rect">
            <a:avLst/>
          </a:prstGeom>
          <a:solidFill>
            <a:srgbClr val="00A8E8"/>
          </a:solidFill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6531" y="1869207"/>
            <a:ext cx="214313" cy="2857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929188" y="2440121"/>
            <a:ext cx="3429000" cy="2482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366"/>
                </a:solidFill>
                <a:latin typeface="Noto Sans SC ExtraBold" pitchFamily="34" charset="0"/>
                <a:ea typeface="Noto Sans SC ExtraBold" pitchFamily="34" charset="-122"/>
                <a:cs typeface="Noto Sans SC ExtraBold" pitchFamily="34" charset="-120"/>
              </a:rPr>
              <a:t>LoRA/QLoRA：负责“深度”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4929188" y="2809810"/>
            <a:ext cx="3429000" cy="36433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精准学习特定角色、语气与任务偏好；通过量化大幅降低显存门槛，让实验更容易落地。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4929188" y="3295585"/>
            <a:ext cx="3429000" cy="16430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A8E8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—— 核心：风格适配 ——</a:t>
            </a:r>
            <a:endParaRPr lang="en-US" sz="800" dirty="0"/>
          </a:p>
        </p:txBody>
      </p:sp>
      <p:sp>
        <p:nvSpPr>
          <p:cNvPr id="17" name="Text 11"/>
          <p:cNvSpPr/>
          <p:nvPr/>
        </p:nvSpPr>
        <p:spPr>
          <a:xfrm>
            <a:off x="1357313" y="3841453"/>
            <a:ext cx="6429375" cy="767953"/>
          </a:xfrm>
          <a:prstGeom prst="rect">
            <a:avLst/>
          </a:prstGeom>
          <a:noFill/>
        </p:spPr>
        <p:txBody>
          <a:bodyPr wrap="square" lIns="0" tIns="255143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A8E8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“高效适配的关键，不是把全部能力重新训练一遍，而是</a:t>
            </a:r>
            <a:r>
              <a:rPr lang="en-US" sz="1300" b="1" dirty="0">
                <a:solidFill>
                  <a:srgbClr val="00A8E8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明确分工、压缩变化、</a:t>
            </a:r>
            <a:r>
              <a:rPr lang="en-US" sz="1300" b="1" dirty="0">
                <a:solidFill>
                  <a:srgbClr val="00A8E8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学习关键增量</a:t>
            </a:r>
            <a:r>
              <a:rPr lang="en-US" sz="1300" b="1" dirty="0">
                <a:solidFill>
                  <a:srgbClr val="00A8E8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。”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0" y="4813102"/>
            <a:ext cx="9144000" cy="11608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kern="0" spc="3" dirty="0">
                <a:solidFill>
                  <a:srgbClr val="9999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THANK YOU | LoRA TECHNOLOGY &amp; AI COMPANION REPORT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2381</Words>
  <Application>WPS 演示</Application>
  <PresentationFormat>On-screen Show (16:9)</PresentationFormat>
  <Paragraphs>306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34" baseType="lpstr">
      <vt:lpstr>Arial</vt:lpstr>
      <vt:lpstr>宋体</vt:lpstr>
      <vt:lpstr>Wingdings</vt:lpstr>
      <vt:lpstr>Noto Sans SC Black</vt:lpstr>
      <vt:lpstr>Noto Sans SC Black</vt:lpstr>
      <vt:lpstr>Noto Sans SC</vt:lpstr>
      <vt:lpstr>Noto Sans SC</vt:lpstr>
      <vt:lpstr>Noto Sans SC Bold</vt:lpstr>
      <vt:lpstr>Noto Sans SC Bold</vt:lpstr>
      <vt:lpstr>Noto Sans SC Bold</vt:lpstr>
      <vt:lpstr>Courier New</vt:lpstr>
      <vt:lpstr>Courier New</vt:lpstr>
      <vt:lpstr>Courier New</vt:lpstr>
      <vt:lpstr>Noto Sans SC ExtraBold</vt:lpstr>
      <vt:lpstr>Noto Sans SC ExtraBold</vt:lpstr>
      <vt:lpstr>Noto Sans SC ExtraBold</vt:lpstr>
      <vt:lpstr>Calibri</vt:lpstr>
      <vt:lpstr>微软雅黑</vt:lpstr>
      <vt:lpstr>Arial Unicode MS</vt:lpstr>
      <vt:lpstr>Wonder Sans Bold</vt:lpstr>
      <vt:lpstr>Crunch ExtraBold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Живидыц</cp:lastModifiedBy>
  <cp:revision>2</cp:revision>
  <dcterms:created xsi:type="dcterms:W3CDTF">2026-05-25T08:43:00Z</dcterms:created>
  <dcterms:modified xsi:type="dcterms:W3CDTF">2026-05-25T09:02:04Z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605006898F5C4BF49FADB2D540B7840F_12</vt:lpwstr>
  </property>
</Properties>
</file>